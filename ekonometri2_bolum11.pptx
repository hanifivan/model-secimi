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ppt/embeddings/oleObject59.bin" ContentType="application/vnd.openxmlformats-officedocument.oleObject"/>
  <Override PartName="/ppt/embeddings/oleObject6.bin" ContentType="application/vnd.openxmlformats-officedocument.oleObject"/>
  <Override PartName="/ppt/embeddings/oleObject60.bin" ContentType="application/vnd.openxmlformats-officedocument.oleObject"/>
  <Override PartName="/ppt/embeddings/oleObject61.bin" ContentType="application/vnd.openxmlformats-officedocument.oleObject"/>
  <Override PartName="/ppt/embeddings/oleObject62.bin" ContentType="application/vnd.openxmlformats-officedocument.oleObject"/>
  <Override PartName="/ppt/embeddings/oleObject63.bin" ContentType="application/vnd.openxmlformats-officedocument.oleObject"/>
  <Override PartName="/ppt/embeddings/oleObject64.bin" ContentType="application/vnd.openxmlformats-officedocument.oleObject"/>
  <Override PartName="/ppt/embeddings/oleObject65.bin" ContentType="application/vnd.openxmlformats-officedocument.oleObject"/>
  <Override PartName="/ppt/embeddings/oleObject66.bin" ContentType="application/vnd.openxmlformats-officedocument.oleObject"/>
  <Override PartName="/ppt/embeddings/oleObject67.bin" ContentType="application/vnd.openxmlformats-officedocument.oleObject"/>
  <Override PartName="/ppt/embeddings/oleObject68.bin" ContentType="application/vnd.openxmlformats-officedocument.oleObject"/>
  <Override PartName="/ppt/embeddings/oleObject69.bin" ContentType="application/vnd.openxmlformats-officedocument.oleObject"/>
  <Override PartName="/ppt/embeddings/oleObject7.bin" ContentType="application/vnd.openxmlformats-officedocument.oleObject"/>
  <Override PartName="/ppt/embeddings/oleObject70.bin" ContentType="application/vnd.openxmlformats-officedocument.oleObject"/>
  <Override PartName="/ppt/embeddings/oleObject71.bin" ContentType="application/vnd.openxmlformats-officedocument.oleObject"/>
  <Override PartName="/ppt/embeddings/oleObject72.bin" ContentType="application/vnd.openxmlformats-officedocument.oleObject"/>
  <Override PartName="/ppt/embeddings/oleObject73.bin" ContentType="application/vnd.openxmlformats-officedocument.oleObject"/>
  <Override PartName="/ppt/embeddings/oleObject74.bin" ContentType="application/vnd.openxmlformats-officedocument.oleObject"/>
  <Override PartName="/ppt/embeddings/oleObject75.bin" ContentType="application/vnd.openxmlformats-officedocument.oleObject"/>
  <Override PartName="/ppt/embeddings/oleObject76.bin" ContentType="application/vnd.openxmlformats-officedocument.oleObject"/>
  <Override PartName="/ppt/embeddings/oleObject77.bin" ContentType="application/vnd.openxmlformats-officedocument.oleObject"/>
  <Override PartName="/ppt/embeddings/oleObject78.bin" ContentType="application/vnd.openxmlformats-officedocument.oleObject"/>
  <Override PartName="/ppt/embeddings/oleObject79.bin" ContentType="application/vnd.openxmlformats-officedocument.oleObject"/>
  <Override PartName="/ppt/embeddings/oleObject8.bin" ContentType="application/vnd.openxmlformats-officedocument.oleObject"/>
  <Override PartName="/ppt/embeddings/oleObject80.bin" ContentType="application/vnd.openxmlformats-officedocument.oleObject"/>
  <Override PartName="/ppt/embeddings/oleObject81.bin" ContentType="application/vnd.openxmlformats-officedocument.oleObject"/>
  <Override PartName="/ppt/embeddings/oleObject82.bin" ContentType="application/vnd.openxmlformats-officedocument.oleObject"/>
  <Override PartName="/ppt/embeddings/oleObject83.bin" ContentType="application/vnd.openxmlformats-officedocument.oleObject"/>
  <Override PartName="/ppt/embeddings/oleObject84.bin" ContentType="application/vnd.openxmlformats-officedocument.oleObject"/>
  <Override PartName="/ppt/embeddings/oleObject85.bin" ContentType="application/vnd.openxmlformats-officedocument.oleObject"/>
  <Override PartName="/ppt/embeddings/oleObject86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87"/>
  </p:notesMasterIdLst>
  <p:handoutMasterIdLst>
    <p:handoutMasterId r:id="rId88"/>
  </p:handoutMasterIdLst>
  <p:sldIdLst>
    <p:sldId id="277" r:id="rId2"/>
    <p:sldId id="396" r:id="rId3"/>
    <p:sldId id="395" r:id="rId4"/>
    <p:sldId id="256" r:id="rId5"/>
    <p:sldId id="259" r:id="rId6"/>
    <p:sldId id="267" r:id="rId7"/>
    <p:sldId id="268" r:id="rId8"/>
    <p:sldId id="287" r:id="rId9"/>
    <p:sldId id="359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33" r:id="rId18"/>
    <p:sldId id="334" r:id="rId19"/>
    <p:sldId id="335" r:id="rId20"/>
    <p:sldId id="336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270" r:id="rId29"/>
    <p:sldId id="271" r:id="rId30"/>
    <p:sldId id="289" r:id="rId31"/>
    <p:sldId id="358" r:id="rId32"/>
    <p:sldId id="273" r:id="rId33"/>
    <p:sldId id="290" r:id="rId34"/>
    <p:sldId id="291" r:id="rId35"/>
    <p:sldId id="292" r:id="rId36"/>
    <p:sldId id="402" r:id="rId100"/>
    <p:sldId id="403" r:id="rId101"/>
    <p:sldId id="382" r:id="rId37"/>
    <p:sldId id="299" r:id="rId38"/>
    <p:sldId id="302" r:id="rId39"/>
    <p:sldId id="303" r:id="rId40"/>
    <p:sldId id="300" r:id="rId41"/>
    <p:sldId id="301" r:id="rId42"/>
    <p:sldId id="305" r:id="rId43"/>
    <p:sldId id="304" r:id="rId44"/>
    <p:sldId id="397" r:id="rId95"/>
    <p:sldId id="384" r:id="rId45"/>
    <p:sldId id="385" r:id="rId46"/>
    <p:sldId id="386" r:id="rId47"/>
    <p:sldId id="389" r:id="rId48"/>
    <p:sldId id="390" r:id="rId49"/>
    <p:sldId id="391" r:id="rId50"/>
    <p:sldId id="298" r:id="rId51"/>
    <p:sldId id="276" r:id="rId52"/>
    <p:sldId id="398" r:id="rId96"/>
    <p:sldId id="393" r:id="rId53"/>
    <p:sldId id="394" r:id="rId54"/>
    <p:sldId id="370" r:id="rId55"/>
    <p:sldId id="373" r:id="rId56"/>
    <p:sldId id="306" r:id="rId57"/>
    <p:sldId id="278" r:id="rId58"/>
    <p:sldId id="279" r:id="rId59"/>
    <p:sldId id="374" r:id="rId60"/>
    <p:sldId id="307" r:id="rId61"/>
    <p:sldId id="308" r:id="rId62"/>
    <p:sldId id="280" r:id="rId63"/>
    <p:sldId id="281" r:id="rId64"/>
    <p:sldId id="309" r:id="rId65"/>
    <p:sldId id="375" r:id="rId66"/>
    <p:sldId id="376" r:id="rId67"/>
    <p:sldId id="377" r:id="rId68"/>
    <p:sldId id="399" r:id="rId97"/>
    <p:sldId id="282" r:id="rId69"/>
    <p:sldId id="310" r:id="rId70"/>
    <p:sldId id="311" r:id="rId71"/>
    <p:sldId id="312" r:id="rId72"/>
    <p:sldId id="400" r:id="rId98"/>
    <p:sldId id="283" r:id="rId73"/>
    <p:sldId id="284" r:id="rId74"/>
    <p:sldId id="313" r:id="rId75"/>
    <p:sldId id="314" r:id="rId76"/>
    <p:sldId id="315" r:id="rId77"/>
    <p:sldId id="316" r:id="rId78"/>
    <p:sldId id="317" r:id="rId79"/>
    <p:sldId id="318" r:id="rId80"/>
    <p:sldId id="320" r:id="rId81"/>
    <p:sldId id="321" r:id="rId82"/>
    <p:sldId id="379" r:id="rId83"/>
    <p:sldId id="380" r:id="rId84"/>
    <p:sldId id="381" r:id="rId85"/>
    <p:sldId id="319" r:id="rId86"/>
    <p:sldId id="401" r:id="rId99"/>
  </p:sldIdLst>
  <p:sldSz cx="9144000" cy="6858000" type="screen4x3"/>
  <p:notesSz cx="6797675" cy="98742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FF5050"/>
    <a:srgbClr val="CCCC00"/>
    <a:srgbClr val="FF99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12781-803C-4282-9616-C0CBCDA2E71F}" v="6" dt="2025-10-15T16:28:33.5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Açık Stil 3 - Vurgu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66" autoAdjust="0"/>
    <p:restoredTop sz="89629" autoAdjust="0"/>
  </p:normalViewPr>
  <p:slideViewPr>
    <p:cSldViewPr>
      <p:cViewPr varScale="1">
        <p:scale>
          <a:sx n="134" d="100"/>
          <a:sy n="134" d="100"/>
        </p:scale>
        <p:origin x="5112" y="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179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1.xml"/><Relationship Id="rId41" Type="http://schemas.openxmlformats.org/officeDocument/2006/relationships/slide" Target="slides/slide42.xml"/><Relationship Id="rId42" Type="http://schemas.openxmlformats.org/officeDocument/2006/relationships/slide" Target="slides/slide43.xml"/><Relationship Id="rId43" Type="http://schemas.openxmlformats.org/officeDocument/2006/relationships/slide" Target="slides/slide44.xml"/><Relationship Id="rId44" Type="http://schemas.openxmlformats.org/officeDocument/2006/relationships/slide" Target="slides/slide45.xml"/><Relationship Id="rId45" Type="http://schemas.openxmlformats.org/officeDocument/2006/relationships/slide" Target="slides/slide47.xml"/><Relationship Id="rId46" Type="http://schemas.openxmlformats.org/officeDocument/2006/relationships/slide" Target="slides/slide48.xml"/><Relationship Id="rId47" Type="http://schemas.openxmlformats.org/officeDocument/2006/relationships/slide" Target="slides/slide49.xml"/><Relationship Id="rId48" Type="http://schemas.openxmlformats.org/officeDocument/2006/relationships/slide" Target="slides/slide50.xml"/><Relationship Id="rId49" Type="http://schemas.openxmlformats.org/officeDocument/2006/relationships/slide" Target="slides/slide51.xml"/><Relationship Id="rId50" Type="http://schemas.openxmlformats.org/officeDocument/2006/relationships/slide" Target="slides/slide52.xml"/><Relationship Id="rId51" Type="http://schemas.openxmlformats.org/officeDocument/2006/relationships/slide" Target="slides/slide53.xml"/><Relationship Id="rId52" Type="http://schemas.openxmlformats.org/officeDocument/2006/relationships/slide" Target="slides/slide54.xml"/><Relationship Id="rId53" Type="http://schemas.openxmlformats.org/officeDocument/2006/relationships/slide" Target="slides/slide56.xml"/><Relationship Id="rId54" Type="http://schemas.openxmlformats.org/officeDocument/2006/relationships/slide" Target="slides/slide57.xml"/><Relationship Id="rId55" Type="http://schemas.openxmlformats.org/officeDocument/2006/relationships/slide" Target="slides/slide58.xml"/><Relationship Id="rId56" Type="http://schemas.openxmlformats.org/officeDocument/2006/relationships/slide" Target="slides/slide59.xml"/><Relationship Id="rId57" Type="http://schemas.openxmlformats.org/officeDocument/2006/relationships/slide" Target="slides/slide60.xml"/><Relationship Id="rId58" Type="http://schemas.openxmlformats.org/officeDocument/2006/relationships/slide" Target="slides/slide61.xml"/><Relationship Id="rId59" Type="http://schemas.openxmlformats.org/officeDocument/2006/relationships/slide" Target="slides/slide62.xml"/><Relationship Id="rId60" Type="http://schemas.openxmlformats.org/officeDocument/2006/relationships/slide" Target="slides/slide63.xml"/><Relationship Id="rId61" Type="http://schemas.openxmlformats.org/officeDocument/2006/relationships/slide" Target="slides/slide64.xml"/><Relationship Id="rId62" Type="http://schemas.openxmlformats.org/officeDocument/2006/relationships/slide" Target="slides/slide65.xml"/><Relationship Id="rId63" Type="http://schemas.openxmlformats.org/officeDocument/2006/relationships/slide" Target="slides/slide66.xml"/><Relationship Id="rId64" Type="http://schemas.openxmlformats.org/officeDocument/2006/relationships/slide" Target="slides/slide67.xml"/><Relationship Id="rId65" Type="http://schemas.openxmlformats.org/officeDocument/2006/relationships/slide" Target="slides/slide68.xml"/><Relationship Id="rId66" Type="http://schemas.openxmlformats.org/officeDocument/2006/relationships/slide" Target="slides/slide69.xml"/><Relationship Id="rId67" Type="http://schemas.openxmlformats.org/officeDocument/2006/relationships/slide" Target="slides/slide70.xml"/><Relationship Id="rId68" Type="http://schemas.openxmlformats.org/officeDocument/2006/relationships/slide" Target="slides/slide71.xml"/><Relationship Id="rId69" Type="http://schemas.openxmlformats.org/officeDocument/2006/relationships/slide" Target="slides/slide73.xml"/><Relationship Id="rId70" Type="http://schemas.openxmlformats.org/officeDocument/2006/relationships/slide" Target="slides/slide74.xml"/><Relationship Id="rId71" Type="http://schemas.openxmlformats.org/officeDocument/2006/relationships/slide" Target="slides/slide75.xml"/><Relationship Id="rId72" Type="http://schemas.openxmlformats.org/officeDocument/2006/relationships/slide" Target="slides/slide76.xml"/><Relationship Id="rId73" Type="http://schemas.openxmlformats.org/officeDocument/2006/relationships/slide" Target="slides/slide78.xml"/><Relationship Id="rId74" Type="http://schemas.openxmlformats.org/officeDocument/2006/relationships/slide" Target="slides/slide79.xml"/><Relationship Id="rId75" Type="http://schemas.openxmlformats.org/officeDocument/2006/relationships/slide" Target="slides/slide80.xml"/><Relationship Id="rId76" Type="http://schemas.openxmlformats.org/officeDocument/2006/relationships/slide" Target="slides/slide81.xml"/><Relationship Id="rId77" Type="http://schemas.openxmlformats.org/officeDocument/2006/relationships/slide" Target="slides/slide82.xml"/><Relationship Id="rId78" Type="http://schemas.openxmlformats.org/officeDocument/2006/relationships/slide" Target="slides/slide83.xml"/><Relationship Id="rId79" Type="http://schemas.openxmlformats.org/officeDocument/2006/relationships/slide" Target="slides/slide84.xml"/><Relationship Id="rId80" Type="http://schemas.openxmlformats.org/officeDocument/2006/relationships/slide" Target="slides/slide85.xml"/><Relationship Id="rId81" Type="http://schemas.openxmlformats.org/officeDocument/2006/relationships/slide" Target="slides/slide86.xml"/><Relationship Id="rId82" Type="http://schemas.openxmlformats.org/officeDocument/2006/relationships/slide" Target="slides/slide87.xml"/><Relationship Id="rId83" Type="http://schemas.openxmlformats.org/officeDocument/2006/relationships/slide" Target="slides/slide88.xml"/><Relationship Id="rId84" Type="http://schemas.openxmlformats.org/officeDocument/2006/relationships/slide" Target="slides/slide89.xml"/><Relationship Id="rId85" Type="http://schemas.openxmlformats.org/officeDocument/2006/relationships/slide" Target="slides/slide90.xml"/><Relationship Id="rId86" Type="http://schemas.openxmlformats.org/officeDocument/2006/relationships/slide" Target="slides/slide91.xml"/><Relationship Id="rId87" Type="http://schemas.openxmlformats.org/officeDocument/2006/relationships/notesMaster" Target="notesMasters/notesMaster1.xml"/><Relationship Id="rId88" Type="http://schemas.openxmlformats.org/officeDocument/2006/relationships/handoutMaster" Target="handoutMasters/handout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Relationship Id="rId93" Type="http://schemas.microsoft.com/office/2016/11/relationships/changesInfo" Target="changesInfos/changesInfo1.xml"/><Relationship Id="rId94" Type="http://schemas.microsoft.com/office/2015/10/relationships/revisionInfo" Target="revisionInfo.xml"/><Relationship Id="rId95" Type="http://schemas.openxmlformats.org/officeDocument/2006/relationships/slide" Target="slides/slide46.xml"/><Relationship Id="rId96" Type="http://schemas.openxmlformats.org/officeDocument/2006/relationships/slide" Target="slides/slide55.xml"/><Relationship Id="rId97" Type="http://schemas.openxmlformats.org/officeDocument/2006/relationships/slide" Target="slides/slide72.xml"/><Relationship Id="rId98" Type="http://schemas.openxmlformats.org/officeDocument/2006/relationships/slide" Target="slides/slide77.xml"/><Relationship Id="rId99" Type="http://schemas.openxmlformats.org/officeDocument/2006/relationships/slide" Target="slides/slide92.xml"/><Relationship Id="rId100" Type="http://schemas.openxmlformats.org/officeDocument/2006/relationships/slide" Target="slides/slide36.xml"/><Relationship Id="rId10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ifi van" userId="92cea90b-0dd9-49af-b9ca-928d29a4f7ca" providerId="ADAL" clId="{4A55CE22-0BC7-914C-B6CC-5B251A248B72}"/>
    <pc:docChg chg="modSld">
      <pc:chgData name="Hanifi van" userId="92cea90b-0dd9-49af-b9ca-928d29a4f7ca" providerId="ADAL" clId="{4A55CE22-0BC7-914C-B6CC-5B251A248B72}" dt="2024-11-20T20:49:18.160" v="142" actId="20577"/>
      <pc:docMkLst>
        <pc:docMk/>
      </pc:docMkLst>
      <pc:sldChg chg="modSp">
        <pc:chgData name="Hanifi van" userId="92cea90b-0dd9-49af-b9ca-928d29a4f7ca" providerId="ADAL" clId="{4A55CE22-0BC7-914C-B6CC-5B251A248B72}" dt="2024-11-20T20:49:18.160" v="142" actId="20577"/>
        <pc:sldMkLst>
          <pc:docMk/>
          <pc:sldMk cId="0" sldId="395"/>
        </pc:sldMkLst>
      </pc:sldChg>
      <pc:sldChg chg="modSp">
        <pc:chgData name="Hanifi van" userId="92cea90b-0dd9-49af-b9ca-928d29a4f7ca" providerId="ADAL" clId="{4A55CE22-0BC7-914C-B6CC-5B251A248B72}" dt="2024-11-20T20:14:30.815" v="8" actId="20577"/>
        <pc:sldMkLst>
          <pc:docMk/>
          <pc:sldMk cId="0" sldId="396"/>
        </pc:sldMkLst>
      </pc:sldChg>
    </pc:docChg>
  </pc:docChgLst>
  <pc:docChgLst>
    <pc:chgData name="Hanifi van" userId="92cea90b-0dd9-49af-b9ca-928d29a4f7ca" providerId="ADAL" clId="{B60A05F1-3072-E748-B685-988ACD9CB2BF}"/>
    <pc:docChg chg="undo redo custSel modSld">
      <pc:chgData name="Hanifi van" userId="92cea90b-0dd9-49af-b9ca-928d29a4f7ca" providerId="ADAL" clId="{B60A05F1-3072-E748-B685-988ACD9CB2BF}" dt="2024-11-27T19:49:55.782" v="341" actId="22"/>
      <pc:docMkLst>
        <pc:docMk/>
      </pc:docMkLst>
      <pc:sldChg chg="addSp delSp modSp addAnim delAnim">
        <pc:chgData name="Hanifi van" userId="92cea90b-0dd9-49af-b9ca-928d29a4f7ca" providerId="ADAL" clId="{B60A05F1-3072-E748-B685-988ACD9CB2BF}" dt="2024-11-27T19:36:36.082" v="287" actId="20577"/>
        <pc:sldMkLst>
          <pc:docMk/>
          <pc:sldMk cId="0" sldId="268"/>
        </pc:sldMkLst>
      </pc:sldChg>
      <pc:sldChg chg="modSp addAnim delAnim">
        <pc:chgData name="Hanifi van" userId="92cea90b-0dd9-49af-b9ca-928d29a4f7ca" providerId="ADAL" clId="{B60A05F1-3072-E748-B685-988ACD9CB2BF}" dt="2024-11-27T19:49:55.782" v="341" actId="22"/>
        <pc:sldMkLst>
          <pc:docMk/>
          <pc:sldMk cId="0" sldId="287"/>
        </pc:sldMkLst>
      </pc:sldChg>
    </pc:docChg>
  </pc:docChgLst>
  <pc:docChgLst>
    <pc:chgData name="Hanifi Van" userId="1503bccdb6adf262" providerId="LiveId" clId="{14112781-803C-4282-9616-C0CBCDA2E71F}"/>
    <pc:docChg chg="undo custSel modSld">
      <pc:chgData name="Hanifi Van" userId="1503bccdb6adf262" providerId="LiveId" clId="{14112781-803C-4282-9616-C0CBCDA2E71F}" dt="2025-10-15T16:28:33.520" v="21" actId="478"/>
      <pc:docMkLst>
        <pc:docMk/>
      </pc:docMkLst>
      <pc:sldChg chg="delSp modAnim">
        <pc:chgData name="Hanifi Van" userId="1503bccdb6adf262" providerId="LiveId" clId="{14112781-803C-4282-9616-C0CBCDA2E71F}" dt="2025-10-15T16:28:33.520" v="21" actId="478"/>
        <pc:sldMkLst>
          <pc:docMk/>
          <pc:sldMk cId="0" sldId="277"/>
        </pc:sldMkLst>
        <pc:spChg chg="del">
          <ac:chgData name="Hanifi Van" userId="1503bccdb6adf262" providerId="LiveId" clId="{14112781-803C-4282-9616-C0CBCDA2E71F}" dt="2025-10-15T16:28:33.520" v="21" actId="478"/>
          <ac:spMkLst>
            <pc:docMk/>
            <pc:sldMk cId="0" sldId="277"/>
            <ac:spMk id="24578" creationId="{384CA91B-7664-B5FD-0055-C987A330C79A}"/>
          </ac:spMkLst>
        </pc:spChg>
      </pc:sldChg>
      <pc:sldChg chg="modNotesTx">
        <pc:chgData name="Hanifi Van" userId="1503bccdb6adf262" providerId="LiveId" clId="{14112781-803C-4282-9616-C0CBCDA2E71F}" dt="2025-10-15T16:26:00.143" v="20" actId="20577"/>
        <pc:sldMkLst>
          <pc:docMk/>
          <pc:sldMk cId="0" sldId="395"/>
        </pc:sldMkLst>
      </pc:sldChg>
    </pc:docChg>
  </pc:docChgLst>
  <pc:docChgLst>
    <pc:chgData name="Hanifi van" userId="92cea90b-0dd9-49af-b9ca-928d29a4f7ca" providerId="ADAL" clId="{E29D4244-7BFE-439F-81A1-1BE2299A1116}"/>
    <pc:docChg chg="modSld">
      <pc:chgData name="Hanifi van" userId="92cea90b-0dd9-49af-b9ca-928d29a4f7ca" providerId="ADAL" clId="{E29D4244-7BFE-439F-81A1-1BE2299A1116}" dt="2024-12-11T20:37:34.615" v="22" actId="14100"/>
      <pc:docMkLst>
        <pc:docMk/>
      </pc:docMkLst>
      <pc:sldChg chg="modSp">
        <pc:chgData name="Hanifi van" userId="92cea90b-0dd9-49af-b9ca-928d29a4f7ca" providerId="ADAL" clId="{E29D4244-7BFE-439F-81A1-1BE2299A1116}" dt="2024-12-11T20:24:27.146" v="4" actId="207"/>
        <pc:sldMkLst>
          <pc:docMk/>
          <pc:sldMk cId="0" sldId="314"/>
        </pc:sldMkLst>
      </pc:sldChg>
      <pc:sldChg chg="modSp mod">
        <pc:chgData name="Hanifi van" userId="92cea90b-0dd9-49af-b9ca-928d29a4f7ca" providerId="ADAL" clId="{E29D4244-7BFE-439F-81A1-1BE2299A1116}" dt="2024-12-11T20:26:54.114" v="15" actId="404"/>
        <pc:sldMkLst>
          <pc:docMk/>
          <pc:sldMk cId="0" sldId="317"/>
        </pc:sldMkLst>
      </pc:sldChg>
      <pc:sldChg chg="modSp mod">
        <pc:chgData name="Hanifi van" userId="92cea90b-0dd9-49af-b9ca-928d29a4f7ca" providerId="ADAL" clId="{E29D4244-7BFE-439F-81A1-1BE2299A1116}" dt="2024-12-11T20:37:34.615" v="22" actId="14100"/>
        <pc:sldMkLst>
          <pc:docMk/>
          <pc:sldMk cId="0" sldId="318"/>
        </pc:sldMkLst>
      </pc:sldChg>
      <pc:sldChg chg="modSp mod">
        <pc:chgData name="Hanifi van" userId="92cea90b-0dd9-49af-b9ca-928d29a4f7ca" providerId="ADAL" clId="{E29D4244-7BFE-439F-81A1-1BE2299A1116}" dt="2024-12-11T20:31:00.482" v="20" actId="1037"/>
        <pc:sldMkLst>
          <pc:docMk/>
          <pc:sldMk cId="0" sldId="320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F87D3976-68B8-A0A5-3A76-07F8C5F480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38BB0A8D-F256-5201-2FBA-81214B8D95A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474CAF1-5CD5-4BB5-9529-6579387814FB}" type="datetimeFigureOut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00CC2EE8-F2FB-557D-2505-9E83B4FE666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B0BB7159-5376-FB83-CC2A-734AC1C5E92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A2EF12F-ECFA-4103-A166-6FB92E8E55AC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7T18:48:45.8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33 7589,'-1'-13'-1110,"-4"0"1110,4 6 0,1 18 0,7 11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C213962A-1183-6631-3AF8-807A8D9D455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2DB4A240-1501-3D27-21A7-26C86B9BE8F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08A67F31-7808-45CE-A1FF-67687793CC20}" type="datetimeFigureOut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B435F50-6791-EE52-712A-817F6246E67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41363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B916D144-56D2-4CD2-A7CC-2F798A74CC3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noProof="0"/>
              <a:t>Asıl metin stillerini düzenlemek için tıklatın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CA048C0D-7966-7D1E-F8F4-4E4194A8DAF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9F4C2B01-64D4-760B-2384-BB046F3033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F83D35-F309-4DD4-819D-B247153DEA6E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82FD8EE-D9C9-2935-7EDD-BAF1D4CAEF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ABB5492-EA61-675D-6FC0-722AAFCA55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57FDBF2-EE5D-E95E-E9EC-7CFCAB15B9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CC7011-41A3-D132-ACBE-D2FADF40C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00482EE-C644-8581-E108-3A7E17C39C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5E59AB8-9E1D-32B2-8D91-46039E6A1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8A36DAF-EF7D-9B49-E26C-43AAD4BDC6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AE11EEE-506B-9E1B-F5EE-BEA6F3075C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9392D4D-33B8-703C-152E-70CE911383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DA1AAE2-A45F-FEE9-58C9-3838DC359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A0264E1-D9F9-59CB-AA63-FA300743B6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254F309-ADE0-BBC8-9A2E-7839C4E1CF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1070004-7D69-8BF8-7609-89E2CDB716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27D6198-2E91-E33C-E968-3EECC2A46E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2D4D28E-C31E-038A-4494-AC906AD2B4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540C20B-0EB1-E2F7-CAC1-76F0D20BF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E4964EA-0452-9AFB-2759-256A78323A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8C63714-7D07-F972-6136-EB6EB47229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47C5E34-0E4A-C74C-16BF-A8C5668EF4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AC99BFBF-2757-844A-50C4-ACEE1B5D3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4BEACFA-8272-1900-24A0-CD8E4611D6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FE1AA85-9F83-92F3-D3BB-FE50D6452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29F37175-AEAE-2D5E-000C-D534C75FB1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77FE5286-7A7D-230F-7EE0-565FFFBE28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80DBA70-3B9F-D7CC-91EB-C2CF843670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D5AE39AB-4DC8-001B-C7DF-920CC36A9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7C44B7B-2D53-93FE-FD5A-5788435EE3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4779EB2-B889-B090-5870-D17D33E007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1D690D2-C69B-4205-2704-04D0D45194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A44A0FCF-D4A4-5FE0-A694-6BB254AFC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F3532565-EDAE-6121-7EA9-3F7D9C257F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15B9BD5-85FF-9BFA-6FCD-54CFA57BE8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59AB7E16-04B9-BAC1-4DBB-EE1506D63C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37533B7D-29E0-4BCF-EF93-DE16D4EDB8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E8F27A1C-2A2D-C5FD-C621-509010A35C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CBC85BAA-86BB-8C58-6A3A-AD5AA88E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E2600E35-012E-8758-4607-9A39717A7F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718D4264-F03A-8160-B4FD-B89E028194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086EE50F-7697-04DC-4C2F-A3883FC886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5E567121-FE18-941B-1502-F6953F8ADD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67B14266-F03E-8F1A-6778-64DDD4E02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FBE084CD-332F-6684-789D-92AAC4AED7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9FE25F1C-2D65-A133-61FC-F290F1A8E5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99A9C8C-988B-E057-8941-D8EB5A0DB8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730366B1-6704-D879-3579-8F783B2F91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16C3EAC4-4CEE-5C66-5203-B5D5E03D6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B64FC23-5AAC-6CDC-60B3-50AB427839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383B12AF-BAD6-81FA-4258-11410A39E3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A7B4359E-7FE2-1AF2-26FF-5E145B7348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B2C4E7D3-D385-53BA-AC9D-C863CECA1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0C066007-AE79-3B2C-3DD2-AA65F84F43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44B0A2DD-18AF-286D-2BD2-B3DB14AD3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307FDA38-C7D2-07D8-BA5C-EE6EB925BE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99FE035D-A930-928B-3E53-C4DE48F788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A9977012-0424-D5BB-3D15-75B6B3AD52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0ECC6B0E-3993-9847-526E-7ED99BAB1C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9A7E6F81-0B6A-8A24-AF49-0AF2B1AF65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1653B153-B369-686E-693A-7B35553A8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9565D8FB-BFB9-B9D2-05A9-D2EADE4048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825118F2-055D-4F90-6754-C85EAA9B2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B96B61F7-6EA8-6A88-56A3-562F648259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5FF2BF78-9C23-6087-8B8E-7F9476E793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ED262019-67EC-C688-5B75-AABA38C13E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63CA1C0D-9FAF-0911-1ADF-2D01B8322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2EBC2EBC-9FB2-A4BD-4AFD-9ABA863691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EB1E0A6C-BFD7-5A4E-CA81-9DFB081D37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24831003-D399-7E77-BCDA-5CA7DE7E49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B36932FE-FCCC-5A50-11F0-42CBA9F7D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2A3EBF52-7CF0-DEE2-E367-D259A980D0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F4513521-AC7C-79E1-4F44-91F8FA1593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4B9246F-6DD9-8C1C-A260-0FDF6BF198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6E9D364F-A11A-F994-C2CC-967F4F385D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838C58AF-648F-53C2-448D-945588B235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0D7F6753-7E19-D555-EF6C-4AF09550D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BF482E4F-87DD-A6E5-5F08-31F7361D7C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883C3F6-3141-34AD-041E-54E20A2B7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231D1C91-0ABD-5A57-67E2-B45701BDA5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8853F8E1-D2BA-7490-2A73-51379E6D01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FB2F6388-BB42-589F-1243-C08699975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712938BC-4B01-553B-EF25-5ADC2A4CEE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AA209806-BE7C-5896-FD23-924927299E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47E8D3E5-79A2-38AD-5B62-3DEAEF815E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FE7EBC69-B6EC-30DE-5BBF-E546F4327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ADEDB86F-6033-A5C1-26CD-2BE0EA0241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113A7C85-430D-3990-738A-58BE494E4F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83B96628-78FC-46B3-9212-4AF879D90A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71448FB4-0F19-0FA6-14B5-1134A0B245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458DF9EE-E66C-19BB-EDEB-CA701BEEA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D13F18E7-5EBC-D18B-4310-4DCA70F5F6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741D771E-8ADC-2F5A-DB70-06B0E6FC99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1D8D95B8-FA93-B744-8902-9907F2ACF9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C5FCB3D8-F2D3-900C-F827-D98B10101E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D1BF7F5B-FD07-46C6-B38E-6FD51727B7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E5C047E2-12BD-F4C3-4D9D-C39F40017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6E5188E6-5884-5FF0-8B46-128D5DFC6A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4A76A6D4-097A-D2EA-AD97-D1EE7E6190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8A703154-AD1F-540A-4DFB-4E2CCB4FD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C6AD1ED5-E85D-498B-F307-C4A0684468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E019BEC6-3751-0D21-7886-60DD0834E5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0189F24D-61DD-812A-F44A-6499B08203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F004272E-75F1-84ED-E46D-0307C799A9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68393E1A-E744-81A3-42DE-8865F8F1EA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756EA0E5-F39C-2FC9-E1C2-5CD7894735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DF6C81E7-2264-A301-BD3B-EE84F09326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D9EB6FAB-D803-6809-4448-CE3885046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3CDC12B5-372B-DCDD-3A6C-3B1475E97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77E67641-1EF7-7B63-8C08-12DC39953C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DDFA0B42-0CAC-E1B7-CCA6-AE2043A37A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0454556B-864D-BAB2-2D2E-FCCF60E091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2A1F43F5-FC14-4746-F190-B299D2434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>
            <a:extLst>
              <a:ext uri="{FF2B5EF4-FFF2-40B4-BE49-F238E27FC236}">
                <a16:creationId xmlns:a16="http://schemas.microsoft.com/office/drawing/2014/main" id="{5A51152C-FB30-CE97-3BFF-B6B3563EA6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B4063F51-96DF-AE05-0285-BDEB84B6C7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FD6F4257-D4BF-8269-AE6E-F18EDECAFA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AFE597D3-8C11-8A83-14DC-4EA0DEB02F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>
            <a:extLst>
              <a:ext uri="{FF2B5EF4-FFF2-40B4-BE49-F238E27FC236}">
                <a16:creationId xmlns:a16="http://schemas.microsoft.com/office/drawing/2014/main" id="{DDDCEF5C-72CB-B429-36BC-42984DCAF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8D024BD4-C5B1-12D6-7628-81E71DE597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011A96E1-62A5-F94F-82A5-0914313C9A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EFFFCBD4-F407-293D-77C9-A40C32E137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:a16="http://schemas.microsoft.com/office/drawing/2014/main" id="{4E6FF301-BDF3-6D05-F4F1-FEA41107C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32FCF180-7C5E-A1F1-087E-F46BD8C588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2FC9FB8F-8308-7320-CEC3-6CB260140D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0DFF1C56-8B04-19FF-39A5-EF6175F372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C4F0F467-80CD-DDC0-D43F-43333C6366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F33F5359-37D4-2530-E074-D419892938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9C75BAEE-88AC-239C-23A3-CD07CD6359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C45D142D-94B5-3DCE-79F6-BBC33AB5D2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50070B0F-A34C-D3DE-A21B-6CE73E7F07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60B5FB15-205B-F694-B6FE-2DB7A374E1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5477446C-2935-C65E-8A1B-CE45789304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7DCC9708-4041-F71F-A1F9-7A76A91EB9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EC8C8742-53E5-8229-8B2A-E4CED4EF61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D89EDFC3-AC80-EBF2-27FC-172B9E5D11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68A5E1AA-E2C8-725C-FA20-BD44C70F51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0FA9080B-1FA0-CE1A-471C-9F9280B1A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>
            <a:extLst>
              <a:ext uri="{FF2B5EF4-FFF2-40B4-BE49-F238E27FC236}">
                <a16:creationId xmlns:a16="http://schemas.microsoft.com/office/drawing/2014/main" id="{40644A0E-60BC-7AFD-F18F-6814BA322B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E9C4C01A-E391-7E16-2A07-9501DFB43E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28448385-50C9-22D4-CB4B-16E7E5F4C4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B8EBE0C8-65A5-46B9-578A-27B0D0D4C6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11B7BDDE-9579-5A2F-B9B5-662E0D7F9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74C4C576-4071-877A-570B-51DD5AC06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2ED39D2A-7950-87EA-263E-6DE6F63A56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>
            <a:extLst>
              <a:ext uri="{FF2B5EF4-FFF2-40B4-BE49-F238E27FC236}">
                <a16:creationId xmlns:a16="http://schemas.microsoft.com/office/drawing/2014/main" id="{06A1F990-F20E-DBC6-E598-854F3E9B9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1B29009A-7EE8-087A-6570-99B8C57512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A72472D3-6B39-86F5-DCA4-CC61DD2023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1C4C1655-48CE-93F1-F189-A4AD7F32B2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F76C7FD0-7D32-A5CA-3B6A-CBBF16EA3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>
            <a:extLst>
              <a:ext uri="{FF2B5EF4-FFF2-40B4-BE49-F238E27FC236}">
                <a16:creationId xmlns:a16="http://schemas.microsoft.com/office/drawing/2014/main" id="{411B1636-8E5B-9216-083E-CA9F404B16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86080466-769D-AA4F-5162-E30038293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C1FAF985-6711-21A3-A765-782467BC64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B56A5313-F8CE-DB36-7935-565E53A1FD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>
            <a:extLst>
              <a:ext uri="{FF2B5EF4-FFF2-40B4-BE49-F238E27FC236}">
                <a16:creationId xmlns:a16="http://schemas.microsoft.com/office/drawing/2014/main" id="{41790E18-062C-9D3F-5C1E-2BB4D37B67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>
            <a:extLst>
              <a:ext uri="{FF2B5EF4-FFF2-40B4-BE49-F238E27FC236}">
                <a16:creationId xmlns:a16="http://schemas.microsoft.com/office/drawing/2014/main" id="{56C34314-1149-B0E4-30D9-B52B11515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9F77AD6B-8D86-CBA3-F836-9125DB258A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61CB6B0B-D7F2-0961-CC54-3CB437D8CC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4521837F-ACD5-39DC-3929-D8DAB27BBB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1" name="Rectangle 3">
            <a:extLst>
              <a:ext uri="{FF2B5EF4-FFF2-40B4-BE49-F238E27FC236}">
                <a16:creationId xmlns:a16="http://schemas.microsoft.com/office/drawing/2014/main" id="{C66DC3E8-ED24-5B96-2A98-9431718F1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>
            <a:extLst>
              <a:ext uri="{FF2B5EF4-FFF2-40B4-BE49-F238E27FC236}">
                <a16:creationId xmlns:a16="http://schemas.microsoft.com/office/drawing/2014/main" id="{951738CF-2C37-2C51-27F4-7B872D6E6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Rectangle 3">
            <a:extLst>
              <a:ext uri="{FF2B5EF4-FFF2-40B4-BE49-F238E27FC236}">
                <a16:creationId xmlns:a16="http://schemas.microsoft.com/office/drawing/2014/main" id="{285358FC-1F41-163A-DB88-BDE9D5F40D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77F87A93-5156-FC9A-9754-0702DCFDF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>
            <a:extLst>
              <a:ext uri="{FF2B5EF4-FFF2-40B4-BE49-F238E27FC236}">
                <a16:creationId xmlns:a16="http://schemas.microsoft.com/office/drawing/2014/main" id="{DD4DBE0F-E039-AB74-80DE-CAF175E85F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>
            <a:extLst>
              <a:ext uri="{FF2B5EF4-FFF2-40B4-BE49-F238E27FC236}">
                <a16:creationId xmlns:a16="http://schemas.microsoft.com/office/drawing/2014/main" id="{2227E5DE-B2A0-9190-B6D6-0792884438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5" name="Rectangle 3">
            <a:extLst>
              <a:ext uri="{FF2B5EF4-FFF2-40B4-BE49-F238E27FC236}">
                <a16:creationId xmlns:a16="http://schemas.microsoft.com/office/drawing/2014/main" id="{D4CBC27C-056F-9F74-3E0E-53FE3FBF17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>
            <a:extLst>
              <a:ext uri="{FF2B5EF4-FFF2-40B4-BE49-F238E27FC236}">
                <a16:creationId xmlns:a16="http://schemas.microsoft.com/office/drawing/2014/main" id="{C1FA84AD-F2C7-72C7-7D68-B292749C1A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3" name="Rectangle 3">
            <a:extLst>
              <a:ext uri="{FF2B5EF4-FFF2-40B4-BE49-F238E27FC236}">
                <a16:creationId xmlns:a16="http://schemas.microsoft.com/office/drawing/2014/main" id="{9B5AFE81-39B8-B5C4-846B-26A0BF724E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A2AE3C90-BC6A-2D4B-64EC-E8106D8229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>
            <a:extLst>
              <a:ext uri="{FF2B5EF4-FFF2-40B4-BE49-F238E27FC236}">
                <a16:creationId xmlns:a16="http://schemas.microsoft.com/office/drawing/2014/main" id="{E92CA05E-48A2-EA5C-DE6E-F8BA5FCF4D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>
            <a:extLst>
              <a:ext uri="{FF2B5EF4-FFF2-40B4-BE49-F238E27FC236}">
                <a16:creationId xmlns:a16="http://schemas.microsoft.com/office/drawing/2014/main" id="{F34C9B04-A878-9486-0849-5026FDA641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>
            <a:extLst>
              <a:ext uri="{FF2B5EF4-FFF2-40B4-BE49-F238E27FC236}">
                <a16:creationId xmlns:a16="http://schemas.microsoft.com/office/drawing/2014/main" id="{339C33D4-68A8-B319-0793-51DD1C8AD4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tr-TR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FDD772-D35E-E302-053A-9DFA1E9C4D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401C6-D6FE-4947-8795-BE5E6EBDE2E4}" type="datetime1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0426BF-12E6-1201-3EAA-1FF4DA7B6C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1CABDB-0046-F576-5194-52B3817A39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D125F7-56CB-4008-BC69-B908C4C9BECD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91058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5C3B75-8C0E-48AD-E1EB-8F8DE25D7D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B7353-3964-4459-BA25-D6656D2ADFA5}" type="datetime1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C0A813-1F3F-8DE5-73DD-ECA0F1867F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BD32DA-8F9B-8329-91B3-66631FD7BE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00CDB-2294-4313-8FA8-54401C25EAFB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19592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79B355-8E41-2668-557B-FBCB6086BA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D3BBA-8E23-40AC-91CF-457FDF6C98B1}" type="datetime1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6F034D-723A-A8F9-3133-1451F7335A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CCBB1D-1AAD-F622-0356-76C37C8AD4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4C5BB-C91F-4C36-BAE7-0A0F1C7AD86A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459178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E83337-60B9-F04D-2DFF-FD4C5443E3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F8F7C-F589-4897-AB6F-9FD45B2AC0F7}" type="datetime1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DCF34B-A7B9-C4EA-EC0F-1F6D95F71E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D101E9-5603-95B7-E3E5-A0D0EFC247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200A4-DDD6-4FB4-B03D-C2C424E2580C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428640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BCA5CA2-A89B-5D21-1C60-0458EDE423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A32A4-42B7-46B3-B8A3-3179D0D4C455}" type="datetime1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FDDDF2B-8B41-4F3B-B824-686F9C0C7A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E674A1-3B71-0F8C-107E-2BA4FCEA1A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B281D2-9EF7-41FD-8FCD-E538FCD00376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4032726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1F3AC31-8858-9FC0-C34F-16DF948204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91A8EC-FE54-4920-BE61-2AD96A00B0FA}" type="datetime1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40FFA9B-D7BB-58D7-9F9C-694BCAD9D5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ED2B21E-75CA-0458-057E-36AB959322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018A31-BA88-4A1B-9DE8-A70B903216CD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856533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6DBF5B-47BC-FA0C-DB00-4736C2F911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095A9-F8A0-4F67-A7C7-A943349E5563}" type="datetime1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DDCF1BF-75EA-DA9B-B7C5-86153D2F0C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D12CF8A-80B1-C68B-92F2-5C84D2068C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95D4E-7EBF-47DC-B681-684BF2176E80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34370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2528B-E583-C6F1-9B6A-50F3024B47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56C34D-1A29-4C24-B85C-462E44710446}" type="datetime1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54C853-DCE7-02DD-5D1E-02AC97DF8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185053-5922-811B-7E7E-523371174C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F3C77D-2187-40E5-899B-7E2C54A81F63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918788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6486FE-6EAD-30A7-4A04-3C10166B66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61E1F-DE29-4D86-A7C1-41E38C7A20CC}" type="datetime1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9ABBBA-FCD6-94DD-8907-D668DE0E7C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8B45D2-6B7C-3E0E-9260-13A30393A0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D646ED-11EE-4514-B39C-32A060B5C23B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994719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91FDE9-FAF0-A5D4-9A6A-B913BB3F76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2093D-8698-474C-8945-97D3A6BF9FBE}" type="datetime1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A536DD-B507-E5DC-6C2E-81EF4A9A37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52007F-CDB8-03CD-7F92-4C5959890E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E06EAA-2BC5-4CC8-BF20-13FF7672A0FC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189472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8DC50E-E5F3-A49D-4520-0459435717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37CDB-0F67-4230-B08C-64481E1C4D11}" type="datetime1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936E29-80DE-E28D-B249-8BD2D8191C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42FEF4-0464-545F-3581-8E3B861279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C34525-297C-4A45-8BF8-34D87787C4AC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7273803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53DD84F-80E0-7565-9D78-B40B612A1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tr-TR"/>
              <a:t>Asıl başlık stili için tıklatın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697847C-E2FE-7852-1159-10555DE98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tr-TR"/>
              <a:t>Asıl metin stillerini düzenlemek için tıklatın</a:t>
            </a:r>
          </a:p>
          <a:p>
            <a:pPr lvl="1"/>
            <a:r>
              <a:rPr lang="tr-TR" altLang="tr-TR"/>
              <a:t>İkinci düzey</a:t>
            </a:r>
          </a:p>
          <a:p>
            <a:pPr lvl="2"/>
            <a:r>
              <a:rPr lang="tr-TR" altLang="tr-TR"/>
              <a:t>Üçüncü düzey</a:t>
            </a:r>
          </a:p>
          <a:p>
            <a:pPr lvl="3"/>
            <a:r>
              <a:rPr lang="tr-TR" altLang="tr-TR"/>
              <a:t>Dördüncü düzey</a:t>
            </a:r>
          </a:p>
          <a:p>
            <a:pPr lvl="4"/>
            <a:r>
              <a:rPr lang="tr-TR" altLang="tr-TR"/>
              <a:t>Beşinci düzey</a:t>
            </a:r>
          </a:p>
        </p:txBody>
      </p:sp>
      <p:sp>
        <p:nvSpPr>
          <p:cNvPr id="175108" name="Rectangle 4">
            <a:extLst>
              <a:ext uri="{FF2B5EF4-FFF2-40B4-BE49-F238E27FC236}">
                <a16:creationId xmlns:a16="http://schemas.microsoft.com/office/drawing/2014/main" id="{839F2161-BF5E-848A-64D5-E9939534EBA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7E0FA12B-6EA8-44A9-A150-C8536DBA7223}" type="datetime1">
              <a:rPr lang="tr-TR"/>
              <a:pPr>
                <a:defRPr/>
              </a:pPr>
              <a:t>15.10.2025</a:t>
            </a:fld>
            <a:endParaRPr lang="tr-TR"/>
          </a:p>
        </p:txBody>
      </p:sp>
      <p:sp>
        <p:nvSpPr>
          <p:cNvPr id="175109" name="Rectangle 5">
            <a:extLst>
              <a:ext uri="{FF2B5EF4-FFF2-40B4-BE49-F238E27FC236}">
                <a16:creationId xmlns:a16="http://schemas.microsoft.com/office/drawing/2014/main" id="{74C60407-4F10-68A4-BE86-1F40CBBCF69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75110" name="Rectangle 6">
            <a:extLst>
              <a:ext uri="{FF2B5EF4-FFF2-40B4-BE49-F238E27FC236}">
                <a16:creationId xmlns:a16="http://schemas.microsoft.com/office/drawing/2014/main" id="{CA51E584-F2FA-BF8D-E9C0-2DCEFA345ED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93D962D1-1631-449F-9304-99C4CE17A89A}" type="slidenum">
              <a:rPr lang="tr-TR" altLang="tr-TR"/>
              <a:pPr>
                <a:defRPr/>
              </a:pPr>
              <a:t>‹#›</a:t>
            </a:fld>
            <a:endParaRPr lang="tr-TR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ustomXml" Target="../ink/ink1.xml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w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wmf"/><Relationship Id="rId7" Type="http://schemas.openxmlformats.org/officeDocument/2006/relationships/oleObject" Target="../embeddings/oleObject3.bin"/><Relationship Id="rId8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0" Type="http://schemas.openxmlformats.org/officeDocument/2006/relationships/image" Target="../media/image4.w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wmf"/><Relationship Id="rId7" Type="http://schemas.openxmlformats.org/officeDocument/2006/relationships/oleObject" Target="../embeddings/oleObject4.bin"/><Relationship Id="rId8" Type="http://schemas.openxmlformats.org/officeDocument/2006/relationships/image" Target="../media/image4.wmf"/><Relationship Id="rId9" Type="http://schemas.openxmlformats.org/officeDocument/2006/relationships/oleObject" Target="../embeddings/oleObject7.bin"/><Relationship Id="rId10" Type="http://schemas.openxmlformats.org/officeDocument/2006/relationships/image" Target="../media/image3.w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wmf"/><Relationship Id="rId7" Type="http://schemas.openxmlformats.org/officeDocument/2006/relationships/oleObject" Target="../embeddings/oleObject4.bin"/><Relationship Id="rId8" Type="http://schemas.openxmlformats.org/officeDocument/2006/relationships/image" Target="../media/image4.wmf"/><Relationship Id="rId9" Type="http://schemas.openxmlformats.org/officeDocument/2006/relationships/oleObject" Target="../embeddings/oleObject7.bin"/><Relationship Id="rId10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wmf"/><Relationship Id="rId5" Type="http://schemas.openxmlformats.org/officeDocument/2006/relationships/oleObject" Target="../embeddings/oleObject9.bin"/><Relationship Id="rId6" Type="http://schemas.openxmlformats.org/officeDocument/2006/relationships/image" Target="../media/image2.wmf"/><Relationship Id="rId7" Type="http://schemas.openxmlformats.org/officeDocument/2006/relationships/oleObject" Target="../embeddings/oleObject10.bin"/><Relationship Id="rId8" Type="http://schemas.openxmlformats.org/officeDocument/2006/relationships/image" Target="../media/image4.wmf"/><Relationship Id="rId9" Type="http://schemas.openxmlformats.org/officeDocument/2006/relationships/oleObject" Target="../embeddings/oleObject11.bin"/><Relationship Id="rId10" Type="http://schemas.openxmlformats.org/officeDocument/2006/relationships/image" Target="../media/image3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wmf"/><Relationship Id="rId5" Type="http://schemas.openxmlformats.org/officeDocument/2006/relationships/oleObject" Target="../embeddings/oleObject9.bin"/><Relationship Id="rId6" Type="http://schemas.openxmlformats.org/officeDocument/2006/relationships/image" Target="../media/image2.wmf"/><Relationship Id="rId7" Type="http://schemas.openxmlformats.org/officeDocument/2006/relationships/oleObject" Target="../embeddings/oleObject10.bin"/><Relationship Id="rId8" Type="http://schemas.openxmlformats.org/officeDocument/2006/relationships/image" Target="../media/image4.wmf"/><Relationship Id="rId9" Type="http://schemas.openxmlformats.org/officeDocument/2006/relationships/oleObject" Target="../embeddings/oleObject11.bin"/><Relationship Id="rId10" Type="http://schemas.openxmlformats.org/officeDocument/2006/relationships/image" Target="../media/image3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wmf"/><Relationship Id="rId5" Type="http://schemas.openxmlformats.org/officeDocument/2006/relationships/oleObject" Target="../embeddings/oleObject13.bin"/><Relationship Id="rId6" Type="http://schemas.openxmlformats.org/officeDocument/2006/relationships/image" Target="../media/image2.wmf"/><Relationship Id="rId7" Type="http://schemas.openxmlformats.org/officeDocument/2006/relationships/oleObject" Target="../embeddings/oleObject14.bin"/><Relationship Id="rId8" Type="http://schemas.openxmlformats.org/officeDocument/2006/relationships/image" Target="../media/image4.w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wmf"/><Relationship Id="rId5" Type="http://schemas.openxmlformats.org/officeDocument/2006/relationships/oleObject" Target="../embeddings/oleObject13.bin"/><Relationship Id="rId6" Type="http://schemas.openxmlformats.org/officeDocument/2006/relationships/image" Target="../media/image2.wmf"/><Relationship Id="rId7" Type="http://schemas.openxmlformats.org/officeDocument/2006/relationships/oleObject" Target="../embeddings/oleObject15.bin"/><Relationship Id="rId8" Type="http://schemas.openxmlformats.org/officeDocument/2006/relationships/image" Target="../media/image4.wmf"/><Relationship Id="rId9" Type="http://schemas.openxmlformats.org/officeDocument/2006/relationships/oleObject" Target="../embeddings/oleObject16.bin"/><Relationship Id="rId10" Type="http://schemas.openxmlformats.org/officeDocument/2006/relationships/image" Target="../media/image3.w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18.bin"/><Relationship Id="rId6" Type="http://schemas.openxmlformats.org/officeDocument/2006/relationships/image" Target="../media/image6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18.bin"/><Relationship Id="rId6" Type="http://schemas.openxmlformats.org/officeDocument/2006/relationships/image" Target="../media/image6.w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20.bin"/><Relationship Id="rId6" Type="http://schemas.openxmlformats.org/officeDocument/2006/relationships/image" Target="../media/image6.w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21.bin"/><Relationship Id="rId6" Type="http://schemas.openxmlformats.org/officeDocument/2006/relationships/image" Target="../media/image7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wmf"/><Relationship Id="rId4" Type="http://schemas.openxmlformats.org/officeDocument/2006/relationships/image" Target="../media/image9.wmf"/><Relationship Id="rId5" Type="http://schemas.openxmlformats.org/officeDocument/2006/relationships/image" Target="../media/image10.wmf"/><Relationship Id="rId6" Type="http://schemas.openxmlformats.org/officeDocument/2006/relationships/image" Target="../media/image7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1.wmf"/><Relationship Id="rId5" Type="http://schemas.openxmlformats.org/officeDocument/2006/relationships/oleObject" Target="../embeddings/oleObject23.bin"/><Relationship Id="rId6" Type="http://schemas.openxmlformats.org/officeDocument/2006/relationships/image" Target="../media/image12.wmf"/><Relationship Id="rId7" Type="http://schemas.openxmlformats.org/officeDocument/2006/relationships/oleObject" Target="../embeddings/oleObject24.bin"/><Relationship Id="rId8" Type="http://schemas.openxmlformats.org/officeDocument/2006/relationships/image" Target="../media/image13.wmf"/><Relationship Id="rId9" Type="http://schemas.openxmlformats.org/officeDocument/2006/relationships/oleObject" Target="../embeddings/oleObject25.bin"/><Relationship Id="rId10" Type="http://schemas.openxmlformats.org/officeDocument/2006/relationships/image" Target="../media/image14.wmf"/><Relationship Id="rId11" Type="http://schemas.openxmlformats.org/officeDocument/2006/relationships/oleObject" Target="../embeddings/oleObject26.bin"/><Relationship Id="rId12" Type="http://schemas.openxmlformats.org/officeDocument/2006/relationships/image" Target="../media/image15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Relationship Id="rId4" Type="http://schemas.openxmlformats.org/officeDocument/2006/relationships/image" Target="../media/image7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7.wmf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oleObject" Target="../embeddings/oleObject28.bin"/><Relationship Id="rId4" Type="http://schemas.openxmlformats.org/officeDocument/2006/relationships/image" Target="../media/image18.wmf"/><Relationship Id="rId5" Type="http://schemas.openxmlformats.org/officeDocument/2006/relationships/oleObject" Target="../embeddings/oleObject29.bin"/><Relationship Id="rId6" Type="http://schemas.openxmlformats.org/officeDocument/2006/relationships/image" Target="../media/image19.wmf"/><Relationship Id="rId7" Type="http://schemas.openxmlformats.org/officeDocument/2006/relationships/oleObject" Target="../embeddings/oleObject30.bin"/><Relationship Id="rId8" Type="http://schemas.openxmlformats.org/officeDocument/2006/relationships/image" Target="../media/image20.wmf"/><Relationship Id="rId9" Type="http://schemas.openxmlformats.org/officeDocument/2006/relationships/image" Target="../media/image21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image" Target="../media/image81.png"/><Relationship Id="rId13" Type="http://schemas.openxmlformats.org/officeDocument/2006/relationships/image" Target="../media/image82.png"/><Relationship Id="rId14" Type="http://schemas.openxmlformats.org/officeDocument/2006/relationships/image" Target="../media/image83.png"/><Relationship Id="rId15" Type="http://schemas.openxmlformats.org/officeDocument/2006/relationships/image" Target="../media/image8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21.wmf"/><Relationship Id="rId5" Type="http://schemas.openxmlformats.org/officeDocument/2006/relationships/image" Target="../media/image8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notesSlide" Target="../notesSlides/notesSlide8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notesSlide" Target="../notesSlides/notesSlide8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22.wmf"/><Relationship Id="rId5" Type="http://schemas.openxmlformats.org/officeDocument/2006/relationships/oleObject" Target="../embeddings/oleObject33.bin"/><Relationship Id="rId6" Type="http://schemas.openxmlformats.org/officeDocument/2006/relationships/image" Target="../media/image23.wmf"/><Relationship Id="rId7" Type="http://schemas.openxmlformats.org/officeDocument/2006/relationships/oleObject" Target="../embeddings/oleObject34.bin"/><Relationship Id="rId8" Type="http://schemas.openxmlformats.org/officeDocument/2006/relationships/image" Target="../media/image24.wmf"/><Relationship Id="rId9" Type="http://schemas.openxmlformats.org/officeDocument/2006/relationships/oleObject" Target="../embeddings/oleObject35.bin"/><Relationship Id="rId10" Type="http://schemas.openxmlformats.org/officeDocument/2006/relationships/image" Target="../media/image25.wmf"/><Relationship Id="rId11" Type="http://schemas.openxmlformats.org/officeDocument/2006/relationships/oleObject" Target="../embeddings/oleObject36.bin"/><Relationship Id="rId12" Type="http://schemas.openxmlformats.org/officeDocument/2006/relationships/image" Target="../media/image26.wmf"/><Relationship Id="rId13" Type="http://schemas.openxmlformats.org/officeDocument/2006/relationships/image" Target="../media/image8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oleObject" Target="../embeddings/oleObject37.bin"/><Relationship Id="rId4" Type="http://schemas.openxmlformats.org/officeDocument/2006/relationships/image" Target="../media/image27.wmf"/><Relationship Id="rId5" Type="http://schemas.openxmlformats.org/officeDocument/2006/relationships/oleObject" Target="../embeddings/oleObject38.bin"/><Relationship Id="rId6" Type="http://schemas.openxmlformats.org/officeDocument/2006/relationships/image" Target="../media/image28.wmf"/><Relationship Id="rId7" Type="http://schemas.openxmlformats.org/officeDocument/2006/relationships/oleObject" Target="../embeddings/oleObject39.bin"/><Relationship Id="rId8" Type="http://schemas.openxmlformats.org/officeDocument/2006/relationships/image" Target="../media/image25.wmf"/><Relationship Id="rId9" Type="http://schemas.openxmlformats.org/officeDocument/2006/relationships/oleObject" Target="../embeddings/oleObject40.bin"/><Relationship Id="rId10" Type="http://schemas.openxmlformats.org/officeDocument/2006/relationships/image" Target="../media/image26.wmf"/><Relationship Id="rId11" Type="http://schemas.openxmlformats.org/officeDocument/2006/relationships/oleObject" Target="../embeddings/oleObject41.bin"/><Relationship Id="rId12" Type="http://schemas.openxmlformats.org/officeDocument/2006/relationships/image" Target="../media/image29.wmf"/><Relationship Id="rId13" Type="http://schemas.openxmlformats.org/officeDocument/2006/relationships/image" Target="../media/image8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oleObject" Target="../embeddings/oleObject42.bin"/><Relationship Id="rId4" Type="http://schemas.openxmlformats.org/officeDocument/2006/relationships/image" Target="../media/image30.wmf"/><Relationship Id="rId5" Type="http://schemas.openxmlformats.org/officeDocument/2006/relationships/oleObject" Target="../embeddings/oleObject43.bin"/><Relationship Id="rId6" Type="http://schemas.openxmlformats.org/officeDocument/2006/relationships/image" Target="../media/image22.wmf"/><Relationship Id="rId7" Type="http://schemas.openxmlformats.org/officeDocument/2006/relationships/oleObject" Target="../embeddings/oleObject44.bin"/><Relationship Id="rId8" Type="http://schemas.openxmlformats.org/officeDocument/2006/relationships/image" Target="../media/image31.wmf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oleObject" Target="../embeddings/oleObject45.bin"/><Relationship Id="rId4" Type="http://schemas.openxmlformats.org/officeDocument/2006/relationships/image" Target="../media/image32.wmf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oleObject" Target="../embeddings/oleObject46.bin"/><Relationship Id="rId4" Type="http://schemas.openxmlformats.org/officeDocument/2006/relationships/image" Target="../media/image33.wmf"/><Relationship Id="rId5" Type="http://schemas.openxmlformats.org/officeDocument/2006/relationships/oleObject" Target="../embeddings/oleObject47.bin"/><Relationship Id="rId6" Type="http://schemas.openxmlformats.org/officeDocument/2006/relationships/image" Target="../media/image34.wmf"/><Relationship Id="rId7" Type="http://schemas.openxmlformats.org/officeDocument/2006/relationships/oleObject" Target="../embeddings/oleObject48.bin"/><Relationship Id="rId8" Type="http://schemas.openxmlformats.org/officeDocument/2006/relationships/image" Target="../media/image35.wmf"/><Relationship Id="rId9" Type="http://schemas.openxmlformats.org/officeDocument/2006/relationships/oleObject" Target="../embeddings/oleObject49.bin"/><Relationship Id="rId10" Type="http://schemas.openxmlformats.org/officeDocument/2006/relationships/oleObject" Target="../embeddings/oleObject50.bin"/><Relationship Id="rId11" Type="http://schemas.openxmlformats.org/officeDocument/2006/relationships/image" Target="../media/image36.wmf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oleObject" Target="../embeddings/oleObject51.bin"/><Relationship Id="rId4" Type="http://schemas.openxmlformats.org/officeDocument/2006/relationships/image" Target="../media/image37.wmf"/><Relationship Id="rId5" Type="http://schemas.openxmlformats.org/officeDocument/2006/relationships/oleObject" Target="../embeddings/oleObject52.bin"/><Relationship Id="rId6" Type="http://schemas.openxmlformats.org/officeDocument/2006/relationships/image" Target="../media/image38.wmf"/><Relationship Id="rId7" Type="http://schemas.openxmlformats.org/officeDocument/2006/relationships/oleObject" Target="../embeddings/oleObject53.bin"/><Relationship Id="rId8" Type="http://schemas.openxmlformats.org/officeDocument/2006/relationships/image" Target="../media/image39.wmf"/><Relationship Id="rId9" Type="http://schemas.openxmlformats.org/officeDocument/2006/relationships/image" Target="../media/image91.png"/><Relationship Id="rId10" Type="http://schemas.openxmlformats.org/officeDocument/2006/relationships/image" Target="../media/image92.png"/><Relationship Id="rId11" Type="http://schemas.openxmlformats.org/officeDocument/2006/relationships/image" Target="../media/image9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oleObject" Target="../embeddings/oleObject54.bin"/><Relationship Id="rId4" Type="http://schemas.openxmlformats.org/officeDocument/2006/relationships/image" Target="../media/image40.wmf"/><Relationship Id="rId5" Type="http://schemas.openxmlformats.org/officeDocument/2006/relationships/image" Target="../media/image9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notesSlide" Target="../notesSlides/notesSlide8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oleObject" Target="../embeddings/oleObject55.bin"/><Relationship Id="rId4" Type="http://schemas.openxmlformats.org/officeDocument/2006/relationships/image" Target="../media/image41.wmf"/><Relationship Id="rId5" Type="http://schemas.openxmlformats.org/officeDocument/2006/relationships/oleObject" Target="../embeddings/oleObject56.bin"/><Relationship Id="rId6" Type="http://schemas.openxmlformats.org/officeDocument/2006/relationships/image" Target="../media/image42.wmf"/><Relationship Id="rId7" Type="http://schemas.openxmlformats.org/officeDocument/2006/relationships/image" Target="../media/image9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oleObject" Target="../embeddings/oleObject57.bin"/><Relationship Id="rId4" Type="http://schemas.openxmlformats.org/officeDocument/2006/relationships/image" Target="../media/image43.wmf"/><Relationship Id="rId5" Type="http://schemas.openxmlformats.org/officeDocument/2006/relationships/image" Target="../media/image10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oleObject" Target="../embeddings/oleObject58.bin"/><Relationship Id="rId4" Type="http://schemas.openxmlformats.org/officeDocument/2006/relationships/image" Target="../media/image44.wmf"/><Relationship Id="rId5" Type="http://schemas.openxmlformats.org/officeDocument/2006/relationships/oleObject" Target="../embeddings/oleObject59.bin"/><Relationship Id="rId6" Type="http://schemas.openxmlformats.org/officeDocument/2006/relationships/image" Target="../media/image45.wmf"/><Relationship Id="rId7" Type="http://schemas.openxmlformats.org/officeDocument/2006/relationships/oleObject" Target="../embeddings/oleObject60.bin"/><Relationship Id="rId8" Type="http://schemas.openxmlformats.org/officeDocument/2006/relationships/image" Target="../media/image46.wmf"/><Relationship Id="rId9" Type="http://schemas.openxmlformats.org/officeDocument/2006/relationships/image" Target="../media/image10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oleObject" Target="../embeddings/oleObject61.bin"/><Relationship Id="rId4" Type="http://schemas.openxmlformats.org/officeDocument/2006/relationships/image" Target="../media/image47.wmf"/><Relationship Id="rId5" Type="http://schemas.openxmlformats.org/officeDocument/2006/relationships/oleObject" Target="../embeddings/oleObject62.bin"/><Relationship Id="rId6" Type="http://schemas.openxmlformats.org/officeDocument/2006/relationships/image" Target="../media/image48.wmf"/><Relationship Id="rId7" Type="http://schemas.openxmlformats.org/officeDocument/2006/relationships/oleObject" Target="../embeddings/oleObject63.bin"/><Relationship Id="rId8" Type="http://schemas.openxmlformats.org/officeDocument/2006/relationships/image" Target="../media/image49.wmf"/><Relationship Id="rId9" Type="http://schemas.openxmlformats.org/officeDocument/2006/relationships/image" Target="../media/image102.png"/><Relationship Id="rId10" Type="http://schemas.openxmlformats.org/officeDocument/2006/relationships/image" Target="../media/image10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oleObject" Target="../embeddings/oleObject64.bin"/><Relationship Id="rId4" Type="http://schemas.openxmlformats.org/officeDocument/2006/relationships/image" Target="../media/image50.wmf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oleObject" Target="../embeddings/oleObject65.bin"/><Relationship Id="rId4" Type="http://schemas.openxmlformats.org/officeDocument/2006/relationships/image" Target="../media/image51.wmf"/><Relationship Id="rId5" Type="http://schemas.openxmlformats.org/officeDocument/2006/relationships/oleObject" Target="../embeddings/oleObject66.bin"/><Relationship Id="rId6" Type="http://schemas.openxmlformats.org/officeDocument/2006/relationships/image" Target="../media/image52.wmf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notesSlide" Target="../notesSlides/notesSlide8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oleObject" Target="../embeddings/oleObject67.bin"/><Relationship Id="rId4" Type="http://schemas.openxmlformats.org/officeDocument/2006/relationships/image" Target="../media/image53.wmf"/><Relationship Id="rId5" Type="http://schemas.openxmlformats.org/officeDocument/2006/relationships/oleObject" Target="../embeddings/oleObject68.bin"/><Relationship Id="rId6" Type="http://schemas.openxmlformats.org/officeDocument/2006/relationships/image" Target="../media/image54.wmf"/><Relationship Id="rId7" Type="http://schemas.openxmlformats.org/officeDocument/2006/relationships/image" Target="../media/image107.png"/><Relationship Id="rId8" Type="http://schemas.openxmlformats.org/officeDocument/2006/relationships/image" Target="../media/image10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oleObject" Target="../embeddings/oleObject69.bin"/><Relationship Id="rId4" Type="http://schemas.openxmlformats.org/officeDocument/2006/relationships/image" Target="../media/image52.wmf"/><Relationship Id="rId5" Type="http://schemas.openxmlformats.org/officeDocument/2006/relationships/oleObject" Target="../embeddings/oleObject70.bin"/><Relationship Id="rId6" Type="http://schemas.openxmlformats.org/officeDocument/2006/relationships/image" Target="../media/image55.wmf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oleObject" Target="../embeddings/oleObject71.bin"/><Relationship Id="rId4" Type="http://schemas.openxmlformats.org/officeDocument/2006/relationships/image" Target="../media/image56.wmf"/><Relationship Id="rId5" Type="http://schemas.openxmlformats.org/officeDocument/2006/relationships/image" Target="../media/image109.png"/><Relationship Id="rId6" Type="http://schemas.openxmlformats.org/officeDocument/2006/relationships/image" Target="../media/image11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oleObject" Target="../embeddings/oleObject72.bin"/><Relationship Id="rId4" Type="http://schemas.openxmlformats.org/officeDocument/2006/relationships/image" Target="../media/image57.wmf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oleObject" Target="../embeddings/oleObject73.bin"/><Relationship Id="rId4" Type="http://schemas.openxmlformats.org/officeDocument/2006/relationships/image" Target="../media/image58.wmf"/><Relationship Id="rId5" Type="http://schemas.openxmlformats.org/officeDocument/2006/relationships/oleObject" Target="../embeddings/oleObject74.bin"/><Relationship Id="rId6" Type="http://schemas.openxmlformats.org/officeDocument/2006/relationships/image" Target="../media/image59.wmf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Relationship Id="rId3" Type="http://schemas.openxmlformats.org/officeDocument/2006/relationships/notesSlide" Target="../notesSlides/notesSlide9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oleObject" Target="../embeddings/oleObject75.bin"/><Relationship Id="rId4" Type="http://schemas.openxmlformats.org/officeDocument/2006/relationships/image" Target="../media/image60.wmf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Relationship Id="rId3" Type="http://schemas.openxmlformats.org/officeDocument/2006/relationships/oleObject" Target="../embeddings/oleObject76.bin"/><Relationship Id="rId4" Type="http://schemas.openxmlformats.org/officeDocument/2006/relationships/image" Target="../media/image61.wmf"/><Relationship Id="rId5" Type="http://schemas.openxmlformats.org/officeDocument/2006/relationships/image" Target="../media/image112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oleObject" Target="../embeddings/oleObject77.bin"/><Relationship Id="rId4" Type="http://schemas.openxmlformats.org/officeDocument/2006/relationships/image" Target="../media/image62.wmf"/><Relationship Id="rId5" Type="http://schemas.openxmlformats.org/officeDocument/2006/relationships/oleObject" Target="../embeddings/oleObject78.bin"/><Relationship Id="rId6" Type="http://schemas.openxmlformats.org/officeDocument/2006/relationships/image" Target="../media/image63.wmf"/><Relationship Id="rId7" Type="http://schemas.openxmlformats.org/officeDocument/2006/relationships/oleObject" Target="../embeddings/oleObject79.bin"/><Relationship Id="rId8" Type="http://schemas.openxmlformats.org/officeDocument/2006/relationships/image" Target="../media/image64.wmf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Relationship Id="rId3" Type="http://schemas.openxmlformats.org/officeDocument/2006/relationships/oleObject" Target="../embeddings/oleObject80.bin"/><Relationship Id="rId4" Type="http://schemas.openxmlformats.org/officeDocument/2006/relationships/image" Target="../media/image65.wmf"/><Relationship Id="rId5" Type="http://schemas.openxmlformats.org/officeDocument/2006/relationships/oleObject" Target="../embeddings/oleObject81.bin"/><Relationship Id="rId6" Type="http://schemas.openxmlformats.org/officeDocument/2006/relationships/image" Target="../media/image66.wmf"/><Relationship Id="rId7" Type="http://schemas.openxmlformats.org/officeDocument/2006/relationships/oleObject" Target="../embeddings/oleObject82.bin"/><Relationship Id="rId8" Type="http://schemas.openxmlformats.org/officeDocument/2006/relationships/image" Target="../media/image67.wmf"/><Relationship Id="rId9" Type="http://schemas.openxmlformats.org/officeDocument/2006/relationships/oleObject" Target="../embeddings/oleObject83.bin"/><Relationship Id="rId10" Type="http://schemas.openxmlformats.org/officeDocument/2006/relationships/image" Target="../media/image68.wmf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Relationship Id="rId3" Type="http://schemas.openxmlformats.org/officeDocument/2006/relationships/oleObject" Target="../embeddings/oleObject84.bin"/><Relationship Id="rId4" Type="http://schemas.openxmlformats.org/officeDocument/2006/relationships/image" Target="../media/image62.wmf"/><Relationship Id="rId5" Type="http://schemas.openxmlformats.org/officeDocument/2006/relationships/oleObject" Target="../embeddings/oleObject80.bin"/><Relationship Id="rId6" Type="http://schemas.openxmlformats.org/officeDocument/2006/relationships/image" Target="../media/image65.wmf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Relationship Id="rId3" Type="http://schemas.openxmlformats.org/officeDocument/2006/relationships/oleObject" Target="../embeddings/oleObject85.bin"/><Relationship Id="rId4" Type="http://schemas.openxmlformats.org/officeDocument/2006/relationships/image" Target="../media/image69.wmf"/><Relationship Id="rId5" Type="http://schemas.openxmlformats.org/officeDocument/2006/relationships/image" Target="../media/image11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oleObject" Target="../embeddings/oleObject86.bin"/><Relationship Id="rId4" Type="http://schemas.openxmlformats.org/officeDocument/2006/relationships/image" Target="../media/image70.wmf"/><Relationship Id="rId5" Type="http://schemas.openxmlformats.org/officeDocument/2006/relationships/image" Target="../media/image11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3 Slayt Numarası Yer Tutucusu">
            <a:extLst>
              <a:ext uri="{FF2B5EF4-FFF2-40B4-BE49-F238E27FC236}">
                <a16:creationId xmlns:a16="http://schemas.microsoft.com/office/drawing/2014/main" id="{E1808B44-0C1A-F2DB-654F-7C0EF5681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94EEB2-DDD1-4A80-B13C-A735E5F37420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tr-TR" altLang="tr-TR" sz="1400"/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6E474AF4-F5AB-F1FF-5BCD-592FF130B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1916113"/>
            <a:ext cx="7758112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İktisatçıların ‘gerçeği’ arayışı, yıllar geçtikçe onların karanlık bir odada, var olmayan siyah bir kediyi aradıkları görüşüne yol açmıştır; ekonometriciler ise sürekli, o kediyi bulmakla suçlanmıştır.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24582" name="TextBox 24581"/>
          <p:cNvSpPr txBox="1"/>
          <p:nvPr/>
        </p:nvSpPr>
        <p:spPr>
          <a:xfrm>
            <a:off x="777240" y="685800"/>
            <a:ext cx="7754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lang="tr-TR">
                <a:latin typeface="Times New Roman"/>
              </a:rPr>
              <a:t>Bölüm 11: Ekonometrik Modelleme ve Model Seçimi</a:t>
            </a:r>
          </a:p>
        </p:txBody>
      </p:sp>
      <p:sp>
        <p:nvSpPr>
          <p:cNvPr id="24583" name="TextBox 24582"/>
          <p:cNvSpPr txBox="1"/>
          <p:nvPr/>
        </p:nvSpPr>
        <p:spPr>
          <a:xfrm>
            <a:off x="777240" y="3566160"/>
            <a:ext cx="7754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i="1" lang="tr-TR">
                <a:latin typeface="Times New Roman"/>
              </a:rPr>
              <a:t>Peter Kennedy, A Guide to Econometrics, Bölüm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3 Slayt Numarası Yer Tutucusu">
            <a:extLst>
              <a:ext uri="{FF2B5EF4-FFF2-40B4-BE49-F238E27FC236}">
                <a16:creationId xmlns:a16="http://schemas.microsoft.com/office/drawing/2014/main" id="{739230DC-865E-3E86-9AC8-C60D9444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9CD9DC-9D2F-453F-A91B-C8A98304EF92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tr-TR" altLang="tr-TR" sz="14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57C9A8FB-C8E3-050E-39BC-4E1116D48C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76288" y="714375"/>
            <a:ext cx="7758112" cy="663575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600"/>
              <a:t>İyi Bir Modelin Özellikleri</a:t>
            </a:r>
            <a:endParaRPr lang="en-US" altLang="tr-TR" sz="3600"/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4154A7DE-DB41-2908-72F2-FFCC61C9C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1609725"/>
            <a:ext cx="7758112" cy="40941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  <a:defRPr/>
            </a:pPr>
            <a:r>
              <a:rPr lang="tr-TR" altLang="tr-TR" sz="2000" dirty="0">
                <a:latin typeface="Times New Roman" panose="02020603050405020304" pitchFamily="18" charset="0"/>
              </a:rPr>
              <a:t>Şu sorular ele alacağız: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  <a:defRPr/>
            </a:pPr>
            <a:r>
              <a:rPr lang="tr-TR" altLang="tr-TR" sz="2000" dirty="0">
                <a:latin typeface="Times New Roman" panose="02020603050405020304" pitchFamily="18" charset="0"/>
              </a:rPr>
              <a:t>"Doğru" model nasıl bulunur? Başka bir deyişle, deneysel çözümlemeler için bir seçimin ölçütleri nelerdir?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  <a:defRPr/>
            </a:pPr>
            <a:r>
              <a:rPr lang="tr-TR" altLang="tr-TR" sz="2000" dirty="0">
                <a:latin typeface="Times New Roman" panose="02020603050405020304" pitchFamily="18" charset="0"/>
              </a:rPr>
              <a:t>Uygulamada ne tür model kurma hatalarıyla karşılaşmak olasıdır?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  <a:defRPr/>
            </a:pPr>
            <a:r>
              <a:rPr lang="tr-TR" altLang="tr-TR" sz="2000" dirty="0">
                <a:latin typeface="Times New Roman" panose="02020603050405020304" pitchFamily="18" charset="0"/>
              </a:rPr>
              <a:t>Model kurma hatalarının doğurduğu sonuçlar nelerdir?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  <a:defRPr/>
            </a:pPr>
            <a:r>
              <a:rPr lang="tr-TR" altLang="tr-TR" sz="2000" dirty="0">
                <a:latin typeface="Times New Roman" panose="02020603050405020304" pitchFamily="18" charset="0"/>
              </a:rPr>
              <a:t>Model kurma hataları nasıl tanınır? Başka bir deyişle, kullanılabilecek bazı tanı araçları nelerdir?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  <a:defRPr/>
            </a:pPr>
            <a:r>
              <a:rPr lang="tr-TR" altLang="tr-TR" sz="2000" dirty="0">
                <a:latin typeface="Times New Roman" panose="02020603050405020304" pitchFamily="18" charset="0"/>
              </a:rPr>
              <a:t>Model kurma hataları bulununca hangi düzeltme yolları kullanılabilir, bunlar yararlar sağlar?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  <a:defRPr/>
            </a:pPr>
            <a:r>
              <a:rPr lang="tr-TR" altLang="tr-TR" sz="2000" dirty="0">
                <a:latin typeface="Times New Roman" panose="02020603050405020304" pitchFamily="18" charset="0"/>
              </a:rPr>
              <a:t>Rakip modellerin performansı nasıl değerlendirilir?</a:t>
            </a:r>
            <a:endParaRPr lang="en-US" altLang="tr-TR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5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5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nimBg="1" autoUpdateAnimBg="0"/>
      <p:bldP spid="24581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3 Slayt Numarası Yer Tutucusu">
            <a:extLst>
              <a:ext uri="{FF2B5EF4-FFF2-40B4-BE49-F238E27FC236}">
                <a16:creationId xmlns:a16="http://schemas.microsoft.com/office/drawing/2014/main" id="{FC5AB721-1B05-B8E1-97A5-6330DDEF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E44044-1C6D-41CB-BAA4-92261C8F0F58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tr-TR" altLang="tr-TR" sz="14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0976E150-056D-AC99-9152-563613FC0AC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76288" y="714375"/>
            <a:ext cx="7758112" cy="663575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600"/>
              <a:t>İyi Bir Modelin Özellikleri</a:t>
            </a:r>
            <a:endParaRPr lang="en-US" altLang="tr-TR" sz="3600"/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FBE5E9EB-7E4D-2A99-29AA-B549581D3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057400"/>
            <a:ext cx="64770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 dirty="0">
                <a:latin typeface="Times New Roman" panose="02020603050405020304" pitchFamily="18" charset="0"/>
              </a:rPr>
              <a:t>Basitlik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 dirty="0">
                <a:latin typeface="Times New Roman" panose="02020603050405020304" pitchFamily="18" charset="0"/>
              </a:rPr>
              <a:t>Belirlenmişlik</a:t>
            </a:r>
            <a:r>
              <a:rPr lang="en-US" altLang="tr-TR" sz="2400" dirty="0">
                <a:latin typeface="Times New Roman" panose="02020603050405020304" pitchFamily="18" charset="0"/>
              </a:rPr>
              <a:t>: Her </a:t>
            </a:r>
            <a:r>
              <a:rPr lang="el-GR" altLang="tr-TR" sz="2400" dirty="0">
                <a:latin typeface="Times New Roman" panose="02020603050405020304" pitchFamily="18" charset="0"/>
              </a:rPr>
              <a:t>β</a:t>
            </a:r>
            <a:r>
              <a:rPr lang="tr-TR" altLang="tr-TR" sz="2400" dirty="0">
                <a:latin typeface="Times New Roman" panose="02020603050405020304" pitchFamily="18" charset="0"/>
              </a:rPr>
              <a:t> parametresi için tek değerin olması</a:t>
            </a:r>
            <a:endParaRPr lang="en-US" altLang="tr-TR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eriod" startAt="3"/>
            </a:pPr>
            <a:r>
              <a:rPr lang="tr-TR" altLang="tr-TR" sz="2400">
                <a:latin typeface="Times New Roman" panose="02020603050405020304" pitchFamily="18" charset="0"/>
              </a:rPr>
              <a:t>Uyum İyiliği (goodness of fit): R</a:t>
            </a:r>
            <a:r>
              <a:rPr lang="tr-TR" altLang="tr-TR" sz="2400" baseline="30000">
                <a:latin typeface="Times New Roman" panose="02020603050405020304" pitchFamily="18" charset="0"/>
              </a:rPr>
              <a:t>2</a:t>
            </a:r>
            <a:r>
              <a:rPr lang="tr-TR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 dirty="0">
                <a:latin typeface="Times New Roman" panose="02020603050405020304" pitchFamily="18" charset="0"/>
              </a:rPr>
              <a:t>ölçüsü</a:t>
            </a:r>
            <a:endParaRPr lang="en-US" altLang="tr-TR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eriod" startAt="3"/>
            </a:pPr>
            <a:r>
              <a:rPr lang="tr-TR" altLang="tr-TR" sz="2400" dirty="0">
                <a:latin typeface="Times New Roman" panose="02020603050405020304" pitchFamily="18" charset="0"/>
              </a:rPr>
              <a:t>Teorik tutarlılık</a:t>
            </a:r>
            <a:endParaRPr lang="en-US" altLang="tr-TR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eriod" startAt="3"/>
            </a:pPr>
            <a:r>
              <a:rPr lang="tr-TR" altLang="tr-TR" sz="2400" dirty="0">
                <a:latin typeface="Times New Roman" panose="02020603050405020304" pitchFamily="18" charset="0"/>
              </a:rPr>
              <a:t>Öngörü Gücü (predictive power)</a:t>
            </a:r>
            <a:endParaRPr lang="en-US" altLang="tr-TR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nimBg="1" autoUpdateAnimBg="0"/>
      <p:bldP spid="2458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>
            <a:extLst>
              <a:ext uri="{FF2B5EF4-FFF2-40B4-BE49-F238E27FC236}">
                <a16:creationId xmlns:a16="http://schemas.microsoft.com/office/drawing/2014/main" id="{08AF1425-4704-141A-375A-41C45B7D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D72E4A-9B1D-4E48-92B7-F84CF50610C5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tr-TR" altLang="tr-TR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3497FDB-8A79-790E-7EEA-F9DADB8FE6D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2863"/>
            <a:ext cx="7772400" cy="762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600"/>
              <a:t>Model Tanımlanması</a:t>
            </a:r>
            <a:endParaRPr lang="en-US" altLang="tr-TR" sz="3600"/>
          </a:p>
        </p:txBody>
      </p:sp>
      <p:sp>
        <p:nvSpPr>
          <p:cNvPr id="2051" name="Text Box 3">
            <a:extLst>
              <a:ext uri="{FF2B5EF4-FFF2-40B4-BE49-F238E27FC236}">
                <a16:creationId xmlns:a16="http://schemas.microsoft.com/office/drawing/2014/main" id="{F5B349C2-C4DB-821D-259F-50CCC424E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66800"/>
            <a:ext cx="9144000" cy="575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r-TR" altLang="tr-TR" sz="2400">
                <a:latin typeface="Times New Roman" panose="02020603050405020304" pitchFamily="18" charset="0"/>
              </a:rPr>
              <a:t>Araştırmada kullanılan modelin tanımlamasının “doğru” olduğu kabul edilmektedir.</a:t>
            </a:r>
            <a:r>
              <a:rPr lang="en-US" altLang="tr-TR" sz="2400">
                <a:latin typeface="Times New Roman" panose="02020603050405020304" pitchFamily="18" charset="0"/>
              </a:rPr>
              <a:t/>
            </a:r>
          </a:p>
          <a:p>
            <a:pPr eaLnBrk="1" hangingPunct="1">
              <a:spcBef>
                <a:spcPct val="50000"/>
              </a:spcBef>
            </a:pPr>
            <a:r>
              <a:rPr lang="tr-TR" altLang="tr-TR" sz="2400">
                <a:latin typeface="Times New Roman" panose="02020603050405020304" pitchFamily="18" charset="0"/>
              </a:rPr>
              <a:t>Doğru modele ulaşmak için </a:t>
            </a:r>
            <a:r>
              <a:rPr lang="en-US" altLang="tr-TR" sz="2400">
                <a:latin typeface="Times New Roman" panose="02020603050405020304" pitchFamily="18" charset="0"/>
              </a:rPr>
              <a:t> R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, t, F, DW-d </a:t>
            </a:r>
            <a:r>
              <a:rPr lang="tr-TR" altLang="tr-TR" sz="2400">
                <a:latin typeface="Times New Roman" panose="02020603050405020304" pitchFamily="18" charset="0"/>
              </a:rPr>
              <a:t>vb. İstatistik ve ekonom</a:t>
            </a:r>
            <a:r>
              <a:rPr lang="en-US" altLang="tr-TR" sz="2400">
                <a:latin typeface="Times New Roman" panose="02020603050405020304" pitchFamily="18" charset="0"/>
              </a:rPr>
              <a:t>et</a:t>
            </a:r>
            <a:r>
              <a:rPr lang="tr-TR" altLang="tr-TR" sz="2400">
                <a:latin typeface="Times New Roman" panose="02020603050405020304" pitchFamily="18" charset="0"/>
              </a:rPr>
              <a:t>rik testler kullanılır.</a:t>
            </a:r>
            <a:endParaRPr lang="en-US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tr-TR" altLang="tr-TR" sz="2400">
                <a:latin typeface="Times New Roman" panose="02020603050405020304" pitchFamily="18" charset="0"/>
              </a:rPr>
              <a:t>Eğer model hala tatmin edici değilse</a:t>
            </a:r>
            <a:r>
              <a:rPr lang="en-US" altLang="tr-TR" sz="2400">
                <a:latin typeface="Times New Roman" panose="02020603050405020304" pitchFamily="18" charset="0"/>
              </a:rPr>
              <a:t>,</a:t>
            </a:r>
            <a:r>
              <a:rPr lang="tr-TR" altLang="tr-TR" sz="2400">
                <a:latin typeface="Times New Roman" panose="02020603050405020304" pitchFamily="18" charset="0"/>
              </a:rPr>
              <a:t> araştırmacı tanımlama hatalarından ya da seçilen modeldeki sapmalardan kaygılanmaya başlamaktadır.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	-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</a:rPr>
              <a:t>Yanlış Fonksiyonel Biçim</a:t>
            </a:r>
            <a:r>
              <a:rPr lang="en-US" altLang="tr-TR" sz="2400"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	- </a:t>
            </a:r>
            <a:r>
              <a:rPr lang="tr-TR" altLang="tr-TR" sz="2400">
                <a:latin typeface="Times New Roman" panose="02020603050405020304" pitchFamily="18" charset="0"/>
              </a:rPr>
              <a:t>Gereksiz Değişkenin Modelde Yer Alması</a:t>
            </a:r>
            <a:r>
              <a:rPr lang="en-US" altLang="tr-TR" sz="2400">
                <a:latin typeface="Times New Roman" panose="02020603050405020304" pitchFamily="18" charset="0"/>
              </a:rPr>
              <a:t>, </a:t>
            </a:r>
            <a:endParaRPr lang="tr-TR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	-</a:t>
            </a:r>
            <a:r>
              <a:rPr lang="tr-TR" altLang="tr-TR" sz="2400">
                <a:latin typeface="Times New Roman" panose="02020603050405020304" pitchFamily="18" charset="0"/>
              </a:rPr>
              <a:t>Gerekli Değişkenin Gözardı Edilmesi,</a:t>
            </a:r>
            <a:endParaRPr lang="en-US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	- </a:t>
            </a:r>
            <a:r>
              <a:rPr lang="tr-TR" altLang="tr-TR" sz="2400">
                <a:latin typeface="Times New Roman" panose="02020603050405020304" pitchFamily="18" charset="0"/>
              </a:rPr>
              <a:t>Değişkenlerin Ölçme Hatalı Olması</a:t>
            </a:r>
            <a:r>
              <a:rPr lang="en-US" altLang="tr-TR" sz="240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50000"/>
              </a:spcBef>
            </a:pPr>
            <a:endParaRPr lang="en-US" altLang="tr-TR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3 Slayt Numarası Yer Tutucusu">
            <a:extLst>
              <a:ext uri="{FF2B5EF4-FFF2-40B4-BE49-F238E27FC236}">
                <a16:creationId xmlns:a16="http://schemas.microsoft.com/office/drawing/2014/main" id="{927A5625-5F4A-7778-AB43-89A3D261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DAA9CC-DCCD-47AD-9B24-188B8474B30F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tr-TR" altLang="tr-TR" sz="14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3D8C44DB-575E-D7EB-738A-77AB146802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2863"/>
            <a:ext cx="7772400" cy="762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600"/>
              <a:t>Tanımlama Hatası Tipleri</a:t>
            </a:r>
            <a:endParaRPr lang="en-US" altLang="tr-TR" sz="3600"/>
          </a:p>
        </p:txBody>
      </p:sp>
      <p:sp>
        <p:nvSpPr>
          <p:cNvPr id="5126" name="Text Box 6">
            <a:extLst>
              <a:ext uri="{FF2B5EF4-FFF2-40B4-BE49-F238E27FC236}">
                <a16:creationId xmlns:a16="http://schemas.microsoft.com/office/drawing/2014/main" id="{774D101B-5126-2D25-9C8C-3B979BB00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14800"/>
            <a:ext cx="739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 = </a:t>
            </a:r>
            <a:r>
              <a:rPr lang="en-US" altLang="tr-TR" sz="2400">
                <a:latin typeface="Symbol" panose="05050102010706020507" pitchFamily="18" charset="2"/>
              </a:rPr>
              <a:t>l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l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 + </a:t>
            </a:r>
            <a:r>
              <a:rPr lang="en-US" altLang="tr-TR" sz="2400">
                <a:latin typeface="Symbol" panose="05050102010706020507" pitchFamily="18" charset="2"/>
              </a:rPr>
              <a:t>l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l</a:t>
            </a:r>
            <a:r>
              <a:rPr lang="en-US" altLang="tr-TR" sz="2400" baseline="-25000">
                <a:latin typeface="Times New Roman" panose="02020603050405020304" pitchFamily="18" charset="0"/>
              </a:rPr>
              <a:t>4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30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l</a:t>
            </a:r>
            <a:r>
              <a:rPr lang="en-US" altLang="tr-TR" sz="2400" baseline="-25000">
                <a:latin typeface="Times New Roman" panose="02020603050405020304" pitchFamily="18" charset="0"/>
              </a:rPr>
              <a:t>5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30000">
                <a:latin typeface="Times New Roman" panose="02020603050405020304" pitchFamily="18" charset="0"/>
              </a:rPr>
              <a:t>4</a:t>
            </a:r>
            <a:r>
              <a:rPr lang="en-US" altLang="tr-TR" sz="2400">
                <a:latin typeface="Times New Roman" panose="02020603050405020304" pitchFamily="18" charset="0"/>
              </a:rPr>
              <a:t> + v</a:t>
            </a:r>
          </a:p>
        </p:txBody>
      </p:sp>
      <p:sp>
        <p:nvSpPr>
          <p:cNvPr id="5127" name="Text Box 7">
            <a:extLst>
              <a:ext uri="{FF2B5EF4-FFF2-40B4-BE49-F238E27FC236}">
                <a16:creationId xmlns:a16="http://schemas.microsoft.com/office/drawing/2014/main" id="{EE736F8D-5F16-0E22-8724-5F6FF452E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v =  u - </a:t>
            </a:r>
            <a:r>
              <a:rPr lang="en-US" altLang="tr-TR" sz="2400">
                <a:latin typeface="Symbol" panose="05050102010706020507" pitchFamily="18" charset="2"/>
              </a:rPr>
              <a:t>l</a:t>
            </a:r>
            <a:r>
              <a:rPr lang="en-US" altLang="tr-TR" sz="2400" baseline="-25000">
                <a:latin typeface="Times New Roman" panose="02020603050405020304" pitchFamily="18" charset="0"/>
              </a:rPr>
              <a:t>5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30000">
                <a:latin typeface="Times New Roman" panose="02020603050405020304" pitchFamily="18" charset="0"/>
              </a:rPr>
              <a:t>4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130" name="AutoShape 10">
            <a:extLst>
              <a:ext uri="{FF2B5EF4-FFF2-40B4-BE49-F238E27FC236}">
                <a16:creationId xmlns:a16="http://schemas.microsoft.com/office/drawing/2014/main" id="{E8DED707-CF4D-A9EE-575C-E62491E7C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724400"/>
            <a:ext cx="6858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5131" name="Text Box 11">
            <a:extLst>
              <a:ext uri="{FF2B5EF4-FFF2-40B4-BE49-F238E27FC236}">
                <a16:creationId xmlns:a16="http://schemas.microsoft.com/office/drawing/2014/main" id="{BF37967F-674C-E2AF-275B-7E23F440F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550" y="4572000"/>
            <a:ext cx="5657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Gereksiz Değişkenin Modelde Yer Alması</a:t>
            </a:r>
            <a:r>
              <a:rPr lang="en-US" altLang="tr-TR" sz="2400">
                <a:latin typeface="Times New Roman" panose="02020603050405020304" pitchFamily="18" charset="0"/>
              </a:rPr>
              <a:t>, 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5138" name="Rectangle 18">
            <a:extLst>
              <a:ext uri="{FF2B5EF4-FFF2-40B4-BE49-F238E27FC236}">
                <a16:creationId xmlns:a16="http://schemas.microsoft.com/office/drawing/2014/main" id="{7FB53593-AFA9-0890-CA4F-B675001EF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114800"/>
            <a:ext cx="85344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5140" name="Text Box 20">
            <a:extLst>
              <a:ext uri="{FF2B5EF4-FFF2-40B4-BE49-F238E27FC236}">
                <a16:creationId xmlns:a16="http://schemas.microsoft.com/office/drawing/2014/main" id="{14E99303-48A6-8437-EF1C-BFF2D5392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81200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 =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4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30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+ u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5141" name="Text Box 21">
            <a:extLst>
              <a:ext uri="{FF2B5EF4-FFF2-40B4-BE49-F238E27FC236}">
                <a16:creationId xmlns:a16="http://schemas.microsoft.com/office/drawing/2014/main" id="{87D925EE-5D47-1148-BEC4-54C18862C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59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lnY =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4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30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+ u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5142" name="Text Box 22">
            <a:extLst>
              <a:ext uri="{FF2B5EF4-FFF2-40B4-BE49-F238E27FC236}">
                <a16:creationId xmlns:a16="http://schemas.microsoft.com/office/drawing/2014/main" id="{E76AC66F-E935-BDEB-EB16-F60E7A751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2860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Yanlış Fonksiyonel biçim</a:t>
            </a:r>
          </a:p>
        </p:txBody>
      </p:sp>
      <p:sp>
        <p:nvSpPr>
          <p:cNvPr id="5143" name="AutoShape 23">
            <a:extLst>
              <a:ext uri="{FF2B5EF4-FFF2-40B4-BE49-F238E27FC236}">
                <a16:creationId xmlns:a16="http://schemas.microsoft.com/office/drawing/2014/main" id="{A4C1EF65-2A82-F6E7-AE71-4216B58F3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6600" y="2438400"/>
            <a:ext cx="6858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5144" name="Rectangle 24">
            <a:extLst>
              <a:ext uri="{FF2B5EF4-FFF2-40B4-BE49-F238E27FC236}">
                <a16:creationId xmlns:a16="http://schemas.microsoft.com/office/drawing/2014/main" id="{F4FF7CF9-F7D2-6919-C04B-56DEF83F0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752600"/>
            <a:ext cx="86868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autoUpdateAnimBg="0"/>
      <p:bldP spid="5127" grpId="0" autoUpdateAnimBg="0"/>
      <p:bldP spid="5131" grpId="0" autoUpdateAnimBg="0"/>
      <p:bldP spid="5138" grpId="0" animBg="1"/>
      <p:bldP spid="5140" grpId="0" autoUpdateAnimBg="0"/>
      <p:bldP spid="5141" grpId="0" autoUpdateAnimBg="0"/>
      <p:bldP spid="5142" grpId="0" autoUpdateAnimBg="0"/>
      <p:bldP spid="51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3 Slayt Numarası Yer Tutucusu">
            <a:extLst>
              <a:ext uri="{FF2B5EF4-FFF2-40B4-BE49-F238E27FC236}">
                <a16:creationId xmlns:a16="http://schemas.microsoft.com/office/drawing/2014/main" id="{959C4F13-3C19-2EEC-B061-65DEE4B56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43AA4C-BDB1-4205-94EF-325689316272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tr-TR" altLang="tr-TR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2F1FE0CC-7C16-984D-F587-C0CFD0B608A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2863"/>
            <a:ext cx="7772400" cy="762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600"/>
              <a:t>Tanımlama Hatası Tipleri</a:t>
            </a:r>
            <a:endParaRPr lang="en-US" altLang="tr-TR" sz="3600"/>
          </a:p>
        </p:txBody>
      </p:sp>
      <p:sp>
        <p:nvSpPr>
          <p:cNvPr id="13331" name="Rectangle 19">
            <a:extLst>
              <a:ext uri="{FF2B5EF4-FFF2-40B4-BE49-F238E27FC236}">
                <a16:creationId xmlns:a16="http://schemas.microsoft.com/office/drawing/2014/main" id="{4373D67C-D42F-5837-5521-52F3AED55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657600"/>
            <a:ext cx="8610600" cy="236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3332" name="Text Box 20">
            <a:extLst>
              <a:ext uri="{FF2B5EF4-FFF2-40B4-BE49-F238E27FC236}">
                <a16:creationId xmlns:a16="http://schemas.microsoft.com/office/drawing/2014/main" id="{3F3C0E05-F368-B417-7E1C-C6EE6C275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86200"/>
            <a:ext cx="624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 baseline="30000">
                <a:latin typeface="Times New Roman" panose="02020603050405020304" pitchFamily="18" charset="0"/>
              </a:rPr>
              <a:t>*</a:t>
            </a:r>
            <a:r>
              <a:rPr lang="en-US" altLang="tr-TR" sz="2400">
                <a:latin typeface="Times New Roman" panose="02020603050405020304" pitchFamily="18" charset="0"/>
              </a:rPr>
              <a:t> =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 baseline="30000">
                <a:latin typeface="Times New Roman" panose="02020603050405020304" pitchFamily="18" charset="0"/>
              </a:rPr>
              <a:t>*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 baseline="30000">
                <a:latin typeface="Times New Roman" panose="02020603050405020304" pitchFamily="18" charset="0"/>
              </a:rPr>
              <a:t>*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 baseline="30000">
                <a:latin typeface="Times New Roman" panose="02020603050405020304" pitchFamily="18" charset="0"/>
              </a:rPr>
              <a:t>*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 baseline="30000">
                <a:latin typeface="Times New Roman" panose="02020603050405020304" pitchFamily="18" charset="0"/>
              </a:rPr>
              <a:t>*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 baseline="30000">
                <a:latin typeface="Times New Roman" panose="02020603050405020304" pitchFamily="18" charset="0"/>
              </a:rPr>
              <a:t>*2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4</a:t>
            </a:r>
            <a:r>
              <a:rPr lang="en-US" altLang="tr-TR" sz="2400" baseline="30000">
                <a:latin typeface="Times New Roman" panose="02020603050405020304" pitchFamily="18" charset="0"/>
              </a:rPr>
              <a:t>*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 baseline="30000">
                <a:latin typeface="Times New Roman" panose="02020603050405020304" pitchFamily="18" charset="0"/>
              </a:rPr>
              <a:t>*3</a:t>
            </a:r>
            <a:r>
              <a:rPr lang="en-US" altLang="tr-TR" sz="2400">
                <a:latin typeface="Times New Roman" panose="02020603050405020304" pitchFamily="18" charset="0"/>
              </a:rPr>
              <a:t> + u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 baseline="30000">
                <a:latin typeface="Times New Roman" panose="02020603050405020304" pitchFamily="18" charset="0"/>
              </a:rPr>
              <a:t>*</a:t>
            </a:r>
            <a:endParaRPr lang="tr-TR" altLang="tr-TR" sz="2400" baseline="30000">
              <a:latin typeface="Times New Roman" panose="02020603050405020304" pitchFamily="18" charset="0"/>
            </a:endParaRPr>
          </a:p>
        </p:txBody>
      </p:sp>
      <p:sp>
        <p:nvSpPr>
          <p:cNvPr id="13333" name="Text Box 21">
            <a:extLst>
              <a:ext uri="{FF2B5EF4-FFF2-40B4-BE49-F238E27FC236}">
                <a16:creationId xmlns:a16="http://schemas.microsoft.com/office/drawing/2014/main" id="{86D1DE0F-B8CC-9FBD-5505-CAF689B79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4958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 baseline="30000">
                <a:latin typeface="Times New Roman" panose="02020603050405020304" pitchFamily="18" charset="0"/>
              </a:rPr>
              <a:t>*</a:t>
            </a:r>
            <a:r>
              <a:rPr lang="en-US" altLang="tr-TR" sz="2400">
                <a:latin typeface="Times New Roman" panose="02020603050405020304" pitchFamily="18" charset="0"/>
              </a:rPr>
              <a:t>= Y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e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endParaRPr lang="tr-TR" altLang="tr-TR" sz="2400" baseline="-25000">
              <a:latin typeface="Times New Roman" panose="02020603050405020304" pitchFamily="18" charset="0"/>
            </a:endParaRPr>
          </a:p>
        </p:txBody>
      </p:sp>
      <p:sp>
        <p:nvSpPr>
          <p:cNvPr id="13334" name="Text Box 22">
            <a:extLst>
              <a:ext uri="{FF2B5EF4-FFF2-40B4-BE49-F238E27FC236}">
                <a16:creationId xmlns:a16="http://schemas.microsoft.com/office/drawing/2014/main" id="{2FCFEBBC-2F36-76E5-DB57-4E0EED8C4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1054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X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 baseline="30000">
                <a:latin typeface="Times New Roman" panose="02020603050405020304" pitchFamily="18" charset="0"/>
              </a:rPr>
              <a:t>*</a:t>
            </a:r>
            <a:r>
              <a:rPr lang="en-US" altLang="tr-TR" sz="2400">
                <a:latin typeface="Times New Roman" panose="02020603050405020304" pitchFamily="18" charset="0"/>
              </a:rPr>
              <a:t>=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 i="1">
                <a:latin typeface="Times New Roman" panose="02020603050405020304" pitchFamily="18" charset="0"/>
              </a:rPr>
              <a:t>w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endParaRPr lang="tr-TR" altLang="tr-TR" sz="2400" baseline="-25000">
              <a:latin typeface="Times New Roman" panose="02020603050405020304" pitchFamily="18" charset="0"/>
            </a:endParaRPr>
          </a:p>
        </p:txBody>
      </p:sp>
      <p:sp>
        <p:nvSpPr>
          <p:cNvPr id="13335" name="Text Box 23">
            <a:extLst>
              <a:ext uri="{FF2B5EF4-FFF2-40B4-BE49-F238E27FC236}">
                <a16:creationId xmlns:a16="http://schemas.microsoft.com/office/drawing/2014/main" id="{91FA4333-8EF0-D9D6-67E7-CCBBF10C3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8006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Ölçme Hatası Sapması</a:t>
            </a:r>
          </a:p>
        </p:txBody>
      </p:sp>
      <p:sp>
        <p:nvSpPr>
          <p:cNvPr id="13336" name="AutoShape 24">
            <a:extLst>
              <a:ext uri="{FF2B5EF4-FFF2-40B4-BE49-F238E27FC236}">
                <a16:creationId xmlns:a16="http://schemas.microsoft.com/office/drawing/2014/main" id="{B27D92DE-D623-12DA-87E1-1345DE466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275" y="4981575"/>
            <a:ext cx="9144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13337" name="AutoShape 25">
            <a:extLst>
              <a:ext uri="{FF2B5EF4-FFF2-40B4-BE49-F238E27FC236}">
                <a16:creationId xmlns:a16="http://schemas.microsoft.com/office/drawing/2014/main" id="{422F2AAE-E06E-CB76-D90F-C3A27CF975B9}"/>
              </a:ext>
            </a:extLst>
          </p:cNvPr>
          <p:cNvSpPr>
            <a:spLocks/>
          </p:cNvSpPr>
          <p:nvPr/>
        </p:nvSpPr>
        <p:spPr bwMode="auto">
          <a:xfrm>
            <a:off x="2590800" y="4572000"/>
            <a:ext cx="228600" cy="1066800"/>
          </a:xfrm>
          <a:prstGeom prst="righ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3338" name="Text Box 26">
            <a:extLst>
              <a:ext uri="{FF2B5EF4-FFF2-40B4-BE49-F238E27FC236}">
                <a16:creationId xmlns:a16="http://schemas.microsoft.com/office/drawing/2014/main" id="{BE450FE3-245C-B8D7-8BF9-0DE747156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066800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 =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4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30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+ u</a:t>
            </a:r>
          </a:p>
        </p:txBody>
      </p:sp>
      <p:sp>
        <p:nvSpPr>
          <p:cNvPr id="13339" name="Text Box 27">
            <a:extLst>
              <a:ext uri="{FF2B5EF4-FFF2-40B4-BE49-F238E27FC236}">
                <a16:creationId xmlns:a16="http://schemas.microsoft.com/office/drawing/2014/main" id="{D718F09B-0A7C-A481-D636-FD90E19DC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1600200"/>
            <a:ext cx="739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 = </a:t>
            </a:r>
            <a:r>
              <a:rPr lang="en-US" altLang="tr-TR" sz="2400">
                <a:latin typeface="Symbol" panose="05050102010706020507" pitchFamily="18" charset="2"/>
              </a:rPr>
              <a:t>a</a:t>
            </a:r>
            <a:r>
              <a:rPr lang="en-US" altLang="tr-TR" sz="2400" baseline="-25000">
                <a:latin typeface="Symbol" panose="05050102010706020507" pitchFamily="18" charset="2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a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 + </a:t>
            </a:r>
            <a:r>
              <a:rPr lang="en-US" altLang="tr-TR" sz="2400">
                <a:latin typeface="Symbol" panose="05050102010706020507" pitchFamily="18" charset="2"/>
              </a:rPr>
              <a:t>a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+ v</a:t>
            </a:r>
          </a:p>
        </p:txBody>
      </p:sp>
      <p:sp>
        <p:nvSpPr>
          <p:cNvPr id="13340" name="Text Box 28">
            <a:extLst>
              <a:ext uri="{FF2B5EF4-FFF2-40B4-BE49-F238E27FC236}">
                <a16:creationId xmlns:a16="http://schemas.microsoft.com/office/drawing/2014/main" id="{64770C61-B995-9D7B-C346-78BEE53FB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09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v = 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4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30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+ u</a:t>
            </a:r>
          </a:p>
        </p:txBody>
      </p:sp>
      <p:sp>
        <p:nvSpPr>
          <p:cNvPr id="13341" name="AutoShape 29">
            <a:extLst>
              <a:ext uri="{FF2B5EF4-FFF2-40B4-BE49-F238E27FC236}">
                <a16:creationId xmlns:a16="http://schemas.microsoft.com/office/drawing/2014/main" id="{8491CEF0-7B8A-AFF8-EBEA-04DE429F2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0" y="2362200"/>
            <a:ext cx="685800" cy="2286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13342" name="Text Box 30">
            <a:extLst>
              <a:ext uri="{FF2B5EF4-FFF2-40B4-BE49-F238E27FC236}">
                <a16:creationId xmlns:a16="http://schemas.microsoft.com/office/drawing/2014/main" id="{6AC74883-BF1A-A27F-900D-E528E7299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209800"/>
            <a:ext cx="502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Gerekli Değişkenin Gözardı Edilmesi,</a:t>
            </a:r>
          </a:p>
        </p:txBody>
      </p:sp>
      <p:sp>
        <p:nvSpPr>
          <p:cNvPr id="13343" name="Rectangle 31">
            <a:extLst>
              <a:ext uri="{FF2B5EF4-FFF2-40B4-BE49-F238E27FC236}">
                <a16:creationId xmlns:a16="http://schemas.microsoft.com/office/drawing/2014/main" id="{106AF7BB-C823-5251-87E2-DFAFD57EE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066800"/>
            <a:ext cx="78486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1" grpId="0" animBg="1"/>
      <p:bldP spid="13332" grpId="0" autoUpdateAnimBg="0"/>
      <p:bldP spid="13333" grpId="0" autoUpdateAnimBg="0"/>
      <p:bldP spid="13334" grpId="0" autoUpdateAnimBg="0"/>
      <p:bldP spid="13335" grpId="0" autoUpdateAnimBg="0"/>
      <p:bldP spid="13337" grpId="0" animBg="1"/>
      <p:bldP spid="13338" grpId="0" autoUpdateAnimBg="0"/>
      <p:bldP spid="13339" grpId="0" autoUpdateAnimBg="0"/>
      <p:bldP spid="13340" grpId="0" autoUpdateAnimBg="0"/>
      <p:bldP spid="13342" grpId="0" autoUpdateAnimBg="0"/>
      <p:bldP spid="133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3 Slayt Numarası Yer Tutucusu">
            <a:extLst>
              <a:ext uri="{FF2B5EF4-FFF2-40B4-BE49-F238E27FC236}">
                <a16:creationId xmlns:a16="http://schemas.microsoft.com/office/drawing/2014/main" id="{5620CB7F-D4FA-4AA1-B67B-C0542741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3050A8-880A-41C7-A425-53355BB4D0B2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tr-TR" altLang="tr-TR" sz="140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BF9951FE-36B5-A0C2-44DD-5DFE6BA4DE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2863"/>
            <a:ext cx="7772400" cy="762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600"/>
              <a:t>Tanımlama Hatası Sonuçları</a:t>
            </a:r>
            <a:endParaRPr lang="en-US" altLang="tr-TR" sz="3600"/>
          </a:p>
        </p:txBody>
      </p:sp>
      <p:sp>
        <p:nvSpPr>
          <p:cNvPr id="14351" name="Text Box 15">
            <a:extLst>
              <a:ext uri="{FF2B5EF4-FFF2-40B4-BE49-F238E27FC236}">
                <a16:creationId xmlns:a16="http://schemas.microsoft.com/office/drawing/2014/main" id="{446E52F9-0801-C59E-22AE-6F2D344B6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 dirty="0">
                <a:latin typeface="Times New Roman" panose="02020603050405020304" pitchFamily="18" charset="0"/>
              </a:rPr>
              <a:t>Y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i</a:t>
            </a:r>
            <a:r>
              <a:rPr lang="en-US" altLang="tr-TR" sz="2400" dirty="0">
                <a:latin typeface="Times New Roman" panose="02020603050405020304" pitchFamily="18" charset="0"/>
              </a:rPr>
              <a:t> = </a:t>
            </a:r>
            <a:r>
              <a:rPr lang="en-US" altLang="tr-TR" sz="2400" dirty="0">
                <a:latin typeface="Symbol" panose="05050102010706020507" pitchFamily="18" charset="2"/>
              </a:rPr>
              <a:t>b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tr-TR" sz="2400" dirty="0">
                <a:latin typeface="Times New Roman" panose="02020603050405020304" pitchFamily="18" charset="0"/>
              </a:rPr>
              <a:t> + </a:t>
            </a:r>
            <a:r>
              <a:rPr lang="en-US" altLang="tr-TR" sz="2400" dirty="0">
                <a:latin typeface="Symbol" panose="05050102010706020507" pitchFamily="18" charset="2"/>
              </a:rPr>
              <a:t>b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tr-TR" sz="2400" dirty="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2i</a:t>
            </a:r>
            <a:r>
              <a:rPr lang="en-US" altLang="tr-TR" sz="2400" dirty="0">
                <a:latin typeface="Times New Roman" panose="02020603050405020304" pitchFamily="18" charset="0"/>
              </a:rPr>
              <a:t> + </a:t>
            </a:r>
            <a:r>
              <a:rPr lang="en-US" altLang="tr-TR" sz="2400" dirty="0">
                <a:latin typeface="Symbol" panose="05050102010706020507" pitchFamily="18" charset="2"/>
              </a:rPr>
              <a:t>b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3</a:t>
            </a:r>
            <a:r>
              <a:rPr lang="en-US" altLang="tr-TR" sz="2400" dirty="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3i</a:t>
            </a:r>
            <a:r>
              <a:rPr lang="en-US" altLang="tr-TR" sz="2400" dirty="0">
                <a:latin typeface="Times New Roman" panose="02020603050405020304" pitchFamily="18" charset="0"/>
              </a:rPr>
              <a:t> + u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4352" name="Text Box 16">
            <a:extLst>
              <a:ext uri="{FF2B5EF4-FFF2-40B4-BE49-F238E27FC236}">
                <a16:creationId xmlns:a16="http://schemas.microsoft.com/office/drawing/2014/main" id="{A839C2ED-FACA-40A6-79ED-824CD646A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1981200"/>
            <a:ext cx="739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 = </a:t>
            </a:r>
            <a:r>
              <a:rPr lang="en-US" altLang="tr-TR" sz="2400">
                <a:latin typeface="Symbol" panose="05050102010706020507" pitchFamily="18" charset="2"/>
              </a:rPr>
              <a:t>a</a:t>
            </a:r>
            <a:r>
              <a:rPr lang="en-US" altLang="tr-TR" sz="2400" baseline="-25000">
                <a:latin typeface="Symbol" panose="05050102010706020507" pitchFamily="18" charset="2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a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2i</a:t>
            </a:r>
            <a:r>
              <a:rPr lang="en-US" altLang="tr-TR" sz="2400">
                <a:latin typeface="Times New Roman" panose="02020603050405020304" pitchFamily="18" charset="0"/>
              </a:rPr>
              <a:t>+ v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4353" name="Text Box 17">
            <a:extLst>
              <a:ext uri="{FF2B5EF4-FFF2-40B4-BE49-F238E27FC236}">
                <a16:creationId xmlns:a16="http://schemas.microsoft.com/office/drawing/2014/main" id="{B16BFA2F-6E5C-490D-6EEB-8CE503143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5908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v = 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3i</a:t>
            </a:r>
            <a:r>
              <a:rPr lang="en-US" altLang="tr-TR" sz="2400">
                <a:latin typeface="Times New Roman" panose="02020603050405020304" pitchFamily="18" charset="0"/>
              </a:rPr>
              <a:t> + u</a:t>
            </a:r>
          </a:p>
        </p:txBody>
      </p:sp>
      <p:sp>
        <p:nvSpPr>
          <p:cNvPr id="14355" name="Text Box 19">
            <a:extLst>
              <a:ext uri="{FF2B5EF4-FFF2-40B4-BE49-F238E27FC236}">
                <a16:creationId xmlns:a16="http://schemas.microsoft.com/office/drawing/2014/main" id="{E0A3B118-D573-596C-81C2-7399ACC00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854075"/>
            <a:ext cx="7023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 b="1" i="1" u="sng">
                <a:latin typeface="Times New Roman" panose="02020603050405020304" pitchFamily="18" charset="0"/>
              </a:rPr>
              <a:t>Gerekli Değişkenin Gözardı Edilmesi</a:t>
            </a:r>
          </a:p>
        </p:txBody>
      </p:sp>
      <p:sp>
        <p:nvSpPr>
          <p:cNvPr id="14356" name="Rectangle 20">
            <a:extLst>
              <a:ext uri="{FF2B5EF4-FFF2-40B4-BE49-F238E27FC236}">
                <a16:creationId xmlns:a16="http://schemas.microsoft.com/office/drawing/2014/main" id="{552A04DF-8A10-53F4-4A2C-7E7059B2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447800"/>
            <a:ext cx="73914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4357" name="Text Box 21">
            <a:extLst>
              <a:ext uri="{FF2B5EF4-FFF2-40B4-BE49-F238E27FC236}">
                <a16:creationId xmlns:a16="http://schemas.microsoft.com/office/drawing/2014/main" id="{330B3E36-8692-AB82-9097-00D2F176E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200400"/>
            <a:ext cx="579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 b="1" i="1" u="sng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tr-TR" sz="2400" b="1" i="1" u="sng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tr-TR" altLang="tr-TR" sz="2400" b="1" i="1" u="sng">
                <a:solidFill>
                  <a:schemeClr val="tx2"/>
                </a:solidFill>
                <a:latin typeface="Times New Roman" panose="02020603050405020304" pitchFamily="18" charset="0"/>
              </a:rPr>
              <a:t> Değişkenini gözardı etmenin sonuçları</a:t>
            </a:r>
            <a:endParaRPr lang="tr-TR" altLang="tr-TR" sz="2400" b="1" i="1" u="sng" baseline="-25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8" name="Text Box 22">
            <a:extLst>
              <a:ext uri="{FF2B5EF4-FFF2-40B4-BE49-F238E27FC236}">
                <a16:creationId xmlns:a16="http://schemas.microsoft.com/office/drawing/2014/main" id="{D2E5AC3E-601D-F946-DBAA-8BAEBDDF935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9" y="3881250"/>
            <a:ext cx="8104188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 dirty="0">
                <a:latin typeface="Times New Roman" panose="02020603050405020304" pitchFamily="18" charset="0"/>
              </a:rPr>
              <a:t> r</a:t>
            </a:r>
            <a:r>
              <a:rPr lang="tr-TR" altLang="tr-TR" sz="2400" baseline="-25000" dirty="0">
                <a:latin typeface="Times New Roman" panose="02020603050405020304" pitchFamily="18" charset="0"/>
              </a:rPr>
              <a:t>23</a:t>
            </a:r>
            <a:r>
              <a:rPr lang="tr-TR" altLang="tr-TR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tr-TR" altLang="tr-TR" sz="2400" dirty="0">
                <a:latin typeface="Times New Roman" panose="02020603050405020304" pitchFamily="18" charset="0"/>
              </a:rPr>
              <a:t>0 yani </a:t>
            </a:r>
            <a:r>
              <a:rPr lang="en-US" altLang="tr-TR" sz="2400" dirty="0">
                <a:latin typeface="Times New Roman" panose="02020603050405020304" pitchFamily="18" charset="0"/>
              </a:rPr>
              <a:t>X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</a:t>
            </a:r>
            <a:r>
              <a:rPr lang="tr-TR" altLang="tr-TR" sz="2400" dirty="0">
                <a:latin typeface="Times New Roman" panose="02020603050405020304" pitchFamily="18" charset="0"/>
              </a:rPr>
              <a:t> ve </a:t>
            </a:r>
            <a:r>
              <a:rPr lang="en-US" altLang="tr-TR" sz="2400" dirty="0">
                <a:latin typeface="Times New Roman" panose="02020603050405020304" pitchFamily="18" charset="0"/>
              </a:rPr>
              <a:t>X</a:t>
            </a:r>
            <a:r>
              <a:rPr lang="el-GR" altLang="tr-TR" sz="2400" baseline="-25000" dirty="0">
                <a:latin typeface="Times New Roman" panose="02020603050405020304" pitchFamily="18" charset="0"/>
              </a:rPr>
              <a:t>3</a:t>
            </a:r>
            <a:r>
              <a:rPr lang="tr-TR" altLang="tr-TR" sz="2400" baseline="-25000" dirty="0">
                <a:latin typeface="Times New Roman" panose="02020603050405020304" pitchFamily="18" charset="0"/>
              </a:rPr>
              <a:t> </a:t>
            </a:r>
            <a:r>
              <a:rPr lang="tr-TR" altLang="tr-TR" sz="2400" dirty="0">
                <a:latin typeface="Times New Roman" panose="02020603050405020304" pitchFamily="18" charset="0"/>
              </a:rPr>
              <a:t>  ilişkili ise </a:t>
            </a:r>
            <a:r>
              <a:rPr lang="en-US" altLang="tr-TR" sz="2400" dirty="0">
                <a:latin typeface="Symbol" panose="05050102010706020507" pitchFamily="18" charset="2"/>
              </a:rPr>
              <a:t>a</a:t>
            </a:r>
            <a:r>
              <a:rPr lang="en-US" altLang="tr-TR" sz="2400" baseline="-25000" dirty="0">
                <a:latin typeface="Symbol" panose="05050102010706020507" pitchFamily="18" charset="2"/>
              </a:rPr>
              <a:t>1</a:t>
            </a:r>
            <a:r>
              <a:rPr lang="en-US" altLang="tr-TR" sz="2400" dirty="0">
                <a:latin typeface="Times New Roman" panose="02020603050405020304" pitchFamily="18" charset="0"/>
              </a:rPr>
              <a:t> </a:t>
            </a:r>
            <a:r>
              <a:rPr lang="tr-TR" altLang="tr-TR" sz="2400" dirty="0">
                <a:latin typeface="Times New Roman" panose="02020603050405020304" pitchFamily="18" charset="0"/>
              </a:rPr>
              <a:t>ve</a:t>
            </a:r>
            <a:r>
              <a:rPr lang="en-US" altLang="tr-TR" sz="2400" dirty="0">
                <a:latin typeface="Times New Roman" panose="02020603050405020304" pitchFamily="18" charset="0"/>
              </a:rPr>
              <a:t>  </a:t>
            </a:r>
            <a:r>
              <a:rPr lang="en-US" altLang="tr-TR" sz="2400" dirty="0">
                <a:latin typeface="Symbol" panose="05050102010706020507" pitchFamily="18" charset="2"/>
              </a:rPr>
              <a:t>a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</a:t>
            </a:r>
            <a:r>
              <a:rPr lang="tr-TR" altLang="tr-TR" sz="2400" baseline="-25000" dirty="0">
                <a:latin typeface="Times New Roman" panose="02020603050405020304" pitchFamily="18" charset="0"/>
              </a:rPr>
              <a:t> </a:t>
            </a:r>
            <a:r>
              <a:rPr lang="tr-TR" altLang="tr-TR" sz="2400" dirty="0">
                <a:latin typeface="Times New Roman" panose="02020603050405020304" pitchFamily="18" charset="0"/>
              </a:rPr>
              <a:t>sapmalı ve tutarsız olacaktır. E(</a:t>
            </a:r>
            <a:r>
              <a:rPr lang="en-US" altLang="tr-TR" sz="2400" dirty="0">
                <a:latin typeface="Symbol" panose="05050102010706020507" pitchFamily="18" charset="2"/>
              </a:rPr>
              <a:t>a</a:t>
            </a:r>
            <a:r>
              <a:rPr lang="en-US" altLang="tr-TR" sz="2400" baseline="-25000" dirty="0">
                <a:latin typeface="Symbol" panose="05050102010706020507" pitchFamily="18" charset="2"/>
              </a:rPr>
              <a:t>1</a:t>
            </a:r>
            <a:r>
              <a:rPr lang="tr-TR" altLang="tr-TR" sz="2400" dirty="0">
                <a:latin typeface="Symbol" panose="05050102010706020507" pitchFamily="18" charset="2"/>
              </a:rPr>
              <a:t>)</a:t>
            </a:r>
            <a:r>
              <a:rPr lang="tr-TR" altLang="tr-TR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lang="en-US" altLang="tr-TR" sz="2400" dirty="0">
                <a:latin typeface="Symbol" panose="05050102010706020507" pitchFamily="18" charset="2"/>
              </a:rPr>
              <a:t>b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1</a:t>
            </a:r>
            <a:r>
              <a:rPr lang="en-TR" altLang="tr-TR" sz="2400" dirty="0">
                <a:latin typeface="Times New Roman" panose="02020603050405020304" pitchFamily="18" charset="0"/>
              </a:rPr>
              <a:t>, </a:t>
            </a:r>
            <a:r>
              <a:rPr lang="tr-TR" altLang="tr-TR" sz="2400" dirty="0">
                <a:latin typeface="Times New Roman" panose="02020603050405020304" pitchFamily="18" charset="0"/>
              </a:rPr>
              <a:t>E(</a:t>
            </a:r>
            <a:r>
              <a:rPr lang="en-US" altLang="tr-TR" sz="2400" dirty="0">
                <a:latin typeface="Symbol" panose="05050102010706020507" pitchFamily="18" charset="2"/>
              </a:rPr>
              <a:t>a</a:t>
            </a:r>
            <a:r>
              <a:rPr lang="en-TR" altLang="tr-TR" sz="2400" baseline="-25000" dirty="0">
                <a:latin typeface="Symbol" panose="05050102010706020507" pitchFamily="18" charset="2"/>
              </a:rPr>
              <a:t>2</a:t>
            </a:r>
            <a:r>
              <a:rPr lang="tr-TR" altLang="tr-TR" sz="2400" dirty="0">
                <a:latin typeface="Symbol" panose="05050102010706020507" pitchFamily="18" charset="2"/>
              </a:rPr>
              <a:t>)</a:t>
            </a:r>
            <a:r>
              <a:rPr lang="tr-TR" altLang="tr-TR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lang="en-US" altLang="tr-TR" sz="2400" dirty="0">
                <a:latin typeface="Symbol" panose="05050102010706020507" pitchFamily="18" charset="2"/>
              </a:rPr>
              <a:t>b</a:t>
            </a:r>
            <a:r>
              <a:rPr lang="en-TR" altLang="tr-TR" sz="2400" baseline="-25000" dirty="0">
                <a:latin typeface="Times New Roman" panose="02020603050405020304" pitchFamily="18" charset="0"/>
              </a:rPr>
              <a:t>2 </a:t>
            </a:r>
            <a:r>
              <a:rPr lang="en-TR" altLang="tr-TR" sz="2400" dirty="0">
                <a:latin typeface="Times New Roman" panose="02020603050405020304" pitchFamily="18" charset="0"/>
              </a:rPr>
              <a:t>ve b</a:t>
            </a:r>
            <a:r>
              <a:rPr lang="tr-TR" altLang="tr-TR" sz="2400" dirty="0" err="1">
                <a:latin typeface="Times New Roman" panose="02020603050405020304" pitchFamily="18" charset="0"/>
              </a:rPr>
              <a:t>üyük</a:t>
            </a:r>
            <a:r>
              <a:rPr lang="tr-TR" altLang="tr-TR" sz="2400" dirty="0">
                <a:latin typeface="Times New Roman" panose="02020603050405020304" pitchFamily="18" charset="0"/>
              </a:rPr>
              <a:t> örnek dahi olsa bu sapma ortadan kalkmaz. </a:t>
            </a:r>
            <a:endParaRPr lang="en-US" altLang="tr-TR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Times New Roman" panose="02020603050405020304" pitchFamily="18" charset="0"/>
              <a:buAutoNum type="arabicPeriod" startAt="2"/>
            </a:pPr>
            <a:r>
              <a:rPr lang="tr-TR" altLang="tr-TR" sz="2400" dirty="0">
                <a:latin typeface="Times New Roman" panose="02020603050405020304" pitchFamily="18" charset="0"/>
              </a:rPr>
              <a:t>r</a:t>
            </a:r>
            <a:r>
              <a:rPr lang="tr-TR" altLang="tr-TR" sz="2400" baseline="-25000" dirty="0">
                <a:latin typeface="Times New Roman" panose="02020603050405020304" pitchFamily="18" charset="0"/>
              </a:rPr>
              <a:t>23</a:t>
            </a:r>
            <a:r>
              <a:rPr lang="tr-TR" altLang="tr-TR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tr-TR" altLang="tr-TR" sz="2400" dirty="0">
                <a:latin typeface="Times New Roman" panose="02020603050405020304" pitchFamily="18" charset="0"/>
              </a:rPr>
              <a:t>0, yani </a:t>
            </a:r>
            <a:r>
              <a:rPr lang="en-US" altLang="tr-TR" sz="2400" dirty="0">
                <a:latin typeface="Times New Roman" panose="02020603050405020304" pitchFamily="18" charset="0"/>
              </a:rPr>
              <a:t>X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</a:t>
            </a:r>
            <a:r>
              <a:rPr lang="tr-TR" altLang="tr-TR" sz="2400" dirty="0">
                <a:latin typeface="Times New Roman" panose="02020603050405020304" pitchFamily="18" charset="0"/>
              </a:rPr>
              <a:t> ve </a:t>
            </a:r>
            <a:r>
              <a:rPr lang="en-US" altLang="tr-TR" sz="2400" dirty="0">
                <a:latin typeface="Times New Roman" panose="02020603050405020304" pitchFamily="18" charset="0"/>
              </a:rPr>
              <a:t>X</a:t>
            </a:r>
            <a:r>
              <a:rPr lang="el-GR" altLang="tr-TR" sz="2400" baseline="-25000" dirty="0">
                <a:latin typeface="Times New Roman" panose="02020603050405020304" pitchFamily="18" charset="0"/>
              </a:rPr>
              <a:t>3</a:t>
            </a:r>
            <a:r>
              <a:rPr lang="tr-TR" altLang="tr-TR" sz="2400" baseline="-25000" dirty="0">
                <a:latin typeface="Times New Roman" panose="02020603050405020304" pitchFamily="18" charset="0"/>
              </a:rPr>
              <a:t> </a:t>
            </a:r>
            <a:r>
              <a:rPr lang="tr-TR" altLang="tr-TR" sz="2400" dirty="0">
                <a:latin typeface="Times New Roman" panose="02020603050405020304" pitchFamily="18" charset="0"/>
              </a:rPr>
              <a:t>  ilişkisiz ise </a:t>
            </a:r>
            <a:r>
              <a:rPr lang="en-US" altLang="tr-TR" sz="2400" dirty="0">
                <a:latin typeface="Symbol" panose="05050102010706020507" pitchFamily="18" charset="2"/>
              </a:rPr>
              <a:t>a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</a:t>
            </a:r>
            <a:r>
              <a:rPr lang="tr-TR" altLang="tr-TR" sz="2400" dirty="0">
                <a:latin typeface="Times New Roman" panose="02020603050405020304" pitchFamily="18" charset="0"/>
              </a:rPr>
              <a:t>  sapmasız iken </a:t>
            </a:r>
            <a:r>
              <a:rPr lang="tr-TR" altLang="tr-TR" sz="2400" dirty="0">
                <a:latin typeface="Symbol" panose="05050102010706020507" pitchFamily="18" charset="2"/>
              </a:rPr>
              <a:t>a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1</a:t>
            </a:r>
            <a:r>
              <a:rPr lang="tr-TR" altLang="tr-TR" sz="2400" dirty="0">
                <a:latin typeface="Times New Roman" panose="02020603050405020304" pitchFamily="18" charset="0"/>
              </a:rPr>
              <a:t> hala sapmalı olacaktır.</a:t>
            </a:r>
            <a:r>
              <a:rPr lang="tr-TR" altLang="tr-TR" sz="1800" dirty="0"/>
              <a:t> </a:t>
            </a:r>
            <a:r>
              <a:rPr lang="tr-TR" altLang="tr-TR" sz="2400" dirty="0">
                <a:latin typeface="Symbol" panose="05050102010706020507" pitchFamily="18" charset="2"/>
              </a:rPr>
              <a:t>	</a:t>
            </a:r>
            <a:endParaRPr lang="en-US" altLang="tr-TR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Times New Roman" panose="02020603050405020304" pitchFamily="18" charset="0"/>
              <a:buAutoNum type="arabicPeriod" startAt="3"/>
            </a:pPr>
            <a:r>
              <a:rPr lang="tr-TR" altLang="tr-TR" sz="2400" dirty="0">
                <a:latin typeface="Times New Roman" panose="02020603050405020304" pitchFamily="18" charset="0"/>
              </a:rPr>
              <a:t>Hata </a:t>
            </a:r>
            <a:r>
              <a:rPr lang="tr-TR" altLang="tr-TR" sz="2400" dirty="0" err="1">
                <a:latin typeface="Times New Roman" panose="02020603050405020304" pitchFamily="18" charset="0"/>
              </a:rPr>
              <a:t>varyansına</a:t>
            </a:r>
            <a:r>
              <a:rPr lang="tr-TR" altLang="tr-TR" sz="2400" dirty="0">
                <a:latin typeface="Times New Roman" panose="02020603050405020304" pitchFamily="18" charset="0"/>
              </a:rPr>
              <a:t> etkisi</a:t>
            </a:r>
            <a:r>
              <a:rPr lang="en-US" altLang="tr-TR" sz="2400" dirty="0">
                <a:latin typeface="Times New Roman" panose="02020603050405020304" pitchFamily="18" charset="0"/>
              </a:rPr>
              <a:t> </a:t>
            </a:r>
            <a:r>
              <a:rPr lang="en-US" altLang="tr-TR" sz="2400" dirty="0">
                <a:latin typeface="Symbol" panose="05050102010706020507" pitchFamily="18" charset="2"/>
              </a:rPr>
              <a:t>s</a:t>
            </a:r>
            <a:r>
              <a:rPr lang="en-US" altLang="tr-TR" sz="2400" baseline="30000" dirty="0">
                <a:latin typeface="Times New Roman" panose="02020603050405020304" pitchFamily="18" charset="0"/>
              </a:rPr>
              <a:t>2</a:t>
            </a:r>
            <a:r>
              <a:rPr lang="en-US" altLang="tr-TR" sz="2400" dirty="0">
                <a:latin typeface="Times New Roman" panose="02020603050405020304" pitchFamily="18" charset="0"/>
              </a:rPr>
              <a:t>,</a:t>
            </a:r>
            <a:r>
              <a:rPr lang="tr-TR" altLang="tr-TR" sz="2400" dirty="0">
                <a:latin typeface="Times New Roman" panose="02020603050405020304" pitchFamily="18" charset="0"/>
              </a:rPr>
              <a:t> yanlış tahmin edilir.</a:t>
            </a:r>
            <a:endParaRPr lang="en-US" altLang="tr-TR" sz="2400" dirty="0">
              <a:latin typeface="Times New Roman" panose="02020603050405020304" pitchFamily="18" charset="0"/>
            </a:endParaRPr>
          </a:p>
        </p:txBody>
      </p:sp>
      <p:sp>
        <p:nvSpPr>
          <p:cNvPr id="14359" name="Rectangle 23">
            <a:extLst>
              <a:ext uri="{FF2B5EF4-FFF2-40B4-BE49-F238E27FC236}">
                <a16:creationId xmlns:a16="http://schemas.microsoft.com/office/drawing/2014/main" id="{48036584-B2B2-FD4D-E56F-4C2F555E3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16338"/>
            <a:ext cx="8351837" cy="3141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F9861DB-3802-39B5-9B02-0A08C2EE33F8}"/>
                  </a:ext>
                </a:extLst>
              </p14:cNvPr>
              <p14:cNvContentPartPr/>
              <p14:nvPr/>
            </p14:nvContentPartPr>
            <p14:xfrm>
              <a:off x="1903949" y="-1251550"/>
              <a:ext cx="2880" cy="12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F9861DB-3802-39B5-9B02-0A08C2EE33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3509" y="-1262350"/>
                <a:ext cx="24120" cy="33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3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3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nimBg="1" autoUpdateAnimBg="0"/>
      <p:bldP spid="14351" grpId="0" autoUpdateAnimBg="0"/>
      <p:bldP spid="14352" grpId="0" autoUpdateAnimBg="0"/>
      <p:bldP spid="14353" grpId="0" autoUpdateAnimBg="0"/>
      <p:bldP spid="14355" grpId="0" autoUpdateAnimBg="0"/>
      <p:bldP spid="14356" grpId="0" animBg="1"/>
      <p:bldP spid="14357" grpId="0" autoUpdateAnimBg="0"/>
      <p:bldP spid="14358" grpId="0" build="p" autoUpdateAnimBg="0"/>
      <p:bldP spid="1435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3 Slayt Numarası Yer Tutucusu">
            <a:extLst>
              <a:ext uri="{FF2B5EF4-FFF2-40B4-BE49-F238E27FC236}">
                <a16:creationId xmlns:a16="http://schemas.microsoft.com/office/drawing/2014/main" id="{C5CBE78B-9AA1-1AB7-73B2-AAACAC2A7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3CDCD8-F49E-4574-80E7-A25B6F08392E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tr-TR" altLang="tr-TR" sz="14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EE6EF71-8514-DDD9-BA88-4055FDE0B11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762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600"/>
              <a:t>Tanımlama Hatası Sonuçları</a:t>
            </a:r>
            <a:endParaRPr lang="en-US" altLang="tr-TR" sz="3600"/>
          </a:p>
        </p:txBody>
      </p:sp>
      <p:sp>
        <p:nvSpPr>
          <p:cNvPr id="5" name="Text Box 19">
            <a:extLst>
              <a:ext uri="{FF2B5EF4-FFF2-40B4-BE49-F238E27FC236}">
                <a16:creationId xmlns:a16="http://schemas.microsoft.com/office/drawing/2014/main" id="{95C550F8-7E7D-B2C1-9755-CDC2A4F02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857250"/>
            <a:ext cx="579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 b="1" i="1" u="sng">
                <a:latin typeface="Times New Roman" panose="02020603050405020304" pitchFamily="18" charset="0"/>
              </a:rPr>
              <a:t>Gerekli Değişkenin Gözardı Edilmesi</a:t>
            </a: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165ACE10-EF94-8832-6650-683A4FD13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447800"/>
            <a:ext cx="73914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415F6E1B-CD76-1C7F-BAC3-53DA821F3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200400"/>
            <a:ext cx="6996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 b="1" i="1" u="sng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tr-TR" sz="2400" b="1" i="1" u="sng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tr-TR" altLang="tr-TR" sz="2400" b="1" i="1" u="sng">
                <a:solidFill>
                  <a:schemeClr val="tx2"/>
                </a:solidFill>
                <a:latin typeface="Times New Roman" panose="02020603050405020304" pitchFamily="18" charset="0"/>
              </a:rPr>
              <a:t> Değişkenini gözardı etmenin sonuçları</a:t>
            </a:r>
            <a:endParaRPr lang="tr-TR" altLang="tr-TR" sz="2400" b="1" i="1" u="sng" baseline="-25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2">
                <a:extLst>
                  <a:ext uri="{FF2B5EF4-FFF2-40B4-BE49-F238E27FC236}">
                    <a16:creationId xmlns:a16="http://schemas.microsoft.com/office/drawing/2014/main" id="{B6806236-8EC0-B6AD-B947-96C1862C81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188" y="4162425"/>
                <a:ext cx="8572500" cy="19389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Times New Roman" panose="02020603050405020304" pitchFamily="18" charset="0"/>
                  <a:buAutoNum type="arabicPeriod" startAt="4"/>
                </a:pPr>
                <a:r>
                  <a:rPr lang="en-US" altLang="tr-TR" sz="2400" dirty="0">
                    <a:latin typeface="Symbol" panose="05050102010706020507" pitchFamily="18" charset="2"/>
                  </a:rPr>
                  <a:t>a</a:t>
                </a:r>
                <a:r>
                  <a:rPr lang="en-US" altLang="tr-TR" sz="2400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tr-TR" altLang="tr-TR" sz="2400" dirty="0">
                    <a:latin typeface="Times New Roman" panose="02020603050405020304" pitchFamily="18" charset="0"/>
                  </a:rPr>
                  <a:t>’nin </a:t>
                </a:r>
                <a:r>
                  <a:rPr lang="tr-TR" altLang="tr-TR" sz="2400" dirty="0" err="1">
                    <a:latin typeface="Times New Roman" panose="02020603050405020304" pitchFamily="18" charset="0"/>
                  </a:rPr>
                  <a:t>varyansına</a:t>
                </a:r>
                <a:r>
                  <a:rPr lang="tr-TR" altLang="tr-TR" sz="2400" dirty="0">
                    <a:latin typeface="Times New Roman" panose="02020603050405020304" pitchFamily="18" charset="0"/>
                  </a:rPr>
                  <a:t> etkisi, </a:t>
                </a:r>
                <a:r>
                  <a:rPr lang="en-US" altLang="tr-TR" sz="2400" dirty="0">
                    <a:latin typeface="Symbol" panose="05050102010706020507" pitchFamily="18" charset="2"/>
                  </a:rPr>
                  <a:t>a</a:t>
                </a:r>
                <a:r>
                  <a:rPr lang="en-US" altLang="tr-TR" sz="2400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tr-TR" altLang="tr-TR" sz="2400" baseline="-25000" dirty="0">
                    <a:latin typeface="Times New Roman" panose="02020603050405020304" pitchFamily="18" charset="0"/>
                  </a:rPr>
                  <a:t> </a:t>
                </a:r>
                <a:r>
                  <a:rPr lang="tr-TR" altLang="tr-TR" sz="2400" dirty="0" err="1">
                    <a:latin typeface="Times New Roman" panose="02020603050405020304" pitchFamily="18" charset="0"/>
                  </a:rPr>
                  <a:t>nin</a:t>
                </a:r>
                <a:r>
                  <a:rPr lang="tr-TR" altLang="tr-TR" sz="2400" dirty="0">
                    <a:latin typeface="Times New Roman" panose="02020603050405020304" pitchFamily="18" charset="0"/>
                  </a:rPr>
                  <a:t> </a:t>
                </a:r>
                <a:r>
                  <a:rPr lang="tr-TR" altLang="tr-TR" sz="2400" dirty="0" err="1">
                    <a:latin typeface="Times New Roman" panose="02020603050405020304" pitchFamily="18" charset="0"/>
                  </a:rPr>
                  <a:t>varyansı</a:t>
                </a:r>
                <a:r>
                  <a:rPr lang="tr-TR" altLang="tr-TR" sz="2400" dirty="0">
                    <a:latin typeface="Times New Roman" panose="02020603050405020304" pitchFamily="18" charset="0"/>
                  </a:rPr>
                  <a:t> </a:t>
                </a:r>
                <a:r>
                  <a:rPr lang="tr-TR" altLang="tr-TR" sz="2400" dirty="0">
                    <a:latin typeface="Symbol" panose="05050102010706020507" pitchFamily="18" charset="2"/>
                    <a:sym typeface="Symbol" panose="05050102010706020507" pitchFamily="18" charset="2"/>
                  </a:rPr>
                  <a:t></a:t>
                </a:r>
                <a:r>
                  <a:rPr lang="tr-TR" altLang="tr-TR" sz="2400" baseline="-25000" dirty="0" err="1">
                    <a:latin typeface="Times New Roman" panose="02020603050405020304" pitchFamily="18" charset="0"/>
                  </a:rPr>
                  <a:t>2</a:t>
                </a:r>
                <a:r>
                  <a:rPr lang="tr-TR" altLang="tr-TR" sz="2400" dirty="0" err="1">
                    <a:latin typeface="Times New Roman" panose="02020603050405020304" pitchFamily="18" charset="0"/>
                  </a:rPr>
                  <a:t>’nin</a:t>
                </a:r>
                <a:r>
                  <a:rPr lang="tr-TR" altLang="tr-TR" sz="2400" dirty="0">
                    <a:latin typeface="Times New Roman" panose="02020603050405020304" pitchFamily="18" charset="0"/>
                  </a:rPr>
                  <a:t> </a:t>
                </a:r>
                <a:r>
                  <a:rPr lang="tr-TR" altLang="tr-TR" sz="2400" dirty="0" err="1">
                    <a:latin typeface="Times New Roman" panose="02020603050405020304" pitchFamily="18" charset="0"/>
                  </a:rPr>
                  <a:t>varyansının</a:t>
                </a:r>
                <a:r>
                  <a:rPr lang="tr-TR" altLang="tr-TR" sz="2400" dirty="0">
                    <a:latin typeface="Times New Roman" panose="02020603050405020304" pitchFamily="18" charset="0"/>
                  </a:rPr>
                  <a:t> sapmalı bir tahmin edicisidir.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Var</m:t>
                    </m:r>
                    <m:d>
                      <m:dPr>
                        <m:ctrlPr>
                          <a:rPr lang="en-TR" sz="14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TR" sz="1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TR" sz="14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TR" sz="14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TR" sz="1400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  <m:sSubSup>
                      <m:sSubSupPr>
                        <m:ctrlPr>
                          <a:rPr lang="en-TR" sz="14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TR" sz="1400">
                    <a:effectLst/>
                  </a:rPr>
                  <a:t> </a:t>
                </a:r>
                <a:endParaRPr lang="en-US" altLang="tr-TR" sz="2400" dirty="0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Font typeface="Times New Roman" panose="02020603050405020304" pitchFamily="18" charset="0"/>
                  <a:buAutoNum type="arabicPeriod" startAt="5"/>
                </a:pPr>
                <a:r>
                  <a:rPr lang="tr-TR" altLang="tr-TR" sz="2400" dirty="0">
                    <a:latin typeface="Times New Roman" panose="02020603050405020304" pitchFamily="18" charset="0"/>
                  </a:rPr>
                  <a:t>Güven aralıkları ve hipotez testleri yanıltıcıdır: σ² ve Var(α₂) sapmalı tahmin edildiğinden anlamlılık hakkında yanlış karar verilebilir; öngörüler de güvenilmez olur.</a:t>
                </a: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tr-TR" altLang="tr-TR" sz="24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 Box 22">
                <a:extLst>
                  <a:ext uri="{FF2B5EF4-FFF2-40B4-BE49-F238E27FC236}">
                    <a16:creationId xmlns:a16="http://schemas.microsoft.com/office/drawing/2014/main" id="{B6806236-8EC0-B6AD-B947-96C1862C8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188" y="4162425"/>
                <a:ext cx="8572500" cy="1938992"/>
              </a:xfrm>
              <a:prstGeom prst="rect">
                <a:avLst/>
              </a:prstGeom>
              <a:blipFill>
                <a:blip r:embed="rId3"/>
                <a:stretch>
                  <a:fillRect l="-1183" t="-25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3">
            <a:extLst>
              <a:ext uri="{FF2B5EF4-FFF2-40B4-BE49-F238E27FC236}">
                <a16:creationId xmlns:a16="http://schemas.microsoft.com/office/drawing/2014/main" id="{55431227-E693-5337-1799-DAA1F5798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33825"/>
            <a:ext cx="8929688" cy="2571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D04AB4A0-8F84-4E95-F702-BF039ADDF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 =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2i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3i</a:t>
            </a:r>
            <a:r>
              <a:rPr lang="en-US" altLang="tr-TR" sz="2400">
                <a:latin typeface="Times New Roman" panose="02020603050405020304" pitchFamily="18" charset="0"/>
              </a:rPr>
              <a:t> + u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7617BF1A-F124-FF4D-EF9B-89500D44F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1981200"/>
            <a:ext cx="739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 = </a:t>
            </a:r>
            <a:r>
              <a:rPr lang="en-US" altLang="tr-TR" sz="2400">
                <a:latin typeface="Symbol" panose="05050102010706020507" pitchFamily="18" charset="2"/>
              </a:rPr>
              <a:t>a</a:t>
            </a:r>
            <a:r>
              <a:rPr lang="en-US" altLang="tr-TR" sz="2400" baseline="-25000">
                <a:latin typeface="Symbol" panose="05050102010706020507" pitchFamily="18" charset="2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a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2i</a:t>
            </a:r>
            <a:r>
              <a:rPr lang="en-US" altLang="tr-TR" sz="2400">
                <a:latin typeface="Times New Roman" panose="02020603050405020304" pitchFamily="18" charset="0"/>
              </a:rPr>
              <a:t>+ v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F2D5480E-2BB9-8678-A086-6109E0EF5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5908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v = 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3i</a:t>
            </a:r>
            <a:r>
              <a:rPr lang="en-US" altLang="tr-TR" sz="2400">
                <a:latin typeface="Times New Roman" panose="02020603050405020304" pitchFamily="18" charset="0"/>
              </a:rPr>
              <a:t> + 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utoUpdateAnimBg="0"/>
      <p:bldP spid="6" grpId="0" animBg="1"/>
      <p:bldP spid="7" grpId="0" autoUpdateAnimBg="0"/>
      <p:bldP spid="8" grpId="0" build="p" autoUpdateAnimBg="0"/>
      <p:bldP spid="9" grpId="0" animBg="1"/>
      <p:bldP spid="10" grpId="0" autoUpdateAnimBg="0"/>
      <p:bldP spid="11" grpId="0" autoUpdateAnimBg="0"/>
      <p:bldP spid="1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3 Slayt Numarası Yer Tutucusu">
            <a:extLst>
              <a:ext uri="{FF2B5EF4-FFF2-40B4-BE49-F238E27FC236}">
                <a16:creationId xmlns:a16="http://schemas.microsoft.com/office/drawing/2014/main" id="{E91D192F-502A-D078-DE01-22D794AD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201E85-457B-4826-8ECC-59308A4ABBF3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tr-TR" altLang="tr-TR" sz="1400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468C1575-AB80-E13E-2B93-AAE8840EC7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2863"/>
            <a:ext cx="7772400" cy="762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600" b="1"/>
              <a:t>Tanımlama Hatası Sonuçları</a:t>
            </a:r>
            <a:endParaRPr lang="en-US" altLang="tr-TR" sz="3600" b="1"/>
          </a:p>
        </p:txBody>
      </p:sp>
      <p:sp>
        <p:nvSpPr>
          <p:cNvPr id="15366" name="Text Box 6">
            <a:extLst>
              <a:ext uri="{FF2B5EF4-FFF2-40B4-BE49-F238E27FC236}">
                <a16:creationId xmlns:a16="http://schemas.microsoft.com/office/drawing/2014/main" id="{D9F34BD3-9404-7486-72C6-CB0755612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579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 b="1" i="1" u="sng">
                <a:latin typeface="Times New Roman" panose="02020603050405020304" pitchFamily="18" charset="0"/>
              </a:rPr>
              <a:t>Gereksiz Değişkenin Modelde Yer Alması</a:t>
            </a:r>
            <a:r>
              <a:rPr lang="en-US" altLang="tr-TR" sz="2400" b="1" i="1" u="sng">
                <a:latin typeface="Times New Roman" panose="02020603050405020304" pitchFamily="18" charset="0"/>
              </a:rPr>
              <a:t>, </a:t>
            </a:r>
            <a:endParaRPr lang="tr-TR" altLang="tr-TR" sz="2400" b="1" i="1" u="sng">
              <a:latin typeface="Times New Roman" panose="02020603050405020304" pitchFamily="18" charset="0"/>
            </a:endParaRPr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C193EA19-2C6D-EA1F-3F0D-828C7C0E3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447800"/>
            <a:ext cx="73914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5368" name="Text Box 8">
            <a:extLst>
              <a:ext uri="{FF2B5EF4-FFF2-40B4-BE49-F238E27FC236}">
                <a16:creationId xmlns:a16="http://schemas.microsoft.com/office/drawing/2014/main" id="{6A1144E7-F65E-E8B3-C25D-53E25C949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124200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 b="1" i="1" u="sng">
                <a:latin typeface="Times New Roman" panose="02020603050405020304" pitchFamily="18" charset="0"/>
              </a:rPr>
              <a:t>Gereksiz Değişkenin Modelde Yer Almasının Sonuçları</a:t>
            </a:r>
          </a:p>
        </p:txBody>
      </p:sp>
      <p:sp>
        <p:nvSpPr>
          <p:cNvPr id="15369" name="Text Box 9">
            <a:extLst>
              <a:ext uri="{FF2B5EF4-FFF2-40B4-BE49-F238E27FC236}">
                <a16:creationId xmlns:a16="http://schemas.microsoft.com/office/drawing/2014/main" id="{DC9F6858-EC7E-B9F9-703F-982075A10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657600"/>
            <a:ext cx="792480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Bu tür modeldeki EKK tahmincileri tutarlı ve sapmasızdır.</a:t>
            </a:r>
            <a:endParaRPr lang="en-US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Hata varyansı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en-US" altLang="tr-TR" sz="2400">
                <a:latin typeface="Symbol" panose="05050102010706020507" pitchFamily="18" charset="2"/>
              </a:rPr>
              <a:t>s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</a:rPr>
              <a:t>doğru tahmin edilmiştir.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endParaRPr lang="tr-TR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Güven aralıkları ve hipotez testleri hala geçerlidir</a:t>
            </a:r>
            <a:r>
              <a:rPr lang="en-US" altLang="tr-TR" sz="2400"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Tahmini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en-US" altLang="tr-TR" sz="2400">
                <a:latin typeface="Symbol" panose="05050102010706020507" pitchFamily="18" charset="2"/>
              </a:rPr>
              <a:t>a</a:t>
            </a:r>
            <a:r>
              <a:rPr lang="en-US" altLang="tr-TR" sz="2400">
                <a:latin typeface="Times New Roman" panose="02020603050405020304" pitchFamily="18" charset="0"/>
              </a:rPr>
              <a:t>’</a:t>
            </a:r>
            <a:r>
              <a:rPr lang="tr-TR" altLang="tr-TR" sz="2400">
                <a:latin typeface="Times New Roman" panose="02020603050405020304" pitchFamily="18" charset="0"/>
              </a:rPr>
              <a:t>lar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</a:rPr>
              <a:t>etkin değildirler</a:t>
            </a:r>
            <a:r>
              <a:rPr lang="en-US" altLang="tr-TR" sz="2400">
                <a:latin typeface="Times New Roman" panose="02020603050405020304" pitchFamily="18" charset="0"/>
              </a:rPr>
              <a:t>.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5370" name="Rectangle 10">
            <a:extLst>
              <a:ext uri="{FF2B5EF4-FFF2-40B4-BE49-F238E27FC236}">
                <a16:creationId xmlns:a16="http://schemas.microsoft.com/office/drawing/2014/main" id="{0E5D107A-05CB-6BB0-04EA-8B5A337A1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657600"/>
            <a:ext cx="8534400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Denklem"/>
              <p:cNvSpPr txBox="1"/>
              <p:nvPr/>
            </p:nvSpPr>
            <p:spPr>
              <a:xfrm>
                <a:off x="685800" y="1508760"/>
                <a:ext cx="2277953" cy="32004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20483" name="Picture 20482" descr="eq0001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5800" y="1508760"/>
                <a:ext cx="2109216" cy="30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4" name="Denklem"/>
              <p:cNvSpPr txBox="1"/>
              <p:nvPr/>
            </p:nvSpPr>
            <p:spPr>
              <a:xfrm>
                <a:off x="685800" y="2011680"/>
                <a:ext cx="3232586" cy="32004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α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α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α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3</m:t>
                          </m:r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20484" name="Picture 20483" descr="eq0002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5800" y="2011680"/>
                <a:ext cx="2993136" cy="30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5" name="Denklem"/>
              <p:cNvSpPr txBox="1"/>
              <p:nvPr/>
            </p:nvSpPr>
            <p:spPr>
              <a:xfrm>
                <a:off x="685800" y="2542032"/>
                <a:ext cx="2106777" cy="32004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a:rPr lang="en-US" sz="2200"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r>
                        <a:rPr lang="en-US" sz="2200"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20485" name="Picture 20484" descr="eq0003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5800" y="2542032"/>
                <a:ext cx="1950720" cy="304800"/>
              </a:xfrm>
              <a:prstGeom prst="rect">
                <a:avLst/>
              </a:prstGeom>
            </p:spPr>
          </p:pic>
        </mc:Fallback>
      </mc:AlternateContent>
      <p:sp>
        <p:nvSpPr>
          <p:cNvPr id="20486" name="TextBox 20485"/>
          <p:cNvSpPr txBox="1"/>
          <p:nvPr/>
        </p:nvSpPr>
        <p:spPr>
          <a:xfrm>
            <a:off x="4572000" y="14813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(doğru model)</a:t>
            </a:r>
          </a:p>
        </p:txBody>
      </p:sp>
      <p:sp>
        <p:nvSpPr>
          <p:cNvPr id="20487" name="TextBox 20486"/>
          <p:cNvSpPr txBox="1"/>
          <p:nvPr/>
        </p:nvSpPr>
        <p:spPr>
          <a:xfrm>
            <a:off x="5257800" y="19842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(tahmin edilen model)</a:t>
            </a:r>
          </a:p>
        </p:txBody>
      </p:sp>
      <p:sp>
        <p:nvSpPr>
          <p:cNvPr id="20488" name="TextBox 20487"/>
          <p:cNvSpPr txBox="1"/>
          <p:nvPr/>
        </p:nvSpPr>
        <p:spPr>
          <a:xfrm>
            <a:off x="3291840" y="2514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(X</a:t>
            </a:r>
            <a:r>
              <a:rPr sz="1800" lang="tr-TR" baseline="-25000">
                <a:latin typeface="Times New Roman"/>
              </a:rPr>
              <a:t>3</a:t>
            </a:r>
            <a:r>
              <a:rPr sz="1800" lang="tr-TR">
                <a:latin typeface="Times New Roman"/>
              </a:rPr>
              <a:t> gereksiz: gerçek katsayısı sıfır)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3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nimBg="1" autoUpdateAnimBg="0"/>
      <p:bldP spid="15366" grpId="0" autoUpdateAnimBg="0"/>
      <p:bldP spid="15367" grpId="0" animBg="1"/>
      <p:bldP spid="15368" grpId="0" autoUpdateAnimBg="0"/>
      <p:bldP spid="15369" grpId="0" build="p" autoUpdateAnimBg="0"/>
      <p:bldP spid="1537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3 Slayt Numarası Yer Tutucusu">
            <a:extLst>
              <a:ext uri="{FF2B5EF4-FFF2-40B4-BE49-F238E27FC236}">
                <a16:creationId xmlns:a16="http://schemas.microsoft.com/office/drawing/2014/main" id="{EB62F8ED-DF75-D0B2-A4FF-E825D26C7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877D72-6AFC-4B0B-9463-80794BAA086B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tr-TR" altLang="tr-TR" sz="14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E3E37ACD-F65F-61C7-6610-385D84374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09600"/>
            <a:ext cx="86106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51204" name="Line 3">
            <a:extLst>
              <a:ext uri="{FF2B5EF4-FFF2-40B4-BE49-F238E27FC236}">
                <a16:creationId xmlns:a16="http://schemas.microsoft.com/office/drawing/2014/main" id="{C9031BD5-70D3-61A7-D495-0D7BAA6CBC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295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1205" name="Line 4">
            <a:extLst>
              <a:ext uri="{FF2B5EF4-FFF2-40B4-BE49-F238E27FC236}">
                <a16:creationId xmlns:a16="http://schemas.microsoft.com/office/drawing/2014/main" id="{27109569-2B18-8D00-15CD-B7B48C394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2438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1206" name="Text Box 5">
            <a:extLst>
              <a:ext uri="{FF2B5EF4-FFF2-40B4-BE49-F238E27FC236}">
                <a16:creationId xmlns:a16="http://schemas.microsoft.com/office/drawing/2014/main" id="{2E8074DF-25C6-0A81-A55C-02577B8AB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594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tr-TR" sz="2400" b="1">
                <a:latin typeface="Times New Roman" panose="02020603050405020304" pitchFamily="18" charset="0"/>
              </a:rPr>
              <a:t>Yanlış tanımlamanın sonuçları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1207" name="Line 6">
            <a:extLst>
              <a:ext uri="{FF2B5EF4-FFF2-40B4-BE49-F238E27FC236}">
                <a16:creationId xmlns:a16="http://schemas.microsoft.com/office/drawing/2014/main" id="{9821DF90-19AD-1B4B-FD40-BDE9D8651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657600"/>
            <a:ext cx="785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1208" name="Line 7">
            <a:extLst>
              <a:ext uri="{FF2B5EF4-FFF2-40B4-BE49-F238E27FC236}">
                <a16:creationId xmlns:a16="http://schemas.microsoft.com/office/drawing/2014/main" id="{7C6D843C-ABA7-BB4A-4106-F560DC8D2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2954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1209" name="Line 8">
            <a:extLst>
              <a:ext uri="{FF2B5EF4-FFF2-40B4-BE49-F238E27FC236}">
                <a16:creationId xmlns:a16="http://schemas.microsoft.com/office/drawing/2014/main" id="{E4D29B84-C638-3C9E-EA67-E00A2DC2E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905000"/>
            <a:ext cx="6024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1210" name="Line 9">
            <a:extLst>
              <a:ext uri="{FF2B5EF4-FFF2-40B4-BE49-F238E27FC236}">
                <a16:creationId xmlns:a16="http://schemas.microsoft.com/office/drawing/2014/main" id="{36D77609-F89A-5DAE-3548-11BF81EAD00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4384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1211" name="Text Box 10">
            <a:extLst>
              <a:ext uri="{FF2B5EF4-FFF2-40B4-BE49-F238E27FC236}">
                <a16:creationId xmlns:a16="http://schemas.microsoft.com/office/drawing/2014/main" id="{DE54DE7E-D592-F708-AA33-A8706F2C0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1422400"/>
            <a:ext cx="1981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2400" b="1" i="1">
                <a:latin typeface="Times New Roman" panose="02020603050405020304" pitchFamily="18" charset="0"/>
              </a:rPr>
              <a:t>Doğru model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1212" name="Line 11">
            <a:extLst>
              <a:ext uri="{FF2B5EF4-FFF2-40B4-BE49-F238E27FC236}">
                <a16:creationId xmlns:a16="http://schemas.microsoft.com/office/drawing/2014/main" id="{1E76A852-50BD-3CC7-8C12-FE7690A4A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9050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1213" name="Text Box 12">
            <a:extLst>
              <a:ext uri="{FF2B5EF4-FFF2-40B4-BE49-F238E27FC236}">
                <a16:creationId xmlns:a16="http://schemas.microsoft.com/office/drawing/2014/main" id="{18D3FC3F-D9DE-3458-E345-1A206BE97676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433388" y="2554288"/>
            <a:ext cx="36512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2400" b="1" i="1">
                <a:latin typeface="Times New Roman" panose="02020603050405020304" pitchFamily="18" charset="0"/>
              </a:rPr>
              <a:t>Tahmini model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51214" name="Object 13">
            <a:extLst>
              <a:ext uri="{FF2B5EF4-FFF2-40B4-BE49-F238E27FC236}">
                <a16:creationId xmlns:a16="http://schemas.microsoft.com/office/drawing/2014/main" id="{1E7D7FD9-81D8-153A-5BAF-6F50893510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1974850"/>
          <a:ext cx="325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51200" imgH="381000" progId="Equation.3">
                  <p:embed/>
                </p:oleObj>
              </mc:Choice>
              <mc:Fallback>
                <p:oleObj name="Equation" r:id="rId3" imgW="3251200" imgH="381000" progId="Equation.3">
                  <p:embed/>
                  <p:pic>
                    <p:nvPicPr>
                      <p:cNvPr id="51214" name="Object 13">
                        <a:extLst>
                          <a:ext uri="{FF2B5EF4-FFF2-40B4-BE49-F238E27FC236}">
                            <a16:creationId xmlns:a16="http://schemas.microsoft.com/office/drawing/2014/main" id="{1E7D7FD9-81D8-153A-5BAF-6F50893510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974850"/>
                        <a:ext cx="3251200" cy="381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5" name="Object 14">
            <a:extLst>
              <a:ext uri="{FF2B5EF4-FFF2-40B4-BE49-F238E27FC236}">
                <a16:creationId xmlns:a16="http://schemas.microsoft.com/office/drawing/2014/main" id="{0C22B606-09D0-26D6-B46A-134D18D985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981200"/>
          <a:ext cx="2286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6000" imgH="368300" progId="Equation.3">
                  <p:embed/>
                </p:oleObj>
              </mc:Choice>
              <mc:Fallback>
                <p:oleObj name="Equation" r:id="rId5" imgW="2286000" imgH="368300" progId="Equation.3">
                  <p:embed/>
                  <p:pic>
                    <p:nvPicPr>
                      <p:cNvPr id="51215" name="Object 14">
                        <a:extLst>
                          <a:ext uri="{FF2B5EF4-FFF2-40B4-BE49-F238E27FC236}">
                            <a16:creationId xmlns:a16="http://schemas.microsoft.com/office/drawing/2014/main" id="{0C22B606-09D0-26D6-B46A-134D18D985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981200"/>
                        <a:ext cx="2286000" cy="3683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6" name="Object 15">
            <a:extLst>
              <a:ext uri="{FF2B5EF4-FFF2-40B4-BE49-F238E27FC236}">
                <a16:creationId xmlns:a16="http://schemas.microsoft.com/office/drawing/2014/main" id="{70AE9266-B4D8-6559-A2DF-1280DCBF9E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365625"/>
          <a:ext cx="18002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44600" imgH="254000" progId="Equation.DSMT4">
                  <p:embed/>
                </p:oleObj>
              </mc:Choice>
              <mc:Fallback>
                <p:oleObj name="Equation" r:id="rId7" imgW="1244600" imgH="254000" progId="Equation.DSMT4">
                  <p:embed/>
                  <p:pic>
                    <p:nvPicPr>
                      <p:cNvPr id="51216" name="Object 15">
                        <a:extLst>
                          <a:ext uri="{FF2B5EF4-FFF2-40B4-BE49-F238E27FC236}">
                            <a16:creationId xmlns:a16="http://schemas.microsoft.com/office/drawing/2014/main" id="{70AE9266-B4D8-6559-A2DF-1280DCBF9E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365625"/>
                        <a:ext cx="1800225" cy="3667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7" name="Object 16">
            <a:extLst>
              <a:ext uri="{FF2B5EF4-FFF2-40B4-BE49-F238E27FC236}">
                <a16:creationId xmlns:a16="http://schemas.microsoft.com/office/drawing/2014/main" id="{83A3B695-4A96-20EB-795F-D22AAC5B60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870200"/>
          <a:ext cx="167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76400" imgH="419100" progId="Equation.3">
                  <p:embed/>
                </p:oleObj>
              </mc:Choice>
              <mc:Fallback>
                <p:oleObj name="Equation" r:id="rId9" imgW="1676400" imgH="419100" progId="Equation.3">
                  <p:embed/>
                  <p:pic>
                    <p:nvPicPr>
                      <p:cNvPr id="51217" name="Object 16">
                        <a:extLst>
                          <a:ext uri="{FF2B5EF4-FFF2-40B4-BE49-F238E27FC236}">
                            <a16:creationId xmlns:a16="http://schemas.microsoft.com/office/drawing/2014/main" id="{83A3B695-4A96-20EB-795F-D22AAC5B60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70200"/>
                        <a:ext cx="1676400" cy="4191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8" name="Text Box 17">
            <a:extLst>
              <a:ext uri="{FF2B5EF4-FFF2-40B4-BE49-F238E27FC236}">
                <a16:creationId xmlns:a16="http://schemas.microsoft.com/office/drawing/2014/main" id="{8974A993-BB4F-5D04-632D-9780F431A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sp>
        <p:nvSpPr>
          <p:cNvPr id="51219" name="Text Box 37">
            <a:extLst>
              <a:ext uri="{FF2B5EF4-FFF2-40B4-BE49-F238E27FC236}">
                <a16:creationId xmlns:a16="http://schemas.microsoft.com/office/drawing/2014/main" id="{70A99C95-35E9-8724-D7B1-620F48519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500" b="1"/>
              <a:t>Şimdi modele alınması gereken değişkenlerin alınmaması sonucunda ortaya çıkabilecekleri tartışacağız.</a:t>
            </a:r>
            <a:endParaRPr lang="en-GB" altLang="tr-TR" sz="15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3 Slayt Numarası Yer Tutucusu">
            <a:extLst>
              <a:ext uri="{FF2B5EF4-FFF2-40B4-BE49-F238E27FC236}">
                <a16:creationId xmlns:a16="http://schemas.microsoft.com/office/drawing/2014/main" id="{4A26D215-8BB9-C8BB-07EE-4176FDC7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0C3DCC-88A6-49C6-A873-6539B164E1CE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tr-TR" altLang="tr-TR" sz="14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94761893-A34B-2E49-0733-186E8B894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09600"/>
            <a:ext cx="86106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53252" name="Line 3">
            <a:extLst>
              <a:ext uri="{FF2B5EF4-FFF2-40B4-BE49-F238E27FC236}">
                <a16:creationId xmlns:a16="http://schemas.microsoft.com/office/drawing/2014/main" id="{7199C0E5-AD8B-6D4F-8AD2-EF6865F75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295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3253" name="Line 4">
            <a:extLst>
              <a:ext uri="{FF2B5EF4-FFF2-40B4-BE49-F238E27FC236}">
                <a16:creationId xmlns:a16="http://schemas.microsoft.com/office/drawing/2014/main" id="{81478FE0-A84C-BFA6-AE56-7E91B88199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2438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3254" name="Text Box 5">
            <a:extLst>
              <a:ext uri="{FF2B5EF4-FFF2-40B4-BE49-F238E27FC236}">
                <a16:creationId xmlns:a16="http://schemas.microsoft.com/office/drawing/2014/main" id="{591A2931-DE34-CF16-C8C7-031125A11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594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tr-TR" sz="2400" b="1">
                <a:latin typeface="Times New Roman" panose="02020603050405020304" pitchFamily="18" charset="0"/>
              </a:rPr>
              <a:t>Yanlış tanımlamanın sonuçları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3255" name="Line 6">
            <a:extLst>
              <a:ext uri="{FF2B5EF4-FFF2-40B4-BE49-F238E27FC236}">
                <a16:creationId xmlns:a16="http://schemas.microsoft.com/office/drawing/2014/main" id="{10140EE5-1F21-C721-C838-31C7AF788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657600"/>
            <a:ext cx="785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3256" name="Line 7">
            <a:extLst>
              <a:ext uri="{FF2B5EF4-FFF2-40B4-BE49-F238E27FC236}">
                <a16:creationId xmlns:a16="http://schemas.microsoft.com/office/drawing/2014/main" id="{8611B1F2-A119-34E5-866B-80D8CF13F2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2954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3257" name="Line 8">
            <a:extLst>
              <a:ext uri="{FF2B5EF4-FFF2-40B4-BE49-F238E27FC236}">
                <a16:creationId xmlns:a16="http://schemas.microsoft.com/office/drawing/2014/main" id="{C693CDAA-80EB-9F55-E514-6BAB16DD0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905000"/>
            <a:ext cx="6024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3258" name="Line 9">
            <a:extLst>
              <a:ext uri="{FF2B5EF4-FFF2-40B4-BE49-F238E27FC236}">
                <a16:creationId xmlns:a16="http://schemas.microsoft.com/office/drawing/2014/main" id="{3BF40324-3495-1230-2F4D-F598235F9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4384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3259" name="Line 11">
            <a:extLst>
              <a:ext uri="{FF2B5EF4-FFF2-40B4-BE49-F238E27FC236}">
                <a16:creationId xmlns:a16="http://schemas.microsoft.com/office/drawing/2014/main" id="{8977031D-A733-4D0F-1078-8092DDF7D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9050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graphicFrame>
        <p:nvGraphicFramePr>
          <p:cNvPr id="53260" name="Object 13">
            <a:extLst>
              <a:ext uri="{FF2B5EF4-FFF2-40B4-BE49-F238E27FC236}">
                <a16:creationId xmlns:a16="http://schemas.microsoft.com/office/drawing/2014/main" id="{57FE0096-B46A-AFD5-FB8F-3099C5DD14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1974850"/>
          <a:ext cx="325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51200" imgH="381000" progId="Equation.3">
                  <p:embed/>
                </p:oleObj>
              </mc:Choice>
              <mc:Fallback>
                <p:oleObj name="Equation" r:id="rId3" imgW="3251200" imgH="381000" progId="Equation.3">
                  <p:embed/>
                  <p:pic>
                    <p:nvPicPr>
                      <p:cNvPr id="53260" name="Object 13">
                        <a:extLst>
                          <a:ext uri="{FF2B5EF4-FFF2-40B4-BE49-F238E27FC236}">
                            <a16:creationId xmlns:a16="http://schemas.microsoft.com/office/drawing/2014/main" id="{57FE0096-B46A-AFD5-FB8F-3099C5DD14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974850"/>
                        <a:ext cx="3251200" cy="381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1" name="Object 14">
            <a:extLst>
              <a:ext uri="{FF2B5EF4-FFF2-40B4-BE49-F238E27FC236}">
                <a16:creationId xmlns:a16="http://schemas.microsoft.com/office/drawing/2014/main" id="{5EAE1509-205D-762F-601B-B392771825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981200"/>
          <a:ext cx="2286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6000" imgH="368300" progId="Equation.3">
                  <p:embed/>
                </p:oleObj>
              </mc:Choice>
              <mc:Fallback>
                <p:oleObj name="Equation" r:id="rId5" imgW="2286000" imgH="368300" progId="Equation.3">
                  <p:embed/>
                  <p:pic>
                    <p:nvPicPr>
                      <p:cNvPr id="53261" name="Object 14">
                        <a:extLst>
                          <a:ext uri="{FF2B5EF4-FFF2-40B4-BE49-F238E27FC236}">
                            <a16:creationId xmlns:a16="http://schemas.microsoft.com/office/drawing/2014/main" id="{5EAE1509-205D-762F-601B-B39277182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981200"/>
                        <a:ext cx="2286000" cy="3683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2" name="Object 16">
            <a:extLst>
              <a:ext uri="{FF2B5EF4-FFF2-40B4-BE49-F238E27FC236}">
                <a16:creationId xmlns:a16="http://schemas.microsoft.com/office/drawing/2014/main" id="{6834593F-C1EA-A7E8-58F4-9F1699E269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870200"/>
          <a:ext cx="167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76400" imgH="419100" progId="Equation.3">
                  <p:embed/>
                </p:oleObj>
              </mc:Choice>
              <mc:Fallback>
                <p:oleObj name="Equation" r:id="rId7" imgW="1676400" imgH="419100" progId="Equation.3">
                  <p:embed/>
                  <p:pic>
                    <p:nvPicPr>
                      <p:cNvPr id="53262" name="Object 16">
                        <a:extLst>
                          <a:ext uri="{FF2B5EF4-FFF2-40B4-BE49-F238E27FC236}">
                            <a16:creationId xmlns:a16="http://schemas.microsoft.com/office/drawing/2014/main" id="{6834593F-C1EA-A7E8-58F4-9F1699E269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70200"/>
                        <a:ext cx="1676400" cy="4191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3" name="Text Box 17">
            <a:extLst>
              <a:ext uri="{FF2B5EF4-FFF2-40B4-BE49-F238E27FC236}">
                <a16:creationId xmlns:a16="http://schemas.microsoft.com/office/drawing/2014/main" id="{8E75F83F-1107-E3C9-F430-BBD66D2E6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sp>
        <p:nvSpPr>
          <p:cNvPr id="53264" name="Text Box 18">
            <a:extLst>
              <a:ext uri="{FF2B5EF4-FFF2-40B4-BE49-F238E27FC236}">
                <a16:creationId xmlns:a16="http://schemas.microsoft.com/office/drawing/2014/main" id="{5E708651-793E-6E57-8C82-0E0BBC644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500" b="1"/>
              <a:t>Analizimizde iki durum söz konusudur. Y sadece X</a:t>
            </a:r>
            <a:r>
              <a:rPr lang="tr-TR" altLang="tr-TR" sz="1500" b="1" baseline="-25000"/>
              <a:t>2</a:t>
            </a:r>
            <a:r>
              <a:rPr lang="tr-TR" altLang="tr-TR" sz="1500" b="1"/>
              <a:t> ile ya da X</a:t>
            </a:r>
            <a:r>
              <a:rPr lang="tr-TR" altLang="tr-TR" sz="1500" b="1" baseline="-25000"/>
              <a:t>2</a:t>
            </a:r>
            <a:r>
              <a:rPr lang="tr-TR" altLang="tr-TR" sz="1500" b="1"/>
              <a:t> ve X</a:t>
            </a:r>
            <a:r>
              <a:rPr lang="tr-TR" altLang="tr-TR" sz="1500" b="1" baseline="-25000"/>
              <a:t>3</a:t>
            </a:r>
            <a:r>
              <a:rPr lang="tr-TR" altLang="tr-TR" sz="1500" b="1"/>
              <a:t> ile ilişkilendirilecektir.</a:t>
            </a:r>
            <a:endParaRPr lang="en-GB" altLang="tr-TR" sz="1500" b="1"/>
          </a:p>
        </p:txBody>
      </p:sp>
      <p:sp>
        <p:nvSpPr>
          <p:cNvPr id="53266" name="Text Box 20">
            <a:extLst>
              <a:ext uri="{FF2B5EF4-FFF2-40B4-BE49-F238E27FC236}">
                <a16:creationId xmlns:a16="http://schemas.microsoft.com/office/drawing/2014/main" id="{F22773D9-2AAF-2720-764E-49032BFF6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1422400"/>
            <a:ext cx="1981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2400" b="1" i="1">
                <a:latin typeface="Times New Roman" panose="02020603050405020304" pitchFamily="18" charset="0"/>
              </a:rPr>
              <a:t>Doğru model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3267" name="Text Box 21">
            <a:extLst>
              <a:ext uri="{FF2B5EF4-FFF2-40B4-BE49-F238E27FC236}">
                <a16:creationId xmlns:a16="http://schemas.microsoft.com/office/drawing/2014/main" id="{3B9EA507-8B02-54E2-E549-2B3E467F8EC1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433388" y="2554288"/>
            <a:ext cx="36512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2400" b="1" i="1">
                <a:latin typeface="Times New Roman" panose="02020603050405020304" pitchFamily="18" charset="0"/>
              </a:rPr>
              <a:t>Tahmini model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53268" name="Object 22">
            <a:extLst>
              <a:ext uri="{FF2B5EF4-FFF2-40B4-BE49-F238E27FC236}">
                <a16:creationId xmlns:a16="http://schemas.microsoft.com/office/drawing/2014/main" id="{C3556E96-CF46-1A73-DB0C-37A47E2685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365625"/>
          <a:ext cx="18002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600" imgH="254000" progId="Equation.DSMT4">
                  <p:embed/>
                </p:oleObj>
              </mc:Choice>
              <mc:Fallback>
                <p:oleObj name="Equation" r:id="rId9" imgW="1244600" imgH="254000" progId="Equation.DSMT4">
                  <p:embed/>
                  <p:pic>
                    <p:nvPicPr>
                      <p:cNvPr id="53268" name="Object 22">
                        <a:extLst>
                          <a:ext uri="{FF2B5EF4-FFF2-40B4-BE49-F238E27FC236}">
                            <a16:creationId xmlns:a16="http://schemas.microsoft.com/office/drawing/2014/main" id="{C3556E96-CF46-1A73-DB0C-37A47E2685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365625"/>
                        <a:ext cx="1800225" cy="3667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3 Slayt Numarası Yer Tutucusu">
            <a:extLst>
              <a:ext uri="{FF2B5EF4-FFF2-40B4-BE49-F238E27FC236}">
                <a16:creationId xmlns:a16="http://schemas.microsoft.com/office/drawing/2014/main" id="{E9BF1DBE-85C1-D9CE-DD73-65D493DF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7E3E23-5376-44BF-8C52-0B4DBF3EC464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tr-TR" altLang="tr-TR" sz="14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135A9A25-BA20-F884-03C4-1BE8D29AE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438400"/>
            <a:ext cx="2590800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D3F29F4C-19AB-27F7-A674-EC3E0D6EC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09600"/>
            <a:ext cx="86106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55301" name="Line 4">
            <a:extLst>
              <a:ext uri="{FF2B5EF4-FFF2-40B4-BE49-F238E27FC236}">
                <a16:creationId xmlns:a16="http://schemas.microsoft.com/office/drawing/2014/main" id="{AA4B6021-4FE7-6904-06A7-5CDAB216C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295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5302" name="Line 5">
            <a:extLst>
              <a:ext uri="{FF2B5EF4-FFF2-40B4-BE49-F238E27FC236}">
                <a16:creationId xmlns:a16="http://schemas.microsoft.com/office/drawing/2014/main" id="{178B7FBB-EED2-5C30-7B2C-EE339ADA6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2438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5303" name="Line 7">
            <a:extLst>
              <a:ext uri="{FF2B5EF4-FFF2-40B4-BE49-F238E27FC236}">
                <a16:creationId xmlns:a16="http://schemas.microsoft.com/office/drawing/2014/main" id="{430385D0-33D6-F39C-FBF7-CBB354A21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657600"/>
            <a:ext cx="785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5304" name="Line 8">
            <a:extLst>
              <a:ext uri="{FF2B5EF4-FFF2-40B4-BE49-F238E27FC236}">
                <a16:creationId xmlns:a16="http://schemas.microsoft.com/office/drawing/2014/main" id="{E23C458B-B731-1695-D2E1-F4C406D2D6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2954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5305" name="Line 9">
            <a:extLst>
              <a:ext uri="{FF2B5EF4-FFF2-40B4-BE49-F238E27FC236}">
                <a16:creationId xmlns:a16="http://schemas.microsoft.com/office/drawing/2014/main" id="{1C81FAFA-AEB0-E265-3B78-3ECA67890E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905000"/>
            <a:ext cx="6024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5306" name="Line 10">
            <a:extLst>
              <a:ext uri="{FF2B5EF4-FFF2-40B4-BE49-F238E27FC236}">
                <a16:creationId xmlns:a16="http://schemas.microsoft.com/office/drawing/2014/main" id="{B99A80F7-9AD5-D868-DEE8-049A081CB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4384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5307" name="Line 12">
            <a:extLst>
              <a:ext uri="{FF2B5EF4-FFF2-40B4-BE49-F238E27FC236}">
                <a16:creationId xmlns:a16="http://schemas.microsoft.com/office/drawing/2014/main" id="{F90A3F11-4386-BABE-99EB-37C577FFDF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9050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graphicFrame>
        <p:nvGraphicFramePr>
          <p:cNvPr id="55308" name="Object 14">
            <a:extLst>
              <a:ext uri="{FF2B5EF4-FFF2-40B4-BE49-F238E27FC236}">
                <a16:creationId xmlns:a16="http://schemas.microsoft.com/office/drawing/2014/main" id="{DCEED85C-3095-8AF9-9FA6-9B173DA772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1974850"/>
          <a:ext cx="325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51200" imgH="381000" progId="Equation.3">
                  <p:embed/>
                </p:oleObj>
              </mc:Choice>
              <mc:Fallback>
                <p:oleObj name="Equation" r:id="rId3" imgW="3251200" imgH="381000" progId="Equation.3">
                  <p:embed/>
                  <p:pic>
                    <p:nvPicPr>
                      <p:cNvPr id="55308" name="Object 14">
                        <a:extLst>
                          <a:ext uri="{FF2B5EF4-FFF2-40B4-BE49-F238E27FC236}">
                            <a16:creationId xmlns:a16="http://schemas.microsoft.com/office/drawing/2014/main" id="{DCEED85C-3095-8AF9-9FA6-9B173DA772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974850"/>
                        <a:ext cx="3251200" cy="381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9" name="Object 15">
            <a:extLst>
              <a:ext uri="{FF2B5EF4-FFF2-40B4-BE49-F238E27FC236}">
                <a16:creationId xmlns:a16="http://schemas.microsoft.com/office/drawing/2014/main" id="{E5D6BEAE-C7F2-74DF-918F-09D67DBA66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981200"/>
          <a:ext cx="2286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6000" imgH="368300" progId="Equation.3">
                  <p:embed/>
                </p:oleObj>
              </mc:Choice>
              <mc:Fallback>
                <p:oleObj name="Equation" r:id="rId5" imgW="2286000" imgH="368300" progId="Equation.3">
                  <p:embed/>
                  <p:pic>
                    <p:nvPicPr>
                      <p:cNvPr id="55309" name="Object 15">
                        <a:extLst>
                          <a:ext uri="{FF2B5EF4-FFF2-40B4-BE49-F238E27FC236}">
                            <a16:creationId xmlns:a16="http://schemas.microsoft.com/office/drawing/2014/main" id="{E5D6BEAE-C7F2-74DF-918F-09D67DBA66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981200"/>
                        <a:ext cx="2286000" cy="3683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0" name="Object 17">
            <a:extLst>
              <a:ext uri="{FF2B5EF4-FFF2-40B4-BE49-F238E27FC236}">
                <a16:creationId xmlns:a16="http://schemas.microsoft.com/office/drawing/2014/main" id="{268689F7-FC56-3BDC-66B8-AAFDAD4B91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870200"/>
          <a:ext cx="167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76400" imgH="419100" progId="Equation.3">
                  <p:embed/>
                </p:oleObj>
              </mc:Choice>
              <mc:Fallback>
                <p:oleObj name="Equation" r:id="rId7" imgW="1676400" imgH="419100" progId="Equation.3">
                  <p:embed/>
                  <p:pic>
                    <p:nvPicPr>
                      <p:cNvPr id="55310" name="Object 17">
                        <a:extLst>
                          <a:ext uri="{FF2B5EF4-FFF2-40B4-BE49-F238E27FC236}">
                            <a16:creationId xmlns:a16="http://schemas.microsoft.com/office/drawing/2014/main" id="{268689F7-FC56-3BDC-66B8-AAFDAD4B91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70200"/>
                        <a:ext cx="1676400" cy="4191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1" name="Text Box 18">
            <a:extLst>
              <a:ext uri="{FF2B5EF4-FFF2-40B4-BE49-F238E27FC236}">
                <a16:creationId xmlns:a16="http://schemas.microsoft.com/office/drawing/2014/main" id="{6D274338-208A-D1C3-7357-43A646E0A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sp>
        <p:nvSpPr>
          <p:cNvPr id="55312" name="Text Box 20">
            <a:extLst>
              <a:ext uri="{FF2B5EF4-FFF2-40B4-BE49-F238E27FC236}">
                <a16:creationId xmlns:a16="http://schemas.microsoft.com/office/drawing/2014/main" id="{E2E2E212-90C7-4571-29D3-0AA6D073A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500" b="1"/>
              <a:t>Y sadece X</a:t>
            </a:r>
            <a:r>
              <a:rPr lang="tr-TR" altLang="tr-TR" sz="1500" b="1" baseline="-25000"/>
              <a:t>2</a:t>
            </a:r>
            <a:r>
              <a:rPr lang="tr-TR" altLang="tr-TR" sz="1500" b="1"/>
              <a:t> ile ilişkilendirilirse problem söz konusu olmayacaktır.</a:t>
            </a:r>
            <a:endParaRPr lang="en-GB" altLang="tr-TR" sz="1500" b="1"/>
          </a:p>
        </p:txBody>
      </p:sp>
      <p:sp>
        <p:nvSpPr>
          <p:cNvPr id="55313" name="Text Box 22">
            <a:extLst>
              <a:ext uri="{FF2B5EF4-FFF2-40B4-BE49-F238E27FC236}">
                <a16:creationId xmlns:a16="http://schemas.microsoft.com/office/drawing/2014/main" id="{E6D296FD-5C95-5656-8FD7-A24DA11CC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594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tr-TR" sz="2400" b="1">
                <a:latin typeface="Times New Roman" panose="02020603050405020304" pitchFamily="18" charset="0"/>
              </a:rPr>
              <a:t>Yanlış tanımlamanın sonuçları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5314" name="Text Box 23">
            <a:extLst>
              <a:ext uri="{FF2B5EF4-FFF2-40B4-BE49-F238E27FC236}">
                <a16:creationId xmlns:a16="http://schemas.microsoft.com/office/drawing/2014/main" id="{C9445B71-A77B-ED67-EAE6-768303156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1422400"/>
            <a:ext cx="1981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2400" b="1" i="1">
                <a:latin typeface="Times New Roman" panose="02020603050405020304" pitchFamily="18" charset="0"/>
              </a:rPr>
              <a:t>Doğru model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5315" name="Text Box 24">
            <a:extLst>
              <a:ext uri="{FF2B5EF4-FFF2-40B4-BE49-F238E27FC236}">
                <a16:creationId xmlns:a16="http://schemas.microsoft.com/office/drawing/2014/main" id="{45935D95-67DF-03F3-D9A5-2C2C88FF59BD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433388" y="2554288"/>
            <a:ext cx="36512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2400" b="1" i="1">
                <a:latin typeface="Times New Roman" panose="02020603050405020304" pitchFamily="18" charset="0"/>
              </a:rPr>
              <a:t>Tahmini model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5316" name="Text Box 25">
            <a:extLst>
              <a:ext uri="{FF2B5EF4-FFF2-40B4-BE49-F238E27FC236}">
                <a16:creationId xmlns:a16="http://schemas.microsoft.com/office/drawing/2014/main" id="{C5167E22-7424-F2E5-5E1B-22EBC8C14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743200"/>
            <a:ext cx="2590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tr-TR" sz="2000" b="1">
                <a:solidFill>
                  <a:srgbClr val="A50021"/>
                </a:solidFill>
                <a:latin typeface="Times New Roman" panose="02020603050405020304" pitchFamily="18" charset="0"/>
              </a:rPr>
              <a:t>Doğru tanımlama. Problem yok</a:t>
            </a:r>
            <a:endParaRPr lang="en-US" altLang="tr-TR" sz="2400" b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5317" name="Object 26">
            <a:extLst>
              <a:ext uri="{FF2B5EF4-FFF2-40B4-BE49-F238E27FC236}">
                <a16:creationId xmlns:a16="http://schemas.microsoft.com/office/drawing/2014/main" id="{4752D5ED-B553-E2EF-B374-8481E3CE1B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365625"/>
          <a:ext cx="18002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600" imgH="254000" progId="Equation.DSMT4">
                  <p:embed/>
                </p:oleObj>
              </mc:Choice>
              <mc:Fallback>
                <p:oleObj name="Equation" r:id="rId9" imgW="1244600" imgH="254000" progId="Equation.DSMT4">
                  <p:embed/>
                  <p:pic>
                    <p:nvPicPr>
                      <p:cNvPr id="55317" name="Object 26">
                        <a:extLst>
                          <a:ext uri="{FF2B5EF4-FFF2-40B4-BE49-F238E27FC236}">
                            <a16:creationId xmlns:a16="http://schemas.microsoft.com/office/drawing/2014/main" id="{4752D5ED-B553-E2EF-B374-8481E3CE1B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365625"/>
                        <a:ext cx="1800225" cy="3667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3 Slayt Numarası Yer Tutucusu">
            <a:extLst>
              <a:ext uri="{FF2B5EF4-FFF2-40B4-BE49-F238E27FC236}">
                <a16:creationId xmlns:a16="http://schemas.microsoft.com/office/drawing/2014/main" id="{90112FA4-C136-FBCD-A90B-A84BF12B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1A40C5-42E6-4282-8420-5E0F828D4089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tr-TR" altLang="tr-TR" sz="14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A7709988-6E8C-B283-ECAE-FA9C2D9B7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657600"/>
            <a:ext cx="3427413" cy="1905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9A373CC3-F780-7998-A7C2-B87EC20F8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09600"/>
            <a:ext cx="86106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57349" name="Line 4">
            <a:extLst>
              <a:ext uri="{FF2B5EF4-FFF2-40B4-BE49-F238E27FC236}">
                <a16:creationId xmlns:a16="http://schemas.microsoft.com/office/drawing/2014/main" id="{C9E4F561-0860-4395-F47C-F167D015EE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295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7350" name="Line 5">
            <a:extLst>
              <a:ext uri="{FF2B5EF4-FFF2-40B4-BE49-F238E27FC236}">
                <a16:creationId xmlns:a16="http://schemas.microsoft.com/office/drawing/2014/main" id="{8B580E51-2F15-DF09-05A5-DA65D813DF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2438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7351" name="Line 7">
            <a:extLst>
              <a:ext uri="{FF2B5EF4-FFF2-40B4-BE49-F238E27FC236}">
                <a16:creationId xmlns:a16="http://schemas.microsoft.com/office/drawing/2014/main" id="{AEE6A8C5-8F8F-61C2-E85A-039B500A51F8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657600"/>
            <a:ext cx="785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7352" name="Line 8">
            <a:extLst>
              <a:ext uri="{FF2B5EF4-FFF2-40B4-BE49-F238E27FC236}">
                <a16:creationId xmlns:a16="http://schemas.microsoft.com/office/drawing/2014/main" id="{A7AA61AB-F893-046A-7CD7-876590B52F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2954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7353" name="Line 9">
            <a:extLst>
              <a:ext uri="{FF2B5EF4-FFF2-40B4-BE49-F238E27FC236}">
                <a16:creationId xmlns:a16="http://schemas.microsoft.com/office/drawing/2014/main" id="{EF2AE596-77DE-D9D5-81AF-269582F1BD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905000"/>
            <a:ext cx="6024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7354" name="Line 10">
            <a:extLst>
              <a:ext uri="{FF2B5EF4-FFF2-40B4-BE49-F238E27FC236}">
                <a16:creationId xmlns:a16="http://schemas.microsoft.com/office/drawing/2014/main" id="{7B506E4F-893F-703F-7B4C-F0CA430AD2F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4384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7355" name="Line 12">
            <a:extLst>
              <a:ext uri="{FF2B5EF4-FFF2-40B4-BE49-F238E27FC236}">
                <a16:creationId xmlns:a16="http://schemas.microsoft.com/office/drawing/2014/main" id="{3B8396AC-7C1D-84B9-DFAE-EC05B824D8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9050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graphicFrame>
        <p:nvGraphicFramePr>
          <p:cNvPr id="57356" name="Object 14">
            <a:extLst>
              <a:ext uri="{FF2B5EF4-FFF2-40B4-BE49-F238E27FC236}">
                <a16:creationId xmlns:a16="http://schemas.microsoft.com/office/drawing/2014/main" id="{D5D7A03F-CEAB-B08A-2F8C-5B3B2A6EB0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1974850"/>
          <a:ext cx="325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51200" imgH="381000" progId="Equation.3">
                  <p:embed/>
                </p:oleObj>
              </mc:Choice>
              <mc:Fallback>
                <p:oleObj name="Equation" r:id="rId3" imgW="3251200" imgH="381000" progId="Equation.3">
                  <p:embed/>
                  <p:pic>
                    <p:nvPicPr>
                      <p:cNvPr id="57356" name="Object 14">
                        <a:extLst>
                          <a:ext uri="{FF2B5EF4-FFF2-40B4-BE49-F238E27FC236}">
                            <a16:creationId xmlns:a16="http://schemas.microsoft.com/office/drawing/2014/main" id="{D5D7A03F-CEAB-B08A-2F8C-5B3B2A6EB0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974850"/>
                        <a:ext cx="3251200" cy="381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7" name="Object 15">
            <a:extLst>
              <a:ext uri="{FF2B5EF4-FFF2-40B4-BE49-F238E27FC236}">
                <a16:creationId xmlns:a16="http://schemas.microsoft.com/office/drawing/2014/main" id="{65BA9FAB-6502-A2E7-31BE-207FE85EF9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981200"/>
          <a:ext cx="2286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6000" imgH="368300" progId="Equation.3">
                  <p:embed/>
                </p:oleObj>
              </mc:Choice>
              <mc:Fallback>
                <p:oleObj name="Equation" r:id="rId5" imgW="2286000" imgH="368300" progId="Equation.3">
                  <p:embed/>
                  <p:pic>
                    <p:nvPicPr>
                      <p:cNvPr id="57357" name="Object 15">
                        <a:extLst>
                          <a:ext uri="{FF2B5EF4-FFF2-40B4-BE49-F238E27FC236}">
                            <a16:creationId xmlns:a16="http://schemas.microsoft.com/office/drawing/2014/main" id="{65BA9FAB-6502-A2E7-31BE-207FE85EF9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981200"/>
                        <a:ext cx="2286000" cy="3683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8" name="Object 17">
            <a:extLst>
              <a:ext uri="{FF2B5EF4-FFF2-40B4-BE49-F238E27FC236}">
                <a16:creationId xmlns:a16="http://schemas.microsoft.com/office/drawing/2014/main" id="{DA5BC2F3-FF35-0303-8DE8-B9EB1DDE00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870200"/>
          <a:ext cx="167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76400" imgH="419100" progId="Equation.3">
                  <p:embed/>
                </p:oleObj>
              </mc:Choice>
              <mc:Fallback>
                <p:oleObj name="Equation" r:id="rId7" imgW="1676400" imgH="419100" progId="Equation.3">
                  <p:embed/>
                  <p:pic>
                    <p:nvPicPr>
                      <p:cNvPr id="57358" name="Object 17">
                        <a:extLst>
                          <a:ext uri="{FF2B5EF4-FFF2-40B4-BE49-F238E27FC236}">
                            <a16:creationId xmlns:a16="http://schemas.microsoft.com/office/drawing/2014/main" id="{DA5BC2F3-FF35-0303-8DE8-B9EB1DDE00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70200"/>
                        <a:ext cx="1676400" cy="4191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9" name="Text Box 18">
            <a:extLst>
              <a:ext uri="{FF2B5EF4-FFF2-40B4-BE49-F238E27FC236}">
                <a16:creationId xmlns:a16="http://schemas.microsoft.com/office/drawing/2014/main" id="{57CC84FA-A2D0-0C03-171C-120BBBA3E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sp>
        <p:nvSpPr>
          <p:cNvPr id="57360" name="Text Box 21">
            <a:extLst>
              <a:ext uri="{FF2B5EF4-FFF2-40B4-BE49-F238E27FC236}">
                <a16:creationId xmlns:a16="http://schemas.microsoft.com/office/drawing/2014/main" id="{C417D09C-234E-CD4E-9A5C-9E3E881A0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500" b="1"/>
              <a:t>Y hem X2 ve hem X3 ile ilişkilendirilirse yine problem söz konusu olmayacaktır.</a:t>
            </a:r>
            <a:endParaRPr lang="en-GB" altLang="tr-TR" sz="1500" b="1"/>
          </a:p>
        </p:txBody>
      </p:sp>
      <p:sp>
        <p:nvSpPr>
          <p:cNvPr id="57361" name="Text Box 23">
            <a:extLst>
              <a:ext uri="{FF2B5EF4-FFF2-40B4-BE49-F238E27FC236}">
                <a16:creationId xmlns:a16="http://schemas.microsoft.com/office/drawing/2014/main" id="{96BEC6C1-9F5B-DF82-7EF3-84089405D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594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tr-TR" sz="2400" b="1">
                <a:latin typeface="Times New Roman" panose="02020603050405020304" pitchFamily="18" charset="0"/>
              </a:rPr>
              <a:t>Yanlış tanımlamanın sonuçları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7362" name="Text Box 24">
            <a:extLst>
              <a:ext uri="{FF2B5EF4-FFF2-40B4-BE49-F238E27FC236}">
                <a16:creationId xmlns:a16="http://schemas.microsoft.com/office/drawing/2014/main" id="{EDF2C7AB-A9FA-4A5F-6685-E54527FC6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1422400"/>
            <a:ext cx="1981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2400" b="1" i="1">
                <a:latin typeface="Times New Roman" panose="02020603050405020304" pitchFamily="18" charset="0"/>
              </a:rPr>
              <a:t>Doğru model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7363" name="Text Box 25">
            <a:extLst>
              <a:ext uri="{FF2B5EF4-FFF2-40B4-BE49-F238E27FC236}">
                <a16:creationId xmlns:a16="http://schemas.microsoft.com/office/drawing/2014/main" id="{B1F73E7D-6E69-1DA9-F45C-D8E786C2D83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433388" y="2554288"/>
            <a:ext cx="36512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2400" b="1" i="1">
                <a:latin typeface="Times New Roman" panose="02020603050405020304" pitchFamily="18" charset="0"/>
              </a:rPr>
              <a:t>Tahmini model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7364" name="Text Box 26">
            <a:extLst>
              <a:ext uri="{FF2B5EF4-FFF2-40B4-BE49-F238E27FC236}">
                <a16:creationId xmlns:a16="http://schemas.microsoft.com/office/drawing/2014/main" id="{FA5A223C-FFF7-46A5-66F6-6A64B0930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743200"/>
            <a:ext cx="2590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tr-TR" sz="2000" b="1">
                <a:latin typeface="Times New Roman" panose="02020603050405020304" pitchFamily="18" charset="0"/>
              </a:rPr>
              <a:t>Doğru tanımlama. Problem yok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7365" name="Text Box 27">
            <a:extLst>
              <a:ext uri="{FF2B5EF4-FFF2-40B4-BE49-F238E27FC236}">
                <a16:creationId xmlns:a16="http://schemas.microsoft.com/office/drawing/2014/main" id="{571BBF7D-2634-69DC-C629-4B46DFFB1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295775"/>
            <a:ext cx="2895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tr-TR" sz="2000" b="1">
                <a:solidFill>
                  <a:srgbClr val="A50021"/>
                </a:solidFill>
                <a:latin typeface="Times New Roman" panose="02020603050405020304" pitchFamily="18" charset="0"/>
              </a:rPr>
              <a:t>Doğru tanımlama. Problem yok.</a:t>
            </a:r>
            <a:endParaRPr lang="en-US" altLang="tr-TR" sz="2400" b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7366" name="Object 28">
            <a:extLst>
              <a:ext uri="{FF2B5EF4-FFF2-40B4-BE49-F238E27FC236}">
                <a16:creationId xmlns:a16="http://schemas.microsoft.com/office/drawing/2014/main" id="{7E7C7265-18C3-C385-759C-0F88D1B2B1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365625"/>
          <a:ext cx="18002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600" imgH="254000" progId="Equation.DSMT4">
                  <p:embed/>
                </p:oleObj>
              </mc:Choice>
              <mc:Fallback>
                <p:oleObj name="Equation" r:id="rId9" imgW="1244600" imgH="254000" progId="Equation.DSMT4">
                  <p:embed/>
                  <p:pic>
                    <p:nvPicPr>
                      <p:cNvPr id="57366" name="Object 28">
                        <a:extLst>
                          <a:ext uri="{FF2B5EF4-FFF2-40B4-BE49-F238E27FC236}">
                            <a16:creationId xmlns:a16="http://schemas.microsoft.com/office/drawing/2014/main" id="{7E7C7265-18C3-C385-759C-0F88D1B2B1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365625"/>
                        <a:ext cx="1800225" cy="3667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3 Slayt Numarası Yer Tutucusu">
            <a:extLst>
              <a:ext uri="{FF2B5EF4-FFF2-40B4-BE49-F238E27FC236}">
                <a16:creationId xmlns:a16="http://schemas.microsoft.com/office/drawing/2014/main" id="{5354417E-3054-EA6F-D1B9-A697FCAD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09CC04-292A-45AF-B659-139DA5AE7BFA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tr-TR" altLang="tr-TR" sz="14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BB184440-5BC4-208D-AD77-E33B5CC42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09600"/>
            <a:ext cx="86106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59396" name="Line 3">
            <a:extLst>
              <a:ext uri="{FF2B5EF4-FFF2-40B4-BE49-F238E27FC236}">
                <a16:creationId xmlns:a16="http://schemas.microsoft.com/office/drawing/2014/main" id="{3E3C9D03-7CFF-0EC5-7D78-E094C635E5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295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9397" name="Line 4">
            <a:extLst>
              <a:ext uri="{FF2B5EF4-FFF2-40B4-BE49-F238E27FC236}">
                <a16:creationId xmlns:a16="http://schemas.microsoft.com/office/drawing/2014/main" id="{5A6A9C13-10EF-EDA3-9080-EB1209FA8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2438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9398" name="Line 6">
            <a:extLst>
              <a:ext uri="{FF2B5EF4-FFF2-40B4-BE49-F238E27FC236}">
                <a16:creationId xmlns:a16="http://schemas.microsoft.com/office/drawing/2014/main" id="{0E70AE0A-015A-4BB4-5075-214F1A50A32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657600"/>
            <a:ext cx="785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9399" name="Line 7">
            <a:extLst>
              <a:ext uri="{FF2B5EF4-FFF2-40B4-BE49-F238E27FC236}">
                <a16:creationId xmlns:a16="http://schemas.microsoft.com/office/drawing/2014/main" id="{86256A12-2E21-5E2C-05CF-6D24340E7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2954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9400" name="Line 8">
            <a:extLst>
              <a:ext uri="{FF2B5EF4-FFF2-40B4-BE49-F238E27FC236}">
                <a16:creationId xmlns:a16="http://schemas.microsoft.com/office/drawing/2014/main" id="{71D84606-884B-6794-47E4-783B9920D2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905000"/>
            <a:ext cx="6024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9401" name="Line 9">
            <a:extLst>
              <a:ext uri="{FF2B5EF4-FFF2-40B4-BE49-F238E27FC236}">
                <a16:creationId xmlns:a16="http://schemas.microsoft.com/office/drawing/2014/main" id="{A947E2FF-28FA-6FAC-3029-EE226F37A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4384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59402" name="Line 11">
            <a:extLst>
              <a:ext uri="{FF2B5EF4-FFF2-40B4-BE49-F238E27FC236}">
                <a16:creationId xmlns:a16="http://schemas.microsoft.com/office/drawing/2014/main" id="{E5C37242-DC0F-9291-DC46-A8D25174E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9050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graphicFrame>
        <p:nvGraphicFramePr>
          <p:cNvPr id="59403" name="Object 13">
            <a:extLst>
              <a:ext uri="{FF2B5EF4-FFF2-40B4-BE49-F238E27FC236}">
                <a16:creationId xmlns:a16="http://schemas.microsoft.com/office/drawing/2014/main" id="{0F46F350-90C4-E6E0-F969-2116EB200C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1974850"/>
          <a:ext cx="325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51200" imgH="381000" progId="Equation.3">
                  <p:embed/>
                </p:oleObj>
              </mc:Choice>
              <mc:Fallback>
                <p:oleObj name="Equation" r:id="rId3" imgW="3251200" imgH="381000" progId="Equation.3">
                  <p:embed/>
                  <p:pic>
                    <p:nvPicPr>
                      <p:cNvPr id="59403" name="Object 13">
                        <a:extLst>
                          <a:ext uri="{FF2B5EF4-FFF2-40B4-BE49-F238E27FC236}">
                            <a16:creationId xmlns:a16="http://schemas.microsoft.com/office/drawing/2014/main" id="{0F46F350-90C4-E6E0-F969-2116EB200C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974850"/>
                        <a:ext cx="3251200" cy="381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4" name="Object 14">
            <a:extLst>
              <a:ext uri="{FF2B5EF4-FFF2-40B4-BE49-F238E27FC236}">
                <a16:creationId xmlns:a16="http://schemas.microsoft.com/office/drawing/2014/main" id="{BE199A3C-CED2-702A-62DB-4F9FF3FCB9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981200"/>
          <a:ext cx="2286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6000" imgH="368300" progId="Equation.3">
                  <p:embed/>
                </p:oleObj>
              </mc:Choice>
              <mc:Fallback>
                <p:oleObj name="Equation" r:id="rId5" imgW="2286000" imgH="368300" progId="Equation.3">
                  <p:embed/>
                  <p:pic>
                    <p:nvPicPr>
                      <p:cNvPr id="59404" name="Object 14">
                        <a:extLst>
                          <a:ext uri="{FF2B5EF4-FFF2-40B4-BE49-F238E27FC236}">
                            <a16:creationId xmlns:a16="http://schemas.microsoft.com/office/drawing/2014/main" id="{BE199A3C-CED2-702A-62DB-4F9FF3FCB9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981200"/>
                        <a:ext cx="2286000" cy="3683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5" name="Object 16">
            <a:extLst>
              <a:ext uri="{FF2B5EF4-FFF2-40B4-BE49-F238E27FC236}">
                <a16:creationId xmlns:a16="http://schemas.microsoft.com/office/drawing/2014/main" id="{5579C8F5-6D5D-25D9-0F75-36DD282B20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870200"/>
          <a:ext cx="167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76400" imgH="419100" progId="Equation.3">
                  <p:embed/>
                </p:oleObj>
              </mc:Choice>
              <mc:Fallback>
                <p:oleObj name="Equation" r:id="rId7" imgW="1676400" imgH="419100" progId="Equation.3">
                  <p:embed/>
                  <p:pic>
                    <p:nvPicPr>
                      <p:cNvPr id="59405" name="Object 16">
                        <a:extLst>
                          <a:ext uri="{FF2B5EF4-FFF2-40B4-BE49-F238E27FC236}">
                            <a16:creationId xmlns:a16="http://schemas.microsoft.com/office/drawing/2014/main" id="{5579C8F5-6D5D-25D9-0F75-36DD282B20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70200"/>
                        <a:ext cx="1676400" cy="4191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6" name="Text Box 17">
            <a:extLst>
              <a:ext uri="{FF2B5EF4-FFF2-40B4-BE49-F238E27FC236}">
                <a16:creationId xmlns:a16="http://schemas.microsoft.com/office/drawing/2014/main" id="{120132DD-24CC-CC66-A0B1-DFDE8BD20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sp>
        <p:nvSpPr>
          <p:cNvPr id="59407" name="Text Box 20">
            <a:extLst>
              <a:ext uri="{FF2B5EF4-FFF2-40B4-BE49-F238E27FC236}">
                <a16:creationId xmlns:a16="http://schemas.microsoft.com/office/drawing/2014/main" id="{5D72577F-0E9B-E7CE-2B3E-A0B186AE2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500" b="1"/>
              <a:t>Doğru model, çok açıklayıcılı model iken, tek açıklayıcılı model tahmin etmenin sonuçlarını inceleyeceğiz.</a:t>
            </a:r>
            <a:endParaRPr lang="en-GB" altLang="tr-TR" sz="1500" b="1">
              <a:latin typeface="Times New Roman" panose="02020603050405020304" pitchFamily="18" charset="0"/>
            </a:endParaRPr>
          </a:p>
        </p:txBody>
      </p:sp>
      <p:sp>
        <p:nvSpPr>
          <p:cNvPr id="59408" name="Rectangle 22">
            <a:extLst>
              <a:ext uri="{FF2B5EF4-FFF2-40B4-BE49-F238E27FC236}">
                <a16:creationId xmlns:a16="http://schemas.microsoft.com/office/drawing/2014/main" id="{D53DBF59-AC0E-8BF1-51EA-0C84C8A7E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3427413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59409" name="Text Box 23">
            <a:extLst>
              <a:ext uri="{FF2B5EF4-FFF2-40B4-BE49-F238E27FC236}">
                <a16:creationId xmlns:a16="http://schemas.microsoft.com/office/drawing/2014/main" id="{40909A47-AE8C-26A9-4006-3EFEBB9CA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594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tr-TR" sz="2400" b="1">
                <a:latin typeface="Times New Roman" panose="02020603050405020304" pitchFamily="18" charset="0"/>
              </a:rPr>
              <a:t>Yanlış tanımlamanın sonuçları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9410" name="Text Box 24">
            <a:extLst>
              <a:ext uri="{FF2B5EF4-FFF2-40B4-BE49-F238E27FC236}">
                <a16:creationId xmlns:a16="http://schemas.microsoft.com/office/drawing/2014/main" id="{30D981F4-0E32-59B4-9C85-F7365EC62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1422400"/>
            <a:ext cx="1981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2400" b="1" i="1">
                <a:latin typeface="Times New Roman" panose="02020603050405020304" pitchFamily="18" charset="0"/>
              </a:rPr>
              <a:t>Doğru model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9411" name="Text Box 25">
            <a:extLst>
              <a:ext uri="{FF2B5EF4-FFF2-40B4-BE49-F238E27FC236}">
                <a16:creationId xmlns:a16="http://schemas.microsoft.com/office/drawing/2014/main" id="{E5FB6CB8-C71A-B829-E907-5152F99891F8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433388" y="2554288"/>
            <a:ext cx="36512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2400" b="1" i="1">
                <a:latin typeface="Times New Roman" panose="02020603050405020304" pitchFamily="18" charset="0"/>
              </a:rPr>
              <a:t>Tahmini model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9412" name="Text Box 26">
            <a:extLst>
              <a:ext uri="{FF2B5EF4-FFF2-40B4-BE49-F238E27FC236}">
                <a16:creationId xmlns:a16="http://schemas.microsoft.com/office/drawing/2014/main" id="{105F06FC-0B5C-7160-9BC8-0F63099BE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743200"/>
            <a:ext cx="2590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tr-TR" sz="2000" b="1">
                <a:latin typeface="Times New Roman" panose="02020603050405020304" pitchFamily="18" charset="0"/>
              </a:rPr>
              <a:t>Doğru tanımlama. Problem yok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59413" name="Text Box 27">
            <a:extLst>
              <a:ext uri="{FF2B5EF4-FFF2-40B4-BE49-F238E27FC236}">
                <a16:creationId xmlns:a16="http://schemas.microsoft.com/office/drawing/2014/main" id="{8EDF3C29-56FD-C363-C3D1-F1E22D5A8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295775"/>
            <a:ext cx="2895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tr-TR" sz="2000" b="1">
                <a:latin typeface="Times New Roman" panose="02020603050405020304" pitchFamily="18" charset="0"/>
              </a:rPr>
              <a:t>Doğru tanımlama. Problem yok.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59414" name="Object 28">
            <a:extLst>
              <a:ext uri="{FF2B5EF4-FFF2-40B4-BE49-F238E27FC236}">
                <a16:creationId xmlns:a16="http://schemas.microsoft.com/office/drawing/2014/main" id="{C2731185-3565-43C6-1E3F-6A9A801628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365625"/>
          <a:ext cx="18002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600" imgH="254000" progId="Equation.DSMT4">
                  <p:embed/>
                </p:oleObj>
              </mc:Choice>
              <mc:Fallback>
                <p:oleObj name="Equation" r:id="rId9" imgW="1244600" imgH="254000" progId="Equation.DSMT4">
                  <p:embed/>
                  <p:pic>
                    <p:nvPicPr>
                      <p:cNvPr id="59414" name="Object 28">
                        <a:extLst>
                          <a:ext uri="{FF2B5EF4-FFF2-40B4-BE49-F238E27FC236}">
                            <a16:creationId xmlns:a16="http://schemas.microsoft.com/office/drawing/2014/main" id="{C2731185-3565-43C6-1E3F-6A9A801628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365625"/>
                        <a:ext cx="1800225" cy="3667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3 Slayt Numarası Yer Tutucusu">
            <a:extLst>
              <a:ext uri="{FF2B5EF4-FFF2-40B4-BE49-F238E27FC236}">
                <a16:creationId xmlns:a16="http://schemas.microsoft.com/office/drawing/2014/main" id="{C80FD26E-A617-59BB-E273-D530D501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EEBDFB-C2A4-4528-9F9F-8EC6ED84E500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tr-TR" altLang="tr-TR" sz="14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D6E962D8-0F83-EBB2-0447-11A0FA55D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09600"/>
            <a:ext cx="86106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61444" name="Line 3">
            <a:extLst>
              <a:ext uri="{FF2B5EF4-FFF2-40B4-BE49-F238E27FC236}">
                <a16:creationId xmlns:a16="http://schemas.microsoft.com/office/drawing/2014/main" id="{302F4C02-4DA2-6FE4-D78B-3422EB98A0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295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61445" name="Line 4">
            <a:extLst>
              <a:ext uri="{FF2B5EF4-FFF2-40B4-BE49-F238E27FC236}">
                <a16:creationId xmlns:a16="http://schemas.microsoft.com/office/drawing/2014/main" id="{B23D9B61-7B8C-981A-F86E-D50CD23A7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2438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61446" name="Line 6">
            <a:extLst>
              <a:ext uri="{FF2B5EF4-FFF2-40B4-BE49-F238E27FC236}">
                <a16:creationId xmlns:a16="http://schemas.microsoft.com/office/drawing/2014/main" id="{E6300408-1390-39B4-BDD3-A9B6A92BE9C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657600"/>
            <a:ext cx="785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61447" name="Line 7">
            <a:extLst>
              <a:ext uri="{FF2B5EF4-FFF2-40B4-BE49-F238E27FC236}">
                <a16:creationId xmlns:a16="http://schemas.microsoft.com/office/drawing/2014/main" id="{9F824462-A64B-E34A-B854-61A3DAB96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2954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61448" name="Line 8">
            <a:extLst>
              <a:ext uri="{FF2B5EF4-FFF2-40B4-BE49-F238E27FC236}">
                <a16:creationId xmlns:a16="http://schemas.microsoft.com/office/drawing/2014/main" id="{A8DE98E4-2479-CDF3-381B-09A6F9D83C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905000"/>
            <a:ext cx="6024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61449" name="Line 9">
            <a:extLst>
              <a:ext uri="{FF2B5EF4-FFF2-40B4-BE49-F238E27FC236}">
                <a16:creationId xmlns:a16="http://schemas.microsoft.com/office/drawing/2014/main" id="{397C8F16-67A0-64E0-A110-0C93DD6FA36D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4384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61450" name="Line 11">
            <a:extLst>
              <a:ext uri="{FF2B5EF4-FFF2-40B4-BE49-F238E27FC236}">
                <a16:creationId xmlns:a16="http://schemas.microsoft.com/office/drawing/2014/main" id="{483770CD-E46F-1DDA-20A4-E880DFD267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9050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graphicFrame>
        <p:nvGraphicFramePr>
          <p:cNvPr id="61451" name="Object 13">
            <a:extLst>
              <a:ext uri="{FF2B5EF4-FFF2-40B4-BE49-F238E27FC236}">
                <a16:creationId xmlns:a16="http://schemas.microsoft.com/office/drawing/2014/main" id="{52F0FC31-CA1E-EF41-E684-6B6897D2ED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1974850"/>
          <a:ext cx="325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51200" imgH="381000" progId="Equation.3">
                  <p:embed/>
                </p:oleObj>
              </mc:Choice>
              <mc:Fallback>
                <p:oleObj name="Equation" r:id="rId3" imgW="3251200" imgH="381000" progId="Equation.3">
                  <p:embed/>
                  <p:pic>
                    <p:nvPicPr>
                      <p:cNvPr id="61451" name="Object 13">
                        <a:extLst>
                          <a:ext uri="{FF2B5EF4-FFF2-40B4-BE49-F238E27FC236}">
                            <a16:creationId xmlns:a16="http://schemas.microsoft.com/office/drawing/2014/main" id="{52F0FC31-CA1E-EF41-E684-6B6897D2ED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974850"/>
                        <a:ext cx="3251200" cy="381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Object 14">
            <a:extLst>
              <a:ext uri="{FF2B5EF4-FFF2-40B4-BE49-F238E27FC236}">
                <a16:creationId xmlns:a16="http://schemas.microsoft.com/office/drawing/2014/main" id="{872A6CFE-66C2-A7BB-4334-ED1BE7B6F4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981200"/>
          <a:ext cx="2286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6000" imgH="368300" progId="Equation.3">
                  <p:embed/>
                </p:oleObj>
              </mc:Choice>
              <mc:Fallback>
                <p:oleObj name="Equation" r:id="rId5" imgW="2286000" imgH="368300" progId="Equation.3">
                  <p:embed/>
                  <p:pic>
                    <p:nvPicPr>
                      <p:cNvPr id="61452" name="Object 14">
                        <a:extLst>
                          <a:ext uri="{FF2B5EF4-FFF2-40B4-BE49-F238E27FC236}">
                            <a16:creationId xmlns:a16="http://schemas.microsoft.com/office/drawing/2014/main" id="{872A6CFE-66C2-A7BB-4334-ED1BE7B6F4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981200"/>
                        <a:ext cx="2286000" cy="3683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3" name="Object 16">
            <a:extLst>
              <a:ext uri="{FF2B5EF4-FFF2-40B4-BE49-F238E27FC236}">
                <a16:creationId xmlns:a16="http://schemas.microsoft.com/office/drawing/2014/main" id="{05DBF7E9-8F3D-B67F-0FC8-4700507886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870200"/>
          <a:ext cx="167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76400" imgH="419100" progId="Equation.3">
                  <p:embed/>
                </p:oleObj>
              </mc:Choice>
              <mc:Fallback>
                <p:oleObj name="Equation" r:id="rId7" imgW="1676400" imgH="419100" progId="Equation.3">
                  <p:embed/>
                  <p:pic>
                    <p:nvPicPr>
                      <p:cNvPr id="61453" name="Object 16">
                        <a:extLst>
                          <a:ext uri="{FF2B5EF4-FFF2-40B4-BE49-F238E27FC236}">
                            <a16:creationId xmlns:a16="http://schemas.microsoft.com/office/drawing/2014/main" id="{05DBF7E9-8F3D-B67F-0FC8-4700507886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70200"/>
                        <a:ext cx="1676400" cy="4191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4" name="Text Box 17">
            <a:extLst>
              <a:ext uri="{FF2B5EF4-FFF2-40B4-BE49-F238E27FC236}">
                <a16:creationId xmlns:a16="http://schemas.microsoft.com/office/drawing/2014/main" id="{0E96A393-70E7-A86B-56E7-FF7E00A69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sp>
        <p:nvSpPr>
          <p:cNvPr id="61455" name="Text Box 20">
            <a:extLst>
              <a:ext uri="{FF2B5EF4-FFF2-40B4-BE49-F238E27FC236}">
                <a16:creationId xmlns:a16="http://schemas.microsoft.com/office/drawing/2014/main" id="{E12310F5-9C0E-C202-33AA-0F4BE29AC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500" b="1"/>
              <a:t>Daha sonra da doğru model, tek açıklayıcılı model iken, çok açıklayıcılı model tahmin etmenin sonuçlarını inceleyeceğiz. </a:t>
            </a:r>
            <a:endParaRPr lang="en-GB" altLang="tr-TR" sz="1500" b="1"/>
          </a:p>
        </p:txBody>
      </p:sp>
      <p:sp>
        <p:nvSpPr>
          <p:cNvPr id="61456" name="Rectangle 22">
            <a:extLst>
              <a:ext uri="{FF2B5EF4-FFF2-40B4-BE49-F238E27FC236}">
                <a16:creationId xmlns:a16="http://schemas.microsoft.com/office/drawing/2014/main" id="{3A07E3E9-E0FA-47FA-7B76-9757BAE79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657600"/>
            <a:ext cx="2590800" cy="1905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61457" name="Text Box 23">
            <a:extLst>
              <a:ext uri="{FF2B5EF4-FFF2-40B4-BE49-F238E27FC236}">
                <a16:creationId xmlns:a16="http://schemas.microsoft.com/office/drawing/2014/main" id="{6FC0F1B3-C537-51BC-BA2C-51E3BF1F9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594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tr-TR" sz="2400" b="1">
                <a:latin typeface="Times New Roman" panose="02020603050405020304" pitchFamily="18" charset="0"/>
              </a:rPr>
              <a:t>Yanlış tanımlamanın sonuçları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61458" name="Text Box 24">
            <a:extLst>
              <a:ext uri="{FF2B5EF4-FFF2-40B4-BE49-F238E27FC236}">
                <a16:creationId xmlns:a16="http://schemas.microsoft.com/office/drawing/2014/main" id="{ECFD6D7D-12DC-1CFE-FF90-29A55694C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1422400"/>
            <a:ext cx="1981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2400" b="1" i="1">
                <a:latin typeface="Times New Roman" panose="02020603050405020304" pitchFamily="18" charset="0"/>
              </a:rPr>
              <a:t>Doğru model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61459" name="Text Box 25">
            <a:extLst>
              <a:ext uri="{FF2B5EF4-FFF2-40B4-BE49-F238E27FC236}">
                <a16:creationId xmlns:a16="http://schemas.microsoft.com/office/drawing/2014/main" id="{889E3AED-AEB6-C03A-A838-F89020DEBE7E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433388" y="2554288"/>
            <a:ext cx="36512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2400" b="1" i="1">
                <a:latin typeface="Times New Roman" panose="02020603050405020304" pitchFamily="18" charset="0"/>
              </a:rPr>
              <a:t>Tahmini model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61460" name="Text Box 26">
            <a:extLst>
              <a:ext uri="{FF2B5EF4-FFF2-40B4-BE49-F238E27FC236}">
                <a16:creationId xmlns:a16="http://schemas.microsoft.com/office/drawing/2014/main" id="{1F109FE2-342F-1C84-DCF7-2C7F273B5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743200"/>
            <a:ext cx="2590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tr-TR" sz="2000" b="1">
                <a:latin typeface="Times New Roman" panose="02020603050405020304" pitchFamily="18" charset="0"/>
              </a:rPr>
              <a:t>Doğru tanımlama. Problem yok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61461" name="Text Box 27">
            <a:extLst>
              <a:ext uri="{FF2B5EF4-FFF2-40B4-BE49-F238E27FC236}">
                <a16:creationId xmlns:a16="http://schemas.microsoft.com/office/drawing/2014/main" id="{661F9A49-1AF4-6736-C575-05E7A0F76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295775"/>
            <a:ext cx="2895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tr-TR" sz="2000" b="1">
                <a:latin typeface="Times New Roman" panose="02020603050405020304" pitchFamily="18" charset="0"/>
              </a:rPr>
              <a:t>Doğru tanımlama. Problem yok.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3 Slayt Numarası Yer Tutucusu">
            <a:extLst>
              <a:ext uri="{FF2B5EF4-FFF2-40B4-BE49-F238E27FC236}">
                <a16:creationId xmlns:a16="http://schemas.microsoft.com/office/drawing/2014/main" id="{4197D94F-85FF-A16F-8185-9BEBBD65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99A778-0CB6-4C2A-8FD2-1129A58FF6C2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tr-TR" altLang="tr-TR" sz="14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88DCC95D-492B-3477-7C00-E4FC25D7D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09600"/>
            <a:ext cx="86106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63492" name="Line 3">
            <a:extLst>
              <a:ext uri="{FF2B5EF4-FFF2-40B4-BE49-F238E27FC236}">
                <a16:creationId xmlns:a16="http://schemas.microsoft.com/office/drawing/2014/main" id="{AC58D4C1-2D22-20B0-736B-91AFFFFA65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295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63493" name="Line 4">
            <a:extLst>
              <a:ext uri="{FF2B5EF4-FFF2-40B4-BE49-F238E27FC236}">
                <a16:creationId xmlns:a16="http://schemas.microsoft.com/office/drawing/2014/main" id="{8E3BFF51-472B-AC15-A974-80666EB049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2438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63494" name="Line 6">
            <a:extLst>
              <a:ext uri="{FF2B5EF4-FFF2-40B4-BE49-F238E27FC236}">
                <a16:creationId xmlns:a16="http://schemas.microsoft.com/office/drawing/2014/main" id="{47C9FF20-E430-7F83-5B14-798FB90AB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657600"/>
            <a:ext cx="785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63495" name="Line 7">
            <a:extLst>
              <a:ext uri="{FF2B5EF4-FFF2-40B4-BE49-F238E27FC236}">
                <a16:creationId xmlns:a16="http://schemas.microsoft.com/office/drawing/2014/main" id="{5FEC9DA8-6FC9-02E9-C0BA-8DF05C700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2954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63496" name="Line 8">
            <a:extLst>
              <a:ext uri="{FF2B5EF4-FFF2-40B4-BE49-F238E27FC236}">
                <a16:creationId xmlns:a16="http://schemas.microsoft.com/office/drawing/2014/main" id="{B116ACD8-2052-CEAE-9071-919D703F6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905000"/>
            <a:ext cx="6024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63497" name="Line 9">
            <a:extLst>
              <a:ext uri="{FF2B5EF4-FFF2-40B4-BE49-F238E27FC236}">
                <a16:creationId xmlns:a16="http://schemas.microsoft.com/office/drawing/2014/main" id="{76EE66BE-1687-FB7F-9D39-33A6D8AB3D8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438400"/>
            <a:ext cx="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63498" name="Line 11">
            <a:extLst>
              <a:ext uri="{FF2B5EF4-FFF2-40B4-BE49-F238E27FC236}">
                <a16:creationId xmlns:a16="http://schemas.microsoft.com/office/drawing/2014/main" id="{E1215641-3CCA-1FC3-FCAF-B0FC2E4951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9050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tr-TR"/>
          </a:p>
        </p:txBody>
      </p:sp>
      <p:graphicFrame>
        <p:nvGraphicFramePr>
          <p:cNvPr id="63499" name="Object 13">
            <a:extLst>
              <a:ext uri="{FF2B5EF4-FFF2-40B4-BE49-F238E27FC236}">
                <a16:creationId xmlns:a16="http://schemas.microsoft.com/office/drawing/2014/main" id="{4B5ED6F7-E3D7-C9AC-D268-9616CEB34C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1974850"/>
          <a:ext cx="325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51200" imgH="381000" progId="Equation.3">
                  <p:embed/>
                </p:oleObj>
              </mc:Choice>
              <mc:Fallback>
                <p:oleObj name="Equation" r:id="rId3" imgW="3251200" imgH="381000" progId="Equation.3">
                  <p:embed/>
                  <p:pic>
                    <p:nvPicPr>
                      <p:cNvPr id="63499" name="Object 13">
                        <a:extLst>
                          <a:ext uri="{FF2B5EF4-FFF2-40B4-BE49-F238E27FC236}">
                            <a16:creationId xmlns:a16="http://schemas.microsoft.com/office/drawing/2014/main" id="{4B5ED6F7-E3D7-C9AC-D268-9616CEB34C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974850"/>
                        <a:ext cx="3251200" cy="381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0" name="Object 14">
            <a:extLst>
              <a:ext uri="{FF2B5EF4-FFF2-40B4-BE49-F238E27FC236}">
                <a16:creationId xmlns:a16="http://schemas.microsoft.com/office/drawing/2014/main" id="{890B7A81-E72D-D2E5-9F64-5F42432D90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981200"/>
          <a:ext cx="2286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6000" imgH="368300" progId="Equation.3">
                  <p:embed/>
                </p:oleObj>
              </mc:Choice>
              <mc:Fallback>
                <p:oleObj name="Equation" r:id="rId5" imgW="2286000" imgH="368300" progId="Equation.3">
                  <p:embed/>
                  <p:pic>
                    <p:nvPicPr>
                      <p:cNvPr id="63500" name="Object 14">
                        <a:extLst>
                          <a:ext uri="{FF2B5EF4-FFF2-40B4-BE49-F238E27FC236}">
                            <a16:creationId xmlns:a16="http://schemas.microsoft.com/office/drawing/2014/main" id="{890B7A81-E72D-D2E5-9F64-5F42432D90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981200"/>
                        <a:ext cx="2286000" cy="3683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1" name="Object 16">
            <a:extLst>
              <a:ext uri="{FF2B5EF4-FFF2-40B4-BE49-F238E27FC236}">
                <a16:creationId xmlns:a16="http://schemas.microsoft.com/office/drawing/2014/main" id="{D6E56B54-FE83-538A-4CA3-B2BCDB333A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870200"/>
          <a:ext cx="167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76400" imgH="419100" progId="Equation.3">
                  <p:embed/>
                </p:oleObj>
              </mc:Choice>
              <mc:Fallback>
                <p:oleObj name="Equation" r:id="rId7" imgW="1676400" imgH="419100" progId="Equation.3">
                  <p:embed/>
                  <p:pic>
                    <p:nvPicPr>
                      <p:cNvPr id="63501" name="Object 16">
                        <a:extLst>
                          <a:ext uri="{FF2B5EF4-FFF2-40B4-BE49-F238E27FC236}">
                            <a16:creationId xmlns:a16="http://schemas.microsoft.com/office/drawing/2014/main" id="{D6E56B54-FE83-538A-4CA3-B2BCDB333A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70200"/>
                        <a:ext cx="1676400" cy="4191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2" name="Text Box 17">
            <a:extLst>
              <a:ext uri="{FF2B5EF4-FFF2-40B4-BE49-F238E27FC236}">
                <a16:creationId xmlns:a16="http://schemas.microsoft.com/office/drawing/2014/main" id="{1A63752A-7A9E-EC34-1024-83F585F99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sp>
        <p:nvSpPr>
          <p:cNvPr id="63503" name="Text Box 18">
            <a:extLst>
              <a:ext uri="{FF2B5EF4-FFF2-40B4-BE49-F238E27FC236}">
                <a16:creationId xmlns:a16="http://schemas.microsoft.com/office/drawing/2014/main" id="{F99B0B60-132B-BF25-15A1-6AC37F0BD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500" b="1"/>
              <a:t>Gerekli bir açıklayıcı değişkenin modele alınmaması, modeldeki tahmincilerin sapmalı ve standart hatalarının geçersiz olmasına yol açacaktır.</a:t>
            </a:r>
            <a:endParaRPr lang="en-GB" altLang="tr-TR" sz="1500" b="1">
              <a:latin typeface="Times New Roman" panose="02020603050405020304" pitchFamily="18" charset="0"/>
            </a:endParaRPr>
          </a:p>
        </p:txBody>
      </p:sp>
      <p:sp>
        <p:nvSpPr>
          <p:cNvPr id="63504" name="Rectangle 22">
            <a:extLst>
              <a:ext uri="{FF2B5EF4-FFF2-40B4-BE49-F238E27FC236}">
                <a16:creationId xmlns:a16="http://schemas.microsoft.com/office/drawing/2014/main" id="{86D580F0-8F03-4EAB-222B-DAD9C4A3B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438400"/>
            <a:ext cx="3427413" cy="1219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63505" name="Text Box 24">
            <a:extLst>
              <a:ext uri="{FF2B5EF4-FFF2-40B4-BE49-F238E27FC236}">
                <a16:creationId xmlns:a16="http://schemas.microsoft.com/office/drawing/2014/main" id="{F01E56F2-129A-5000-C058-F56674373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0"/>
            <a:ext cx="594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tr-TR" altLang="tr-TR" sz="2400" b="1">
                <a:latin typeface="Times New Roman" panose="02020603050405020304" pitchFamily="18" charset="0"/>
              </a:rPr>
              <a:t>Yanlış tanımlamanın sonuçları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63506" name="Text Box 25">
            <a:extLst>
              <a:ext uri="{FF2B5EF4-FFF2-40B4-BE49-F238E27FC236}">
                <a16:creationId xmlns:a16="http://schemas.microsoft.com/office/drawing/2014/main" id="{D0BDB8C4-D1C7-9D1A-22B6-D37647403BF6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433388" y="2554288"/>
            <a:ext cx="36512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2400" b="1" i="1">
                <a:latin typeface="Times New Roman" panose="02020603050405020304" pitchFamily="18" charset="0"/>
              </a:rPr>
              <a:t>Tahmini model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63507" name="Text Box 26">
            <a:extLst>
              <a:ext uri="{FF2B5EF4-FFF2-40B4-BE49-F238E27FC236}">
                <a16:creationId xmlns:a16="http://schemas.microsoft.com/office/drawing/2014/main" id="{FF9B68A0-CC92-83BE-12C0-5F120790B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743200"/>
            <a:ext cx="2590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tr-TR" sz="2000" b="1">
                <a:latin typeface="Times New Roman" panose="02020603050405020304" pitchFamily="18" charset="0"/>
              </a:rPr>
              <a:t>Doğru tanımlama. Problem yok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63508" name="Text Box 27">
            <a:extLst>
              <a:ext uri="{FF2B5EF4-FFF2-40B4-BE49-F238E27FC236}">
                <a16:creationId xmlns:a16="http://schemas.microsoft.com/office/drawing/2014/main" id="{E303DE0A-0C31-8418-81CF-9207AA9AF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295775"/>
            <a:ext cx="2895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tr-TR" sz="2000" b="1">
                <a:latin typeface="Times New Roman" panose="02020603050405020304" pitchFamily="18" charset="0"/>
              </a:rPr>
              <a:t>Doğru tanımlama. Problem yok.</a:t>
            </a:r>
            <a:endParaRPr lang="en-US" altLang="tr-TR" sz="2400" b="1">
              <a:latin typeface="Times New Roman" panose="02020603050405020304" pitchFamily="18" charset="0"/>
            </a:endParaRPr>
          </a:p>
        </p:txBody>
      </p:sp>
      <p:sp>
        <p:nvSpPr>
          <p:cNvPr id="63509" name="Text Box 28">
            <a:extLst>
              <a:ext uri="{FF2B5EF4-FFF2-40B4-BE49-F238E27FC236}">
                <a16:creationId xmlns:a16="http://schemas.microsoft.com/office/drawing/2014/main" id="{B0DB5A05-BD48-51FA-D05F-D8C908395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590800"/>
            <a:ext cx="2895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tr-TR" sz="2000" b="1">
                <a:solidFill>
                  <a:srgbClr val="A50021"/>
                </a:solidFill>
                <a:latin typeface="Times New Roman" panose="02020603050405020304" pitchFamily="18" charset="0"/>
              </a:rPr>
              <a:t>Tahminciler sapmalı, standart hatalar geçersiz.</a:t>
            </a:r>
            <a:endParaRPr lang="en-US" altLang="tr-TR" sz="2000" b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3510" name="Object 29">
            <a:extLst>
              <a:ext uri="{FF2B5EF4-FFF2-40B4-BE49-F238E27FC236}">
                <a16:creationId xmlns:a16="http://schemas.microsoft.com/office/drawing/2014/main" id="{19988501-1B67-A1B4-6749-26960E8FC3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365625"/>
          <a:ext cx="18002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600" imgH="254000" progId="Equation.DSMT4">
                  <p:embed/>
                </p:oleObj>
              </mc:Choice>
              <mc:Fallback>
                <p:oleObj name="Equation" r:id="rId9" imgW="1244600" imgH="254000" progId="Equation.DSMT4">
                  <p:embed/>
                  <p:pic>
                    <p:nvPicPr>
                      <p:cNvPr id="63510" name="Object 29">
                        <a:extLst>
                          <a:ext uri="{FF2B5EF4-FFF2-40B4-BE49-F238E27FC236}">
                            <a16:creationId xmlns:a16="http://schemas.microsoft.com/office/drawing/2014/main" id="{19988501-1B67-A1B4-6749-26960E8FC3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365625"/>
                        <a:ext cx="1800225" cy="3667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11" name="Text Box 28">
            <a:extLst>
              <a:ext uri="{FF2B5EF4-FFF2-40B4-BE49-F238E27FC236}">
                <a16:creationId xmlns:a16="http://schemas.microsoft.com/office/drawing/2014/main" id="{12569CDF-E8E8-9163-7804-C30076047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076700"/>
            <a:ext cx="20891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tr-TR" altLang="tr-TR" sz="2000" b="1">
                <a:solidFill>
                  <a:srgbClr val="A50021"/>
                </a:solidFill>
                <a:latin typeface="Times New Roman" panose="02020603050405020304" pitchFamily="18" charset="0"/>
              </a:rPr>
              <a:t>Tahminciler sapmasızdır, fakat etkin değildir.</a:t>
            </a:r>
            <a:endParaRPr lang="en-US" altLang="tr-TR" sz="2000" b="1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3 Slayt Numarası Yer Tutucusu">
            <a:extLst>
              <a:ext uri="{FF2B5EF4-FFF2-40B4-BE49-F238E27FC236}">
                <a16:creationId xmlns:a16="http://schemas.microsoft.com/office/drawing/2014/main" id="{C874A94B-34AA-7FA8-8691-3C986F6F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0173C8-4CF4-4775-A5B5-BFCC51746C46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tr-TR" altLang="tr-TR" sz="1400"/>
          </a:p>
        </p:txBody>
      </p:sp>
      <p:sp>
        <p:nvSpPr>
          <p:cNvPr id="73731" name="Rectangle 11">
            <a:extLst>
              <a:ext uri="{FF2B5EF4-FFF2-40B4-BE49-F238E27FC236}">
                <a16:creationId xmlns:a16="http://schemas.microsoft.com/office/drawing/2014/main" id="{B5BF7568-FA67-1304-0E3A-D13A3219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766763"/>
            <a:ext cx="1919288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73732" name="Text Box 2">
            <a:extLst>
              <a:ext uri="{FF2B5EF4-FFF2-40B4-BE49-F238E27FC236}">
                <a16:creationId xmlns:a16="http://schemas.microsoft.com/office/drawing/2014/main" id="{9B126DE8-1EA4-2DEC-BD43-840FF4705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455613"/>
            <a:ext cx="8532813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94615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46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46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tr-TR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solidFill>
                  <a:srgbClr val="CCCC00"/>
                </a:solidFill>
                <a:latin typeface="Courier New" panose="02070309020205020404" pitchFamily="49" charset="0"/>
              </a:rPr>
              <a:t>. </a:t>
            </a:r>
            <a:r>
              <a:rPr lang="en-GB" altLang="tr-TR" sz="1400" b="1">
                <a:solidFill>
                  <a:srgbClr val="A50021"/>
                </a:solidFill>
                <a:latin typeface="Courier New" panose="02070309020205020404" pitchFamily="49" charset="0"/>
              </a:rPr>
              <a:t>reg S ASVABC SM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solidFill>
                <a:srgbClr val="A50021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F(  2,   567) =  156.81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Model |   1230.2039     2  615.101949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Residual |  2224.04347   567  3.92247526               R-squared     =  0.3561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Adj R-squared =  0.3539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Total |  3454.24737   569  6.07073351               Root MSE      =  1.9805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 S |      Coef.   Std. Err.       t     P&gt;|t|       [95% Conf. Interval]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ASVABC |   .1381062   .0097494     14.166   0.000       .1189567    .1572556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SM |    .154783   .0350728      4.413   0.000       .0858946    .2236715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_cons |   4.791277   .5102431      9.390   0.000        3.78908    5.793475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  <a:endParaRPr lang="en-GB" altLang="tr-TR" sz="1400" b="1"/>
          </a:p>
        </p:txBody>
      </p:sp>
      <p:sp>
        <p:nvSpPr>
          <p:cNvPr id="73733" name="Text Box 5">
            <a:extLst>
              <a:ext uri="{FF2B5EF4-FFF2-40B4-BE49-F238E27FC236}">
                <a16:creationId xmlns:a16="http://schemas.microsoft.com/office/drawing/2014/main" id="{6BB2082D-766F-EAB9-F12D-C07C89918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500" b="1"/>
              <a:t>Örneğimizde eğitim süresi (S), yetenek puanı (ASVABC) ve anne eğitim düzeyine (SM) ilişkilendirilecektir.</a:t>
            </a:r>
            <a:endParaRPr lang="en-GB" altLang="tr-TR" sz="1500" b="1">
              <a:latin typeface="Times New Roman" panose="02020603050405020304" pitchFamily="18" charset="0"/>
            </a:endParaRPr>
          </a:p>
        </p:txBody>
      </p:sp>
      <p:sp>
        <p:nvSpPr>
          <p:cNvPr id="73734" name="Text Box 10">
            <a:extLst>
              <a:ext uri="{FF2B5EF4-FFF2-40B4-BE49-F238E27FC236}">
                <a16:creationId xmlns:a16="http://schemas.microsoft.com/office/drawing/2014/main" id="{47678671-F403-E91C-B844-612E8147E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3 Slayt Numarası Yer Tutucusu">
            <a:extLst>
              <a:ext uri="{FF2B5EF4-FFF2-40B4-BE49-F238E27FC236}">
                <a16:creationId xmlns:a16="http://schemas.microsoft.com/office/drawing/2014/main" id="{6731DA1D-BFE9-A25C-51A9-4CA5B7E71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656B51-1307-4D38-A4FE-1B56C56CC163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tr-TR" altLang="tr-TR" sz="1400"/>
          </a:p>
        </p:txBody>
      </p:sp>
      <p:sp>
        <p:nvSpPr>
          <p:cNvPr id="75779" name="Rectangle 12">
            <a:extLst>
              <a:ext uri="{FF2B5EF4-FFF2-40B4-BE49-F238E27FC236}">
                <a16:creationId xmlns:a16="http://schemas.microsoft.com/office/drawing/2014/main" id="{4C5A8DB9-DC14-B8AE-01FE-A79973D7B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766763"/>
            <a:ext cx="1919288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solidFill>
                <a:srgbClr val="FF9900"/>
              </a:solidFill>
              <a:latin typeface="Verdana" panose="020B0604030504040204" pitchFamily="34" charset="0"/>
            </a:endParaRPr>
          </a:p>
        </p:txBody>
      </p:sp>
      <p:sp>
        <p:nvSpPr>
          <p:cNvPr id="75780" name="Text Box 11">
            <a:extLst>
              <a:ext uri="{FF2B5EF4-FFF2-40B4-BE49-F238E27FC236}">
                <a16:creationId xmlns:a16="http://schemas.microsoft.com/office/drawing/2014/main" id="{8B67C8A9-1CFB-B154-2E36-3F14D5537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765175"/>
            <a:ext cx="8532813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94615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46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46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tr-TR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solidFill>
                  <a:srgbClr val="A50021"/>
                </a:solidFill>
                <a:latin typeface="Courier New" panose="02070309020205020404" pitchFamily="49" charset="0"/>
              </a:rPr>
              <a:t>. reg S ASVABC SM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solidFill>
                <a:srgbClr val="A50021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F(  2,   567) =  156.81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Model |   1230.2039     2  615.101949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Residual |  2224.04347   567  3.92247526               R-squared     =  0.3561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Adj R-squared =  0.3539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Total |  3454.24737   569  6.07073351               Root MSE      =  1.9805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 S |      Coef.   Std. Err.       t     P&gt;|t|       [95% Conf. Interval]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ASVABC |   .1381062   .0097494     14.166   0.000       .1189567    .1572556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SM |    .154783   .0350728      4.413   0.000       .0858946    .2236715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_cons |   4.791277   .5102431      9.390   0.000        3.78908    5.793475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  <a:endParaRPr lang="en-GB" altLang="tr-TR" sz="1400" b="1"/>
          </a:p>
        </p:txBody>
      </p:sp>
      <p:sp>
        <p:nvSpPr>
          <p:cNvPr id="75781" name="Text Box 5">
            <a:extLst>
              <a:ext uri="{FF2B5EF4-FFF2-40B4-BE49-F238E27FC236}">
                <a16:creationId xmlns:a16="http://schemas.microsoft.com/office/drawing/2014/main" id="{9083BB00-106A-B3EE-3126-0D984E823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166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600" b="1"/>
              <a:t>Daha sonra anne eğitim düzeyini (SM)</a:t>
            </a:r>
            <a:r>
              <a:rPr lang="tr-TR" altLang="tr-TR" sz="1600"/>
              <a:t> </a:t>
            </a:r>
            <a:r>
              <a:rPr lang="tr-TR" altLang="tr-TR" sz="1600" b="1"/>
              <a:t>yi modelden çıkararak tahminleyeceğiz.</a:t>
            </a:r>
            <a:endParaRPr lang="en-GB" altLang="tr-TR" sz="1600" b="1"/>
          </a:p>
        </p:txBody>
      </p:sp>
      <p:graphicFrame>
        <p:nvGraphicFramePr>
          <p:cNvPr id="75782" name="Object 7">
            <a:extLst>
              <a:ext uri="{FF2B5EF4-FFF2-40B4-BE49-F238E27FC236}">
                <a16:creationId xmlns:a16="http://schemas.microsoft.com/office/drawing/2014/main" id="{16F3ECBB-22DC-1CD0-6D3C-CA3E35DB3D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3800" y="4643438"/>
          <a:ext cx="421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16400" imgH="381000" progId="Equation.3">
                  <p:embed/>
                </p:oleObj>
              </mc:Choice>
              <mc:Fallback>
                <p:oleObj name="Equation" r:id="rId3" imgW="4216400" imgH="381000" progId="Equation.3">
                  <p:embed/>
                  <p:pic>
                    <p:nvPicPr>
                      <p:cNvPr id="75782" name="Object 7">
                        <a:extLst>
                          <a:ext uri="{FF2B5EF4-FFF2-40B4-BE49-F238E27FC236}">
                            <a16:creationId xmlns:a16="http://schemas.microsoft.com/office/drawing/2014/main" id="{16F3ECBB-22DC-1CD0-6D3C-CA3E35DB3D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4643438"/>
                        <a:ext cx="4216400" cy="381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3" name="Object 8">
            <a:extLst>
              <a:ext uri="{FF2B5EF4-FFF2-40B4-BE49-F238E27FC236}">
                <a16:creationId xmlns:a16="http://schemas.microsoft.com/office/drawing/2014/main" id="{6FFF4288-F279-2017-5CA9-CBB834F622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7900" y="5233988"/>
          <a:ext cx="4648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48200" imgH="787400" progId="Equation.3">
                  <p:embed/>
                </p:oleObj>
              </mc:Choice>
              <mc:Fallback>
                <p:oleObj name="Equation" r:id="rId5" imgW="4648200" imgH="787400" progId="Equation.3">
                  <p:embed/>
                  <p:pic>
                    <p:nvPicPr>
                      <p:cNvPr id="75783" name="Object 8">
                        <a:extLst>
                          <a:ext uri="{FF2B5EF4-FFF2-40B4-BE49-F238E27FC236}">
                            <a16:creationId xmlns:a16="http://schemas.microsoft.com/office/drawing/2014/main" id="{6FFF4288-F279-2017-5CA9-CBB834F622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5233988"/>
                        <a:ext cx="4648200" cy="7874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4" name="Text Box 9">
            <a:extLst>
              <a:ext uri="{FF2B5EF4-FFF2-40B4-BE49-F238E27FC236}">
                <a16:creationId xmlns:a16="http://schemas.microsoft.com/office/drawing/2014/main" id="{9E953B77-FE19-72FE-7850-AC099DD56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sp>
        <p:nvSpPr>
          <p:cNvPr id="75785" name="Rectangle 10">
            <a:extLst>
              <a:ext uri="{FF2B5EF4-FFF2-40B4-BE49-F238E27FC236}">
                <a16:creationId xmlns:a16="http://schemas.microsoft.com/office/drawing/2014/main" id="{06614956-738B-CBA2-9E43-207B47D40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04813"/>
            <a:ext cx="7778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800" b="1"/>
              <a:t>eğitim süresi (S), yetenek puanı (ASVABC) ve anne eğitim düzeyi (SM)</a:t>
            </a:r>
            <a:endParaRPr lang="en-GB" altLang="tr-TR" sz="18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1">
            <a:extLst>
              <a:ext uri="{FF2B5EF4-FFF2-40B4-BE49-F238E27FC236}">
                <a16:creationId xmlns:a16="http://schemas.microsoft.com/office/drawing/2014/main" id="{42E640A9-87E2-B0AD-79F2-126C8AA15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3527425"/>
            <a:ext cx="4662488" cy="21907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77827" name="Text Box 12">
            <a:extLst>
              <a:ext uri="{FF2B5EF4-FFF2-40B4-BE49-F238E27FC236}">
                <a16:creationId xmlns:a16="http://schemas.microsoft.com/office/drawing/2014/main" id="{5951AC96-316D-6739-3F77-E47120BED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455613"/>
            <a:ext cx="8532813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94615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46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46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tr-TR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. </a:t>
            </a:r>
            <a:r>
              <a:rPr lang="en-GB" altLang="tr-TR" sz="1400" b="1">
                <a:solidFill>
                  <a:srgbClr val="A50021"/>
                </a:solidFill>
                <a:latin typeface="Courier New" panose="02070309020205020404" pitchFamily="49" charset="0"/>
              </a:rPr>
              <a:t>reg S ASVABC SM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solidFill>
                <a:srgbClr val="A50021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F(  2,   567) =  156.81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Model |   1230.2039     2  615.101949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Residual |  2224.04347   567  3.92247526               R-squared     =  0.3561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Adj R-squared =  0.3539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Total |  3454.24737   569  6.07073351               Root MSE      =  1.9805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 S |      Coef.   Std. Err.       t     P&gt;|t|       [95% Conf. Interval]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ASVABC |   .1381062   .0097494     14.166   0.000       .1189567    .1572556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SM |    .154783   .0350728      4.413   0.000       .0858946    .2236715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_cons |   4.791277   .5102431      9.390   0.000        3.78908    5.793475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  <a:endParaRPr lang="en-GB" altLang="tr-TR" sz="1400" b="1"/>
          </a:p>
        </p:txBody>
      </p:sp>
      <p:sp>
        <p:nvSpPr>
          <p:cNvPr id="77828" name="3 Slayt Numarası Yer Tutucusu">
            <a:extLst>
              <a:ext uri="{FF2B5EF4-FFF2-40B4-BE49-F238E27FC236}">
                <a16:creationId xmlns:a16="http://schemas.microsoft.com/office/drawing/2014/main" id="{A9D726C1-46C4-3D45-4F7B-33FD841E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7C22FA-E91C-4426-AC17-3B742895E98F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tr-TR" altLang="tr-TR" sz="1400"/>
          </a:p>
        </p:txBody>
      </p:sp>
      <p:sp>
        <p:nvSpPr>
          <p:cNvPr id="77829" name="Rectangle 13">
            <a:extLst>
              <a:ext uri="{FF2B5EF4-FFF2-40B4-BE49-F238E27FC236}">
                <a16:creationId xmlns:a16="http://schemas.microsoft.com/office/drawing/2014/main" id="{ECD6B1C9-0385-06CD-715D-4A9E13E4D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766763"/>
            <a:ext cx="1919288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77831" name="Text Box 8">
            <a:extLst>
              <a:ext uri="{FF2B5EF4-FFF2-40B4-BE49-F238E27FC236}">
                <a16:creationId xmlns:a16="http://schemas.microsoft.com/office/drawing/2014/main" id="{33A19DED-A7AC-91DA-4BFF-947BA35A4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graphicFrame>
        <p:nvGraphicFramePr>
          <p:cNvPr id="77832" name="Object 14">
            <a:extLst>
              <a:ext uri="{FF2B5EF4-FFF2-40B4-BE49-F238E27FC236}">
                <a16:creationId xmlns:a16="http://schemas.microsoft.com/office/drawing/2014/main" id="{FAEA1B95-3E1B-041E-B123-CDD2653A22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3800" y="4337050"/>
          <a:ext cx="421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16400" imgH="381000" progId="Equation.3">
                  <p:embed/>
                </p:oleObj>
              </mc:Choice>
              <mc:Fallback>
                <p:oleObj name="Equation" r:id="rId3" imgW="4216400" imgH="381000" progId="Equation.3">
                  <p:embed/>
                  <p:pic>
                    <p:nvPicPr>
                      <p:cNvPr id="77832" name="Object 14">
                        <a:extLst>
                          <a:ext uri="{FF2B5EF4-FFF2-40B4-BE49-F238E27FC236}">
                            <a16:creationId xmlns:a16="http://schemas.microsoft.com/office/drawing/2014/main" id="{FAEA1B95-3E1B-041E-B123-CDD2653A22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4337050"/>
                        <a:ext cx="4216400" cy="381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3" name="Object 15">
            <a:extLst>
              <a:ext uri="{FF2B5EF4-FFF2-40B4-BE49-F238E27FC236}">
                <a16:creationId xmlns:a16="http://schemas.microsoft.com/office/drawing/2014/main" id="{CBE75125-C6E2-A674-8C2D-0F946F46E7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7900" y="4927600"/>
          <a:ext cx="4648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48200" imgH="787400" progId="Equation.3">
                  <p:embed/>
                </p:oleObj>
              </mc:Choice>
              <mc:Fallback>
                <p:oleObj name="Equation" r:id="rId5" imgW="4648200" imgH="787400" progId="Equation.3">
                  <p:embed/>
                  <p:pic>
                    <p:nvPicPr>
                      <p:cNvPr id="77833" name="Object 15">
                        <a:extLst>
                          <a:ext uri="{FF2B5EF4-FFF2-40B4-BE49-F238E27FC236}">
                            <a16:creationId xmlns:a16="http://schemas.microsoft.com/office/drawing/2014/main" id="{CBE75125-C6E2-A674-8C2D-0F946F46E7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4927600"/>
                        <a:ext cx="4648200" cy="7874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4" name="Rectangle 11">
            <a:extLst>
              <a:ext uri="{FF2B5EF4-FFF2-40B4-BE49-F238E27FC236}">
                <a16:creationId xmlns:a16="http://schemas.microsoft.com/office/drawing/2014/main" id="{C757F04E-5CEE-E230-FD8B-749716158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76250"/>
            <a:ext cx="7778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800" b="1"/>
              <a:t>eğitim süresi (S), yetenek puanı (ASVABC) ve anne eğitim düzeyi (SM)</a:t>
            </a:r>
            <a:endParaRPr lang="en-GB" altLang="tr-TR" sz="1800" b="1"/>
          </a:p>
        </p:txBody>
      </p:sp>
      <p:sp>
        <p:nvSpPr>
          <p:cNvPr id="77835" name="TextBox 77834"/>
          <p:cNvSpPr txBox="1"/>
          <p:nvPr/>
        </p:nvSpPr>
        <p:spPr>
          <a:xfrm>
            <a:off x="301752" y="5751576"/>
            <a:ext cx="853135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lang="tr-TR">
                <a:latin typeface="Arial"/>
              </a:rPr>
              <a:t>β</a:t>
            </a:r>
            <a:r>
              <a:rPr sz="1500" lang="tr-TR" baseline="-25000">
                <a:latin typeface="Arial"/>
              </a:rPr>
              <a:t>3</a:t>
            </a:r>
            <a:r>
              <a:rPr sz="1500" lang="tr-TR">
                <a:latin typeface="Arial"/>
              </a:rPr>
              <a:t>’ün pozitif olduğunu sağduyuya dayanarak varsaymak makuldür. Bu varsayım, çoklu regresyonda SM katsayısının pozitif ve yüksek düzeyde anlamlı tahmin edilmesiyle de güçlü biçimde desteklenmektedir.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3 Slayt Numarası Yer Tutucusu">
            <a:extLst>
              <a:ext uri="{FF2B5EF4-FFF2-40B4-BE49-F238E27FC236}">
                <a16:creationId xmlns:a16="http://schemas.microsoft.com/office/drawing/2014/main" id="{A0B29001-F2A7-2B3C-4701-6493009CE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35351E-0A65-479C-A02D-D4948FE37915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tr-TR" altLang="tr-TR" sz="1400"/>
          </a:p>
        </p:txBody>
      </p:sp>
      <p:sp>
        <p:nvSpPr>
          <p:cNvPr id="79875" name="Rectangle 13">
            <a:extLst>
              <a:ext uri="{FF2B5EF4-FFF2-40B4-BE49-F238E27FC236}">
                <a16:creationId xmlns:a16="http://schemas.microsoft.com/office/drawing/2014/main" id="{91B3FDAC-8E0E-DDEE-6D5F-95AC0C872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766763"/>
            <a:ext cx="1919288" cy="2286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79876" name="Text Box 5">
            <a:extLst>
              <a:ext uri="{FF2B5EF4-FFF2-40B4-BE49-F238E27FC236}">
                <a16:creationId xmlns:a16="http://schemas.microsoft.com/office/drawing/2014/main" id="{3979DABC-F30F-2B35-664D-69245001B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tr-TR" sz="1500" b="1" i="1"/>
              <a:t>ASVABC</a:t>
            </a:r>
            <a:r>
              <a:rPr lang="en-GB" altLang="tr-TR" sz="1500" b="1"/>
              <a:t> </a:t>
            </a:r>
            <a:r>
              <a:rPr lang="tr-TR" altLang="tr-TR" sz="1500" b="1"/>
              <a:t>ve</a:t>
            </a:r>
            <a:r>
              <a:rPr lang="en-GB" altLang="tr-TR" sz="1500" b="1"/>
              <a:t> </a:t>
            </a:r>
            <a:r>
              <a:rPr lang="en-GB" altLang="tr-TR" sz="1500" b="1" i="1"/>
              <a:t>SM</a:t>
            </a:r>
            <a:r>
              <a:rPr lang="en-GB" altLang="tr-TR" sz="1500" b="1"/>
              <a:t> </a:t>
            </a:r>
            <a:r>
              <a:rPr lang="tr-TR" altLang="tr-TR" sz="1500" b="1"/>
              <a:t> arasındaki korelasyon pozitif olduğundan kovaryansı da pozitif olacaktır.</a:t>
            </a:r>
            <a:r>
              <a:rPr lang="en-GB" altLang="tr-TR" sz="1500" b="1"/>
              <a:t>  Var(</a:t>
            </a:r>
            <a:r>
              <a:rPr lang="en-GB" altLang="tr-TR" sz="1500" b="1" i="1"/>
              <a:t>ASVABC</a:t>
            </a:r>
            <a:r>
              <a:rPr lang="en-GB" altLang="tr-TR" sz="1500" b="1"/>
              <a:t>) </a:t>
            </a:r>
            <a:r>
              <a:rPr lang="tr-TR" altLang="tr-TR" sz="1500" b="1"/>
              <a:t>da otomatik olarak pozitif olacaktır</a:t>
            </a:r>
            <a:r>
              <a:rPr lang="en-GB" altLang="tr-TR" sz="1500" b="1"/>
              <a:t>.  </a:t>
            </a:r>
            <a:r>
              <a:rPr lang="tr-TR" altLang="tr-TR" sz="1500" b="1"/>
              <a:t>Bundan dolayı sapma da pozitif olacaktır.</a:t>
            </a:r>
            <a:endParaRPr lang="en-GB" altLang="tr-TR" sz="1500" b="1">
              <a:latin typeface="Times New Roman" panose="02020603050405020304" pitchFamily="18" charset="0"/>
            </a:endParaRPr>
          </a:p>
        </p:txBody>
      </p:sp>
      <p:sp>
        <p:nvSpPr>
          <p:cNvPr id="79877" name="Text Box 12">
            <a:extLst>
              <a:ext uri="{FF2B5EF4-FFF2-40B4-BE49-F238E27FC236}">
                <a16:creationId xmlns:a16="http://schemas.microsoft.com/office/drawing/2014/main" id="{399501D7-CD43-7153-F0BE-42CC30F1B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76250"/>
            <a:ext cx="8532813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94615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46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46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tr-TR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. </a:t>
            </a:r>
            <a:r>
              <a:rPr lang="en-GB" altLang="tr-TR" sz="1400" b="1">
                <a:solidFill>
                  <a:srgbClr val="A50021"/>
                </a:solidFill>
                <a:latin typeface="Courier New" panose="02070309020205020404" pitchFamily="49" charset="0"/>
              </a:rPr>
              <a:t>reg S ASVABC SM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solidFill>
                <a:srgbClr val="A50021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F(  2,   567) =  156.81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Model |   1230.2039     2  615.101949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Residual |  2224.04347   567  3.92247526               R-squared     =  0.3561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Adj R-squared =  0.3539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Total |  3454.24737   569  6.07073351               Root MSE      =  1.9805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 S |      Coef.   Std. Err.       t     P&gt;|t|       [95% Conf. Interval]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ASVABC |   .1381062   .0097494     14.166   0.000       .1189567    .1572556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SM |    .154783   .0350728      4.413   0.000       .0858946    .2236715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_cons |   4.791277   .5102431      9.390   0.000        3.78908    5.793475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  <a:endParaRPr lang="en-GB" altLang="tr-TR" sz="1400" b="1"/>
          </a:p>
        </p:txBody>
      </p:sp>
      <p:sp>
        <p:nvSpPr>
          <p:cNvPr id="79878" name="Text Box 10">
            <a:extLst>
              <a:ext uri="{FF2B5EF4-FFF2-40B4-BE49-F238E27FC236}">
                <a16:creationId xmlns:a16="http://schemas.microsoft.com/office/drawing/2014/main" id="{107CE579-E4A6-2AE5-73D7-C10B9D4D5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graphicFrame>
        <p:nvGraphicFramePr>
          <p:cNvPr id="79879" name="Object 14">
            <a:extLst>
              <a:ext uri="{FF2B5EF4-FFF2-40B4-BE49-F238E27FC236}">
                <a16:creationId xmlns:a16="http://schemas.microsoft.com/office/drawing/2014/main" id="{9479ED7C-BBE8-9AE2-17BD-342BA6A7B3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3800" y="4337050"/>
          <a:ext cx="421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16400" imgH="381000" progId="Equation.3">
                  <p:embed/>
                </p:oleObj>
              </mc:Choice>
              <mc:Fallback>
                <p:oleObj name="Equation" r:id="rId3" imgW="4216400" imgH="381000" progId="Equation.3">
                  <p:embed/>
                  <p:pic>
                    <p:nvPicPr>
                      <p:cNvPr id="79879" name="Object 14">
                        <a:extLst>
                          <a:ext uri="{FF2B5EF4-FFF2-40B4-BE49-F238E27FC236}">
                            <a16:creationId xmlns:a16="http://schemas.microsoft.com/office/drawing/2014/main" id="{9479ED7C-BBE8-9AE2-17BD-342BA6A7B3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4337050"/>
                        <a:ext cx="4216400" cy="381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0" name="Object 15">
            <a:extLst>
              <a:ext uri="{FF2B5EF4-FFF2-40B4-BE49-F238E27FC236}">
                <a16:creationId xmlns:a16="http://schemas.microsoft.com/office/drawing/2014/main" id="{881719DC-CA68-75E8-E061-66F4E62687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7900" y="4927600"/>
          <a:ext cx="4648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48200" imgH="787400" progId="Equation.3">
                  <p:embed/>
                </p:oleObj>
              </mc:Choice>
              <mc:Fallback>
                <p:oleObj name="Equation" r:id="rId5" imgW="4648200" imgH="787400" progId="Equation.3">
                  <p:embed/>
                  <p:pic>
                    <p:nvPicPr>
                      <p:cNvPr id="79880" name="Object 15">
                        <a:extLst>
                          <a:ext uri="{FF2B5EF4-FFF2-40B4-BE49-F238E27FC236}">
                            <a16:creationId xmlns:a16="http://schemas.microsoft.com/office/drawing/2014/main" id="{881719DC-CA68-75E8-E061-66F4E62687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4927600"/>
                        <a:ext cx="4648200" cy="7874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1" name="Rectangle 8">
            <a:extLst>
              <a:ext uri="{FF2B5EF4-FFF2-40B4-BE49-F238E27FC236}">
                <a16:creationId xmlns:a16="http://schemas.microsoft.com/office/drawing/2014/main" id="{8878F039-4387-B4AC-9111-1E90280F7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762000"/>
            <a:ext cx="3581400" cy="1981200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79882" name="Text Box 9">
            <a:extLst>
              <a:ext uri="{FF2B5EF4-FFF2-40B4-BE49-F238E27FC236}">
                <a16:creationId xmlns:a16="http://schemas.microsoft.com/office/drawing/2014/main" id="{0ABE026A-E3A0-3779-4D17-B3DB73186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990600"/>
            <a:ext cx="3124200" cy="148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. cor SM ASVABC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(obs=570)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     |       SM   ASVABC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--------+------------------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   SM|   1.0000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ASVABC|   0.3819   1.0000</a:t>
            </a:r>
            <a:endParaRPr lang="en-US" altLang="tr-TR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1">
            <a:extLst>
              <a:ext uri="{FF2B5EF4-FFF2-40B4-BE49-F238E27FC236}">
                <a16:creationId xmlns:a16="http://schemas.microsoft.com/office/drawing/2014/main" id="{6C87AEB4-8275-ED6A-8732-1319DE934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765175"/>
            <a:ext cx="4662487" cy="21907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81923" name="Text Box 2">
            <a:extLst>
              <a:ext uri="{FF2B5EF4-FFF2-40B4-BE49-F238E27FC236}">
                <a16:creationId xmlns:a16="http://schemas.microsoft.com/office/drawing/2014/main" id="{06F43FF1-42E1-D1CC-4671-1B69F40C7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455613"/>
            <a:ext cx="8532813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94615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46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46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tr-TR" sz="18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solidFill>
                  <a:srgbClr val="FF9900"/>
                </a:solidFill>
                <a:latin typeface="Courier New" panose="02070309020205020404" pitchFamily="49" charset="0"/>
              </a:rPr>
              <a:t>. </a:t>
            </a:r>
            <a:r>
              <a:rPr lang="en-US" altLang="tr-TR" sz="1400" b="1">
                <a:latin typeface="Courier New" panose="02070309020205020404" pitchFamily="49" charset="0"/>
              </a:rPr>
              <a:t>reg S ASVABC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---------+------------------------------               F(  1,   568) =  284.89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Model |  1153.80864     1  1153.80864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Residual |  2300.43873   568  4.05006818               R-squared     =  0.3340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---------+------------------------------               Adj R-squared =  0.3329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Total |  3454.24737   569  6.07073351               Root MSE      =  2.0125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    S |      Coef.   Std. Err.       t     P&gt;|t|       [95% Conf. Interval]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---------+--------------------------------------------------------------------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ASVABC |   .1545378   .0091559     16.879   0.000       .1365543    .1725213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_cons |   5.770845   .4668473     12.361   0.000       4.853888    6.687803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/>
          </a:p>
        </p:txBody>
      </p:sp>
      <p:sp>
        <p:nvSpPr>
          <p:cNvPr id="81924" name="3 Slayt Numarası Yer Tutucusu">
            <a:extLst>
              <a:ext uri="{FF2B5EF4-FFF2-40B4-BE49-F238E27FC236}">
                <a16:creationId xmlns:a16="http://schemas.microsoft.com/office/drawing/2014/main" id="{42302367-DFC5-DACA-AF36-2C94D9DD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E39A07-18A2-4076-8D6A-685A8DB1D274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tr-TR" altLang="tr-TR" sz="1400"/>
          </a:p>
        </p:txBody>
      </p:sp>
      <p:sp>
        <p:nvSpPr>
          <p:cNvPr id="81925" name="Text Box 5">
            <a:extLst>
              <a:ext uri="{FF2B5EF4-FFF2-40B4-BE49-F238E27FC236}">
                <a16:creationId xmlns:a16="http://schemas.microsoft.com/office/drawing/2014/main" id="{F19813F6-0144-49B0-3F2F-BD03ECF97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tr-TR" sz="1500" b="1" i="1"/>
              <a:t>SM</a:t>
            </a:r>
            <a:r>
              <a:rPr lang="tr-TR" altLang="tr-TR" sz="1500" b="1"/>
              <a:t>’nin ihmal edildiği regresyon yukarıda yer almaktadır.</a:t>
            </a:r>
            <a:endParaRPr lang="en-GB" altLang="tr-TR" sz="1500" b="1">
              <a:latin typeface="Times New Roman" panose="02020603050405020304" pitchFamily="18" charset="0"/>
            </a:endParaRPr>
          </a:p>
        </p:txBody>
      </p:sp>
      <p:sp>
        <p:nvSpPr>
          <p:cNvPr id="81926" name="Text Box 8">
            <a:extLst>
              <a:ext uri="{FF2B5EF4-FFF2-40B4-BE49-F238E27FC236}">
                <a16:creationId xmlns:a16="http://schemas.microsoft.com/office/drawing/2014/main" id="{9EFDD4E8-AE3A-4F3D-D3EF-E97A5C055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sp>
        <p:nvSpPr>
          <p:cNvPr id="81927" name="Rectangle 8">
            <a:extLst>
              <a:ext uri="{FF2B5EF4-FFF2-40B4-BE49-F238E27FC236}">
                <a16:creationId xmlns:a16="http://schemas.microsoft.com/office/drawing/2014/main" id="{6E325CBF-8917-A275-372E-8DE281E72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21163"/>
            <a:ext cx="7778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800" b="1"/>
              <a:t>eğitim süresi (S), yetenek puanı (ASVABC) ve anne eğitim düzeyi (SM)</a:t>
            </a:r>
            <a:endParaRPr lang="en-GB" altLang="tr-TR" sz="18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1">
            <a:extLst>
              <a:ext uri="{FF2B5EF4-FFF2-40B4-BE49-F238E27FC236}">
                <a16:creationId xmlns:a16="http://schemas.microsoft.com/office/drawing/2014/main" id="{B7C6C546-E52F-78A3-CF75-CE796B66E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3957638"/>
            <a:ext cx="2322513" cy="219075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4C24D075-1EBB-8D68-5627-6E57FD8E7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827213"/>
            <a:ext cx="2322513" cy="219075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83972" name="Rectangle 11">
            <a:extLst>
              <a:ext uri="{FF2B5EF4-FFF2-40B4-BE49-F238E27FC236}">
                <a16:creationId xmlns:a16="http://schemas.microsoft.com/office/drawing/2014/main" id="{EBD557D8-688F-F487-0D94-940830172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924175"/>
            <a:ext cx="4662487" cy="21907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83973" name="Rectangle 11">
            <a:extLst>
              <a:ext uri="{FF2B5EF4-FFF2-40B4-BE49-F238E27FC236}">
                <a16:creationId xmlns:a16="http://schemas.microsoft.com/office/drawing/2014/main" id="{8118FB18-0877-4D43-764C-0D6593966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65175"/>
            <a:ext cx="4662487" cy="21907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83974" name="Text Box 4">
            <a:extLst>
              <a:ext uri="{FF2B5EF4-FFF2-40B4-BE49-F238E27FC236}">
                <a16:creationId xmlns:a16="http://schemas.microsoft.com/office/drawing/2014/main" id="{15C0C467-9E80-6DF7-3197-BECDD8D0B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455613"/>
            <a:ext cx="8532813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94615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46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46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tr-TR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. reg S ASVABC SM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 S |      Coef.   Std. Err.       t     P&gt;|t|       [95% Conf. Interval]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ASVABC |   .1381062   .0097494     14.166   0.000       .1189567    .1572556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SM |    .154783   .0350728      4.413   0.000       .0858946    .2236715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_cons |   4.791277   .5102431      9.390   0.000        3.78908    5.793475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. reg S ASVABC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    S |      Coef.   Std. Err.       t     P&gt;|t|       [95% Conf. Interval]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---------+--------------------------------------------------------------------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ASVABC |   .1545378   .0091559     16.879   0.000       .1365543    .1725213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_cons |   5.770845   .4668473     12.361   0.000       4.853888    6.687803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/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/>
          </a:p>
        </p:txBody>
      </p:sp>
      <p:sp>
        <p:nvSpPr>
          <p:cNvPr id="83975" name="3 Slayt Numarası Yer Tutucusu">
            <a:extLst>
              <a:ext uri="{FF2B5EF4-FFF2-40B4-BE49-F238E27FC236}">
                <a16:creationId xmlns:a16="http://schemas.microsoft.com/office/drawing/2014/main" id="{099C344E-56DC-30ED-C192-B2901177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C2FD90-30FE-4902-BA91-83034BA12D91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tr-TR" altLang="tr-TR" sz="1400"/>
          </a:p>
        </p:txBody>
      </p:sp>
      <p:sp>
        <p:nvSpPr>
          <p:cNvPr id="83976" name="Text Box 6">
            <a:extLst>
              <a:ext uri="{FF2B5EF4-FFF2-40B4-BE49-F238E27FC236}">
                <a16:creationId xmlns:a16="http://schemas.microsoft.com/office/drawing/2014/main" id="{3B0E7F1D-F017-A17A-031D-B9AA82529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500" b="1"/>
              <a:t>Gördüğünüz gibi</a:t>
            </a:r>
            <a:r>
              <a:rPr lang="en-GB" altLang="tr-TR" sz="1500" b="1"/>
              <a:t>, </a:t>
            </a:r>
            <a:r>
              <a:rPr lang="en-GB" altLang="tr-TR" sz="1500" b="1" i="1"/>
              <a:t>ASVABC’nin</a:t>
            </a:r>
            <a:r>
              <a:rPr lang="en-GB" altLang="tr-TR" sz="1500" b="1"/>
              <a:t/>
            </a:r>
            <a:r>
              <a:rPr lang="tr-TR" altLang="tr-TR" sz="1500" b="1"/>
              <a:t> katsayısı </a:t>
            </a:r>
            <a:r>
              <a:rPr lang="en-GB" altLang="tr-TR" sz="1500" b="1" i="1"/>
              <a:t>SM</a:t>
            </a:r>
            <a:r>
              <a:rPr lang="tr-TR" altLang="tr-TR" sz="1500" b="1" i="1"/>
              <a:t> </a:t>
            </a:r>
            <a:r>
              <a:rPr lang="tr-TR" altLang="tr-TR" sz="1500" b="1"/>
              <a:t>ihmal edildiğinde gerçekten de daha yüksek olmaktadır.</a:t>
            </a:r>
            <a:r>
              <a:rPr lang="en-GB" altLang="tr-TR" sz="1500" b="1"/>
              <a:t> </a:t>
            </a:r>
            <a:r>
              <a:rPr lang="tr-TR" altLang="tr-TR" sz="1500" b="1"/>
              <a:t>Farkın bir kısmı rastlantıdan kaynaklanabilir, fakat bir kısmı sapmaya atfedilebilir.</a:t>
            </a:r>
            <a:r>
              <a:rPr lang="en-GB" altLang="tr-TR" sz="1500" b="1"/>
              <a:t/>
            </a:r>
            <a:r>
              <a:rPr lang="tr-TR" altLang="tr-TR" sz="1500" b="1"/>
              <a:t/>
            </a:r>
            <a:r>
              <a:rPr lang="en-GB" altLang="tr-TR" sz="1500" b="1"/>
              <a:t/>
            </a:r>
            <a:r>
              <a:rPr lang="tr-TR" altLang="tr-TR" sz="1500" b="1"/>
              <a:t/>
            </a:r>
            <a:r>
              <a:rPr lang="en-GB" altLang="tr-TR" sz="1500" b="1"/>
              <a:t/>
            </a:r>
            <a:r>
              <a:rPr lang="tr-TR" altLang="tr-TR" sz="1500" b="1"/>
              <a:t/>
            </a:r>
            <a:r>
              <a:rPr lang="en-GB" altLang="tr-TR" sz="1500" b="1"/>
              <a:t/>
            </a:r>
            <a:r>
              <a:rPr lang="tr-TR" altLang="tr-TR" sz="1500" b="1"/>
              <a:t/>
            </a:r>
            <a:endParaRPr lang="en-GB" altLang="tr-TR" sz="1500" b="1">
              <a:latin typeface="Times New Roman" panose="02020603050405020304" pitchFamily="18" charset="0"/>
            </a:endParaRPr>
          </a:p>
        </p:txBody>
      </p:sp>
      <p:sp>
        <p:nvSpPr>
          <p:cNvPr id="83977" name="Text Box 9">
            <a:extLst>
              <a:ext uri="{FF2B5EF4-FFF2-40B4-BE49-F238E27FC236}">
                <a16:creationId xmlns:a16="http://schemas.microsoft.com/office/drawing/2014/main" id="{C1D8B7C4-C055-F3CF-D5F1-6AA9B6D4B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sp>
        <p:nvSpPr>
          <p:cNvPr id="83978" name="Rectangle 11">
            <a:extLst>
              <a:ext uri="{FF2B5EF4-FFF2-40B4-BE49-F238E27FC236}">
                <a16:creationId xmlns:a16="http://schemas.microsoft.com/office/drawing/2014/main" id="{F20B603D-5DED-4A91-F767-09BC412BA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868863"/>
            <a:ext cx="7778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800" b="1"/>
              <a:t>eğitim süresi (S), yetenek puanı (ASVABC) ve anne eğitim düzeyi (SM)</a:t>
            </a:r>
            <a:endParaRPr lang="en-GB" altLang="tr-TR" sz="18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>
            <a:extLst>
              <a:ext uri="{FF2B5EF4-FFF2-40B4-BE49-F238E27FC236}">
                <a16:creationId xmlns:a16="http://schemas.microsoft.com/office/drawing/2014/main" id="{03EFEF6B-96B8-0601-4158-1FE4E4CC2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5175"/>
            <a:ext cx="8532813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94615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46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46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tr-TR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. reg S SM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F(  1,   568) =   83.59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Model |  443.110436     1  443.110436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Residual |  3011.13693   568  5.30129742               R-squared     =  0.1283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Adj R-squared =  0.1267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Total |  3454.24737   569  6.07073351               Root MSE      =  2.3025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 S |      Coef.   Std. Err.       t     P&gt;|t|       [95% Conf. Interval]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SM |   .3445198   .0376833      9.142   0.000       .2705041    .4185354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_cons |   9.506491   .4495754     21.145   0.000       8.623458    10.38952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86019" name="3 Slayt Numarası Yer Tutucusu">
            <a:extLst>
              <a:ext uri="{FF2B5EF4-FFF2-40B4-BE49-F238E27FC236}">
                <a16:creationId xmlns:a16="http://schemas.microsoft.com/office/drawing/2014/main" id="{BC3B091B-7795-DAF1-215E-1BCA73E6C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6DB7B2-3331-4E1D-9A33-D3DD8C667A7E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tr-TR" altLang="tr-TR" sz="1400"/>
          </a:p>
        </p:txBody>
      </p:sp>
      <p:sp>
        <p:nvSpPr>
          <p:cNvPr id="86020" name="Text Box 5">
            <a:extLst>
              <a:ext uri="{FF2B5EF4-FFF2-40B4-BE49-F238E27FC236}">
                <a16:creationId xmlns:a16="http://schemas.microsoft.com/office/drawing/2014/main" id="{CC7F3F75-1D6E-A827-8A1D-EB7D040F5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tr-TR" sz="1500" b="1" i="1"/>
              <a:t>SM</a:t>
            </a:r>
            <a:r>
              <a:rPr lang="tr-TR" altLang="tr-TR" sz="1500" b="1" i="1"/>
              <a:t> </a:t>
            </a:r>
            <a:r>
              <a:rPr lang="tr-TR" altLang="tr-TR" sz="1500" b="1"/>
              <a:t>yerine </a:t>
            </a:r>
            <a:r>
              <a:rPr lang="en-GB" altLang="tr-TR" sz="1500" b="1" i="1"/>
              <a:t>ASVABC’nin</a:t>
            </a:r>
            <a:r>
              <a:rPr lang="tr-TR" altLang="tr-TR" sz="1500" b="1" i="1"/>
              <a:t> </a:t>
            </a:r>
            <a:r>
              <a:rPr lang="tr-TR" altLang="tr-TR" sz="1500" b="1"/>
              <a:t>ihmal edilmesiyle elde edilen regresyon yukarıda yer almaktadır.</a:t>
            </a:r>
            <a:r>
              <a:rPr lang="en-GB" altLang="tr-TR" sz="1500" b="1"/>
              <a:t> </a:t>
            </a:r>
            <a:r>
              <a:rPr lang="en-GB" altLang="tr-TR" sz="1500" b="1" i="1"/>
              <a:t>b</a:t>
            </a:r>
            <a:r>
              <a:rPr lang="en-GB" altLang="tr-TR" sz="1500" b="1" baseline="-25000"/>
              <a:t>3</a:t>
            </a:r>
            <a:r>
              <a:rPr lang="en-GB" altLang="tr-TR" sz="1500" b="1"/>
              <a:t>’ün yukarı doğru sapmalı olması beklenir:</a:t>
            </a:r>
            <a:r>
              <a:rPr lang="tr-TR" altLang="tr-TR" sz="1500" b="1"/>
              <a:t> </a:t>
            </a:r>
            <a:r>
              <a:rPr lang="en-GB" altLang="tr-TR" sz="1800" b="1" i="1">
                <a:latin typeface="Symbol" panose="05050102010706020507" pitchFamily="18" charset="2"/>
              </a:rPr>
              <a:t>b</a:t>
            </a:r>
            <a:r>
              <a:rPr lang="en-GB" altLang="tr-TR" sz="1500" b="1" baseline="-25000"/>
              <a:t>2</a:t>
            </a:r>
            <a:r>
              <a:rPr lang="en-GB" altLang="tr-TR" sz="1500" b="1"/>
              <a:t>’nin pozitif olmasını bekleriz; sapma ifadesindeki kovaryansın ve varyansın da pozitif olduğunu biliyoruz.</a:t>
            </a:r>
            <a:r>
              <a:rPr lang="tr-TR" altLang="tr-TR" sz="1500" b="1"/>
              <a:t/>
            </a:r>
            <a:r>
              <a:rPr lang="en-GB" altLang="tr-TR" sz="1500" b="1"/>
              <a:t/>
            </a:r>
            <a:r>
              <a:rPr lang="tr-TR" altLang="tr-TR" sz="1500" b="1"/>
              <a:t/>
            </a:r>
            <a:endParaRPr lang="en-GB" altLang="tr-TR" sz="1500" b="1">
              <a:latin typeface="Times New Roman" panose="02020603050405020304" pitchFamily="18" charset="0"/>
            </a:endParaRPr>
          </a:p>
        </p:txBody>
      </p:sp>
      <p:sp>
        <p:nvSpPr>
          <p:cNvPr id="86021" name="Text Box 6">
            <a:extLst>
              <a:ext uri="{FF2B5EF4-FFF2-40B4-BE49-F238E27FC236}">
                <a16:creationId xmlns:a16="http://schemas.microsoft.com/office/drawing/2014/main" id="{7971EDBE-BDF5-43F4-08DD-B2F03EB53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graphicFrame>
        <p:nvGraphicFramePr>
          <p:cNvPr id="86022" name="Object 8">
            <a:extLst>
              <a:ext uri="{FF2B5EF4-FFF2-40B4-BE49-F238E27FC236}">
                <a16:creationId xmlns:a16="http://schemas.microsoft.com/office/drawing/2014/main" id="{90F66905-C180-FBBF-C4FA-CE1223B930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4191000"/>
          <a:ext cx="421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16400" imgH="381000" progId="Equation.3">
                  <p:embed/>
                </p:oleObj>
              </mc:Choice>
              <mc:Fallback>
                <p:oleObj name="Equation" r:id="rId3" imgW="4216400" imgH="381000" progId="Equation.3">
                  <p:embed/>
                  <p:pic>
                    <p:nvPicPr>
                      <p:cNvPr id="86022" name="Object 8">
                        <a:extLst>
                          <a:ext uri="{FF2B5EF4-FFF2-40B4-BE49-F238E27FC236}">
                            <a16:creationId xmlns:a16="http://schemas.microsoft.com/office/drawing/2014/main" id="{90F66905-C180-FBBF-C4FA-CE1223B930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191000"/>
                        <a:ext cx="4216400" cy="381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9">
            <a:extLst>
              <a:ext uri="{FF2B5EF4-FFF2-40B4-BE49-F238E27FC236}">
                <a16:creationId xmlns:a16="http://schemas.microsoft.com/office/drawing/2014/main" id="{CDC57BD0-2380-49B9-20D4-1D84501601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7900" y="4800600"/>
          <a:ext cx="4648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48200" imgH="787400" progId="Equation.3">
                  <p:embed/>
                </p:oleObj>
              </mc:Choice>
              <mc:Fallback>
                <p:oleObj name="Equation" r:id="rId5" imgW="4648200" imgH="787400" progId="Equation.3">
                  <p:embed/>
                  <p:pic>
                    <p:nvPicPr>
                      <p:cNvPr id="86023" name="Object 9">
                        <a:extLst>
                          <a:ext uri="{FF2B5EF4-FFF2-40B4-BE49-F238E27FC236}">
                            <a16:creationId xmlns:a16="http://schemas.microsoft.com/office/drawing/2014/main" id="{CDC57BD0-2380-49B9-20D4-1D84501601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4800600"/>
                        <a:ext cx="4648200" cy="7874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4" name="Rectangle 10">
            <a:extLst>
              <a:ext uri="{FF2B5EF4-FFF2-40B4-BE49-F238E27FC236}">
                <a16:creationId xmlns:a16="http://schemas.microsoft.com/office/drawing/2014/main" id="{DA2484CA-B86B-FD9F-63C0-586D6F511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3375"/>
            <a:ext cx="7778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800" b="1"/>
              <a:t>eğitim süresi (S), yetenek puanı (ASVABC) ve anne eğitim düzeyi (SM)</a:t>
            </a:r>
            <a:endParaRPr lang="en-GB" altLang="tr-TR" sz="18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68C2DA71-2F82-866F-CDB8-8C6E67A5A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906713"/>
            <a:ext cx="1169988" cy="2286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88067" name="Rectangle 5">
            <a:extLst>
              <a:ext uri="{FF2B5EF4-FFF2-40B4-BE49-F238E27FC236}">
                <a16:creationId xmlns:a16="http://schemas.microsoft.com/office/drawing/2014/main" id="{4095DC34-751D-7636-6CAF-5DAD2E6F5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766763"/>
            <a:ext cx="1919288" cy="2286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88068" name="Rectangle 2">
            <a:extLst>
              <a:ext uri="{FF2B5EF4-FFF2-40B4-BE49-F238E27FC236}">
                <a16:creationId xmlns:a16="http://schemas.microsoft.com/office/drawing/2014/main" id="{87379771-603F-5535-7989-EADEDE41F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3957638"/>
            <a:ext cx="2322513" cy="219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88069" name="Rectangle 4">
            <a:extLst>
              <a:ext uri="{FF2B5EF4-FFF2-40B4-BE49-F238E27FC236}">
                <a16:creationId xmlns:a16="http://schemas.microsoft.com/office/drawing/2014/main" id="{196B3825-6C28-A490-212E-F7EA44736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028825"/>
            <a:ext cx="2322513" cy="219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88070" name="Text Box 6">
            <a:extLst>
              <a:ext uri="{FF2B5EF4-FFF2-40B4-BE49-F238E27FC236}">
                <a16:creationId xmlns:a16="http://schemas.microsoft.com/office/drawing/2014/main" id="{B13F8D7A-BFE3-8554-2634-286C246E1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455613"/>
            <a:ext cx="8532813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94615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46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46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tr-TR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. reg S ASVABC SM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 S |      Coef.   Std. Err.       t     P&gt;|t|       [95% Conf. Interval]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ASVABC |   .1381062   .0097494     14.166   0.000       .1189567    .1572556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SM |    .154783   .0350728      4.413   0.000       .0858946    .2236715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_cons |   4.791277   .5102431      9.390   0.000        3.78908    5.793475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. reg S SM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 S |      Coef.   Std. Err.       t     P&gt;|t|       [95% Conf. Interval]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   SM |   .3445198   .0376833      9.142   0.000       .2705041    .4185354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_cons |   9.506491   .4495754     21.145   0.000       8.623458    10.38952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800"/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</p:txBody>
      </p:sp>
      <p:sp>
        <p:nvSpPr>
          <p:cNvPr id="88071" name="3 Slayt Numarası Yer Tutucusu">
            <a:extLst>
              <a:ext uri="{FF2B5EF4-FFF2-40B4-BE49-F238E27FC236}">
                <a16:creationId xmlns:a16="http://schemas.microsoft.com/office/drawing/2014/main" id="{B1EE53BF-6693-E6E0-5090-FC1FFA09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390E40-24EC-4AF5-A639-0D185637C2D4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tr-TR" altLang="tr-TR" sz="1400"/>
          </a:p>
        </p:txBody>
      </p:sp>
      <p:sp>
        <p:nvSpPr>
          <p:cNvPr id="88072" name="Text Box 8">
            <a:extLst>
              <a:ext uri="{FF2B5EF4-FFF2-40B4-BE49-F238E27FC236}">
                <a16:creationId xmlns:a16="http://schemas.microsoft.com/office/drawing/2014/main" id="{D7F161D4-9648-ACCA-1F15-737CC316D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500" b="1"/>
              <a:t>Yukarıdaki örnekte sapma gerçekten çarpıcıdır</a:t>
            </a:r>
            <a:r>
              <a:rPr lang="en-GB" altLang="tr-TR" sz="1500" b="1"/>
              <a:t>. </a:t>
            </a:r>
            <a:r>
              <a:rPr lang="en-GB" altLang="tr-TR" sz="1500" b="1" i="1"/>
              <a:t>SM</a:t>
            </a:r>
            <a:r>
              <a:rPr lang="en-GB" altLang="tr-TR" sz="1500" b="1"/>
              <a:t> </a:t>
            </a:r>
            <a:r>
              <a:rPr lang="tr-TR" altLang="tr-TR" sz="1500" b="1"/>
              <a:t>katsayısı iki katından fazladır.</a:t>
            </a:r>
            <a:r>
              <a:rPr lang="en-GB" altLang="tr-TR" sz="1500" b="1"/>
              <a:t>  (</a:t>
            </a:r>
            <a:r>
              <a:rPr lang="tr-TR" altLang="tr-TR" sz="1500" b="1"/>
              <a:t>Büyük sonucun sebebi </a:t>
            </a:r>
            <a:r>
              <a:rPr lang="en-GB" altLang="tr-TR" sz="1500" b="1"/>
              <a:t>Var(</a:t>
            </a:r>
            <a:r>
              <a:rPr lang="en-GB" altLang="tr-TR" sz="1500" b="1" i="1"/>
              <a:t>SM</a:t>
            </a:r>
            <a:r>
              <a:rPr lang="en-GB" altLang="tr-TR" sz="1500" b="1"/>
              <a:t>)</a:t>
            </a:r>
            <a:r>
              <a:rPr lang="tr-TR" altLang="tr-TR" sz="1500" b="1"/>
              <a:t>,</a:t>
            </a:r>
            <a:r>
              <a:rPr lang="en-GB" altLang="tr-TR" sz="1500" b="1"/>
              <a:t> Var(ASVABC)’den</a:t>
            </a:r>
            <a:r>
              <a:rPr lang="en-GB" altLang="tr-TR" sz="1500" b="1" i="1"/>
              <a:t/>
            </a:r>
            <a:r>
              <a:rPr lang="en-GB" altLang="tr-TR" sz="1500" b="1"/>
              <a:t/>
            </a:r>
            <a:r>
              <a:rPr lang="tr-TR" altLang="tr-TR" sz="1500" b="1"/>
              <a:t> daha küçükken</a:t>
            </a:r>
            <a:r>
              <a:rPr lang="en-GB" altLang="tr-TR" sz="1500" b="1"/>
              <a:t>, </a:t>
            </a:r>
            <a:r>
              <a:rPr lang="en-GB" altLang="tr-TR" sz="1800" b="1" i="1">
                <a:latin typeface="Symbol" panose="05050102010706020507" pitchFamily="18" charset="2"/>
              </a:rPr>
              <a:t>b</a:t>
            </a:r>
            <a:r>
              <a:rPr lang="en-GB" altLang="tr-TR" sz="1500" b="1" baseline="-25000"/>
              <a:t>2</a:t>
            </a:r>
            <a:r>
              <a:rPr lang="en-GB" altLang="tr-TR" sz="1500" b="1"/>
              <a:t> </a:t>
            </a:r>
            <a:r>
              <a:rPr lang="tr-TR" altLang="tr-TR" sz="1500" b="1"/>
              <a:t>ve</a:t>
            </a:r>
            <a:r>
              <a:rPr lang="en-GB" altLang="tr-TR" sz="1500" b="1"/>
              <a:t> </a:t>
            </a:r>
            <a:r>
              <a:rPr lang="en-GB" altLang="tr-TR" sz="1800" b="1" i="1">
                <a:latin typeface="Symbol" panose="05050102010706020507" pitchFamily="18" charset="2"/>
              </a:rPr>
              <a:t>b</a:t>
            </a:r>
            <a:r>
              <a:rPr lang="en-GB" altLang="tr-TR" sz="1500" b="1" baseline="-25000"/>
              <a:t>3</a:t>
            </a:r>
            <a:r>
              <a:rPr lang="en-GB" altLang="tr-TR" sz="1500" b="1"/>
              <a:t> </a:t>
            </a:r>
            <a:r>
              <a:rPr lang="tr-TR" altLang="tr-TR" sz="1500" b="1"/>
              <a:t>nin tahminlerinin  aynı boyutta olmasıdır</a:t>
            </a:r>
            <a:r>
              <a:rPr lang="en-GB" altLang="tr-TR" sz="1500" b="1"/>
              <a:t>.)</a:t>
            </a:r>
            <a:endParaRPr lang="en-GB" altLang="tr-TR" sz="1500" b="1">
              <a:latin typeface="Times New Roman" panose="02020603050405020304" pitchFamily="18" charset="0"/>
            </a:endParaRPr>
          </a:p>
        </p:txBody>
      </p:sp>
      <p:sp>
        <p:nvSpPr>
          <p:cNvPr id="88073" name="Text Box 9">
            <a:extLst>
              <a:ext uri="{FF2B5EF4-FFF2-40B4-BE49-F238E27FC236}">
                <a16:creationId xmlns:a16="http://schemas.microsoft.com/office/drawing/2014/main" id="{77E1771E-561E-0319-14DF-6CCBEB0FE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sp>
        <p:nvSpPr>
          <p:cNvPr id="88074" name="Rectangle 11">
            <a:extLst>
              <a:ext uri="{FF2B5EF4-FFF2-40B4-BE49-F238E27FC236}">
                <a16:creationId xmlns:a16="http://schemas.microsoft.com/office/drawing/2014/main" id="{076D49B8-25F0-1AD8-BC62-B910019A1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724400"/>
            <a:ext cx="7778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800" b="1"/>
              <a:t>eğitim süresi (S), yetenek puanı (ASVABC) ve anne eğitim düzeyi (SM)</a:t>
            </a:r>
            <a:endParaRPr lang="en-GB" altLang="tr-TR" sz="18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2">
            <a:extLst>
              <a:ext uri="{FF2B5EF4-FFF2-40B4-BE49-F238E27FC236}">
                <a16:creationId xmlns:a16="http://schemas.microsoft.com/office/drawing/2014/main" id="{6260B8AC-4668-71BC-9186-E20EB7AB3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018088"/>
            <a:ext cx="2587625" cy="228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0115" name="Rectangle 10">
            <a:extLst>
              <a:ext uri="{FF2B5EF4-FFF2-40B4-BE49-F238E27FC236}">
                <a16:creationId xmlns:a16="http://schemas.microsoft.com/office/drawing/2014/main" id="{FFC61A45-66E0-5AA8-3B92-59FF83343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308350"/>
            <a:ext cx="2587625" cy="228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0116" name="Rectangle 8">
            <a:extLst>
              <a:ext uri="{FF2B5EF4-FFF2-40B4-BE49-F238E27FC236}">
                <a16:creationId xmlns:a16="http://schemas.microsoft.com/office/drawing/2014/main" id="{DA06232F-5EE7-C2F9-189A-31790E4DC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457450"/>
            <a:ext cx="1590675" cy="2286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0117" name="Rectangle 7">
            <a:extLst>
              <a:ext uri="{FF2B5EF4-FFF2-40B4-BE49-F238E27FC236}">
                <a16:creationId xmlns:a16="http://schemas.microsoft.com/office/drawing/2014/main" id="{667B30DE-D686-A314-BB5B-3BBEED06B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4157663"/>
            <a:ext cx="1169988" cy="2286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0118" name="Rectangle 2">
            <a:extLst>
              <a:ext uri="{FF2B5EF4-FFF2-40B4-BE49-F238E27FC236}">
                <a16:creationId xmlns:a16="http://schemas.microsoft.com/office/drawing/2014/main" id="{6A95EEC7-BC7C-2428-D100-06452F713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766763"/>
            <a:ext cx="1919288" cy="2286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0119" name="Rectangle 9">
            <a:extLst>
              <a:ext uri="{FF2B5EF4-FFF2-40B4-BE49-F238E27FC236}">
                <a16:creationId xmlns:a16="http://schemas.microsoft.com/office/drawing/2014/main" id="{AA54EBA2-CCAF-25B8-530D-738D7EA7D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617663"/>
            <a:ext cx="2587625" cy="228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0120" name="Text Box 3">
            <a:extLst>
              <a:ext uri="{FF2B5EF4-FFF2-40B4-BE49-F238E27FC236}">
                <a16:creationId xmlns:a16="http://schemas.microsoft.com/office/drawing/2014/main" id="{F64218A6-FF34-A50E-ECE1-7D6032171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455613"/>
            <a:ext cx="8532813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94615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46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46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tr-TR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. reg S ASVABC SM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F(  2,   567) =  156.81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Model |   1230.2039     2  615.101949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Residual |  2224.04347   567  3.92247526               R-squared     =  0.3561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Adj R-squared =  0.3539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Total |  3454.24737   569  6.07073351               Root MSE      =  1.9805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. reg S ASVABC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---------+------------------------------               F(  1,   568) =  284.89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Model |  1153.80864     1  1153.80864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Residual |  2300.43873   568  4.05006818               R-squared     =  0.3340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---------+------------------------------               Adj R-squared =  0.3329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Total |  3454.24737   569  6.07073351               Root MSE      =  2.0125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. reg S SM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F(  1,   568) =   83.59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Model |  443.110436     1  443.110436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Residual |  3011.13693   568  5.30129742               R-squared     =  0.1283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Adj R-squared =  0.1267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Total |  3454.24737   569  6.07073351               Root MSE      =  2.3025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</p:txBody>
      </p:sp>
      <p:sp>
        <p:nvSpPr>
          <p:cNvPr id="90121" name="3 Slayt Numarası Yer Tutucusu">
            <a:extLst>
              <a:ext uri="{FF2B5EF4-FFF2-40B4-BE49-F238E27FC236}">
                <a16:creationId xmlns:a16="http://schemas.microsoft.com/office/drawing/2014/main" id="{F90EAD9D-9E23-DBDB-221B-9B8A834A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97FBF0-36BA-4920-A183-31FEA8ECDDD2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tr-TR" altLang="tr-TR" sz="1400"/>
          </a:p>
        </p:txBody>
      </p:sp>
      <p:sp>
        <p:nvSpPr>
          <p:cNvPr id="90122" name="Text Box 5">
            <a:extLst>
              <a:ext uri="{FF2B5EF4-FFF2-40B4-BE49-F238E27FC236}">
                <a16:creationId xmlns:a16="http://schemas.microsoft.com/office/drawing/2014/main" id="{1CD00663-1459-DC7D-144C-DA0B86436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500" b="1"/>
              <a:t>Son olarak, </a:t>
            </a:r>
            <a:r>
              <a:rPr lang="en-GB" altLang="tr-TR" sz="1500" b="1"/>
              <a:t/>
            </a:r>
            <a:r>
              <a:rPr lang="en-GB" altLang="tr-TR" sz="1500" b="1" i="1"/>
              <a:t>R</a:t>
            </a:r>
            <a:r>
              <a:rPr lang="en-GB" altLang="tr-TR" sz="1500" b="1" baseline="30000"/>
              <a:t>2</a:t>
            </a:r>
            <a:r>
              <a:rPr lang="en-GB" altLang="tr-TR" sz="1500" b="1"/>
              <a:t>’nin bir değişken ihmal edildiğinde nasıl davrandığını inceleyelim.</a:t>
            </a:r>
            <a:r>
              <a:rPr lang="tr-TR" altLang="tr-TR" sz="1500" b="1"/>
              <a:t/>
            </a:r>
            <a:r>
              <a:rPr lang="en-GB" altLang="tr-TR" sz="1500" b="1"/>
              <a:t> </a:t>
            </a:r>
            <a:r>
              <a:rPr lang="en-GB" altLang="tr-TR" sz="1500" b="1" i="1"/>
              <a:t>S</a:t>
            </a:r>
            <a:r>
              <a:rPr lang="tr-TR" altLang="tr-TR" sz="1500" b="1" i="1"/>
              <a:t> nin </a:t>
            </a:r>
            <a:r>
              <a:rPr lang="en-GB" altLang="tr-TR" sz="1500" b="1"/>
              <a:t>  </a:t>
            </a:r>
            <a:r>
              <a:rPr lang="en-GB" altLang="tr-TR" sz="1500" b="1" i="1"/>
              <a:t>ASVABC</a:t>
            </a:r>
            <a:r>
              <a:rPr lang="tr-TR" altLang="tr-TR" sz="1500" b="1" i="1"/>
              <a:t> </a:t>
            </a:r>
            <a:r>
              <a:rPr lang="tr-TR" altLang="tr-TR" sz="1500" b="1"/>
              <a:t>deki basit regresyonundaki</a:t>
            </a:r>
            <a:r>
              <a:rPr lang="en-GB" altLang="tr-TR" sz="1500" b="1"/>
              <a:t>, </a:t>
            </a:r>
            <a:r>
              <a:rPr lang="en-GB" altLang="tr-TR" sz="1500" b="1" i="1"/>
              <a:t>R</a:t>
            </a:r>
            <a:r>
              <a:rPr lang="en-GB" altLang="tr-TR" sz="1500" b="1" baseline="30000"/>
              <a:t>2</a:t>
            </a:r>
            <a:r>
              <a:rPr lang="en-GB" altLang="tr-TR" sz="1500" b="1"/>
              <a:t> </a:t>
            </a:r>
            <a:r>
              <a:rPr lang="tr-TR" altLang="tr-TR" sz="1500" b="1"/>
              <a:t>değeri</a:t>
            </a:r>
            <a:r>
              <a:rPr lang="en-GB" altLang="tr-TR" sz="1500" b="1"/>
              <a:t> 0.33, </a:t>
            </a:r>
            <a:r>
              <a:rPr lang="tr-TR" altLang="tr-TR" sz="1500" b="1"/>
              <a:t>ve </a:t>
            </a:r>
            <a:r>
              <a:rPr lang="en-GB" altLang="tr-TR" sz="1500" b="1" i="1"/>
              <a:t>S</a:t>
            </a:r>
            <a:r>
              <a:rPr lang="en-GB" altLang="tr-TR" sz="1500" b="1"/>
              <a:t> </a:t>
            </a:r>
            <a:r>
              <a:rPr lang="tr-TR" altLang="tr-TR" sz="1500" b="1"/>
              <a:t>nin</a:t>
            </a:r>
            <a:r>
              <a:rPr lang="en-GB" altLang="tr-TR" sz="1500" b="1"/>
              <a:t> </a:t>
            </a:r>
            <a:r>
              <a:rPr lang="en-GB" altLang="tr-TR" sz="1500" b="1" i="1"/>
              <a:t>SM</a:t>
            </a:r>
            <a:r>
              <a:rPr lang="en-GB" altLang="tr-TR" sz="1500" b="1"/>
              <a:t> </a:t>
            </a:r>
            <a:r>
              <a:rPr lang="tr-TR" altLang="tr-TR" sz="1500" b="1"/>
              <a:t>deki basit regresyonundaki </a:t>
            </a:r>
            <a:r>
              <a:rPr lang="en-GB" altLang="tr-TR" sz="1500" b="1" i="1"/>
              <a:t>R</a:t>
            </a:r>
            <a:r>
              <a:rPr lang="en-GB" altLang="tr-TR" sz="1500" b="1" baseline="30000"/>
              <a:t>2 </a:t>
            </a:r>
            <a:r>
              <a:rPr lang="tr-TR" altLang="tr-TR" sz="1500" b="1" baseline="30000"/>
              <a:t>  </a:t>
            </a:r>
            <a:r>
              <a:rPr lang="tr-TR" altLang="tr-TR" sz="1500" b="1"/>
              <a:t> değeri </a:t>
            </a:r>
            <a:r>
              <a:rPr lang="en-GB" altLang="tr-TR" sz="1500" b="1"/>
              <a:t>0.13</a:t>
            </a:r>
            <a:r>
              <a:rPr lang="tr-TR" altLang="tr-TR" sz="1500" b="1"/>
              <a:t> dir.</a:t>
            </a:r>
            <a:endParaRPr lang="en-GB" altLang="tr-TR" sz="1500" b="1" baseline="30000"/>
          </a:p>
        </p:txBody>
      </p:sp>
      <p:sp>
        <p:nvSpPr>
          <p:cNvPr id="90123" name="Text Box 6">
            <a:extLst>
              <a:ext uri="{FF2B5EF4-FFF2-40B4-BE49-F238E27FC236}">
                <a16:creationId xmlns:a16="http://schemas.microsoft.com/office/drawing/2014/main" id="{2AAD236C-6D9E-0908-2DB2-7A54C7F11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1805CE6D-BCFD-677C-B856-F5595F5B8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018088"/>
            <a:ext cx="2587625" cy="228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19C393F8-35AA-860C-596A-6ACF940DA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308350"/>
            <a:ext cx="2587625" cy="228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D930AE7D-6385-204C-C8F2-E851566C2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617663"/>
            <a:ext cx="2587625" cy="228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0766DD3F-776A-6B14-859D-E2147F389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457450"/>
            <a:ext cx="1590675" cy="2286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A2B4DFCD-658F-F81D-421B-E428AEFB1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4157663"/>
            <a:ext cx="1169988" cy="2286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4BD87D87-D80F-A621-1677-7B8634291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766763"/>
            <a:ext cx="1919288" cy="2286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2168" name="Text Box 8">
            <a:extLst>
              <a:ext uri="{FF2B5EF4-FFF2-40B4-BE49-F238E27FC236}">
                <a16:creationId xmlns:a16="http://schemas.microsoft.com/office/drawing/2014/main" id="{905A0A0D-6862-EE31-2700-D6EDDD0DA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455613"/>
            <a:ext cx="8532813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94615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46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46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tr-TR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. reg S ASVABC SM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F(  2,   567) =  156.81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Model |   1230.2039     2  615.101949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Residual |  2224.04347   567  3.92247526               R-squared     =  0.3561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Adj R-squared =  0.3539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Total |  3454.24737   569  6.07073351               Root MSE      =  1.9805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. reg S ASVABC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---------+------------------------------               F(  1,   568) =  284.89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Model |  1153.80864     1  1153.80864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Residual |  2300.43873   568  4.05006818               R-squared     =  0.3340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---------+------------------------------               Adj R-squared =  0.3329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Total |  3454.24737   569  6.07073351               Root MSE      =  2.0125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. reg S SM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F(  1,   568) =   83.59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Model |  443.110436     1  443.110436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Residual |  3011.13693   568  5.30129742               R-squared     =  0.1283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Adj R-squared =  0.1267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Total |  3454.24737   569  6.07073351               Root MSE      =  2.3025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</p:txBody>
      </p:sp>
      <p:sp>
        <p:nvSpPr>
          <p:cNvPr id="92169" name="3 Slayt Numarası Yer Tutucusu">
            <a:extLst>
              <a:ext uri="{FF2B5EF4-FFF2-40B4-BE49-F238E27FC236}">
                <a16:creationId xmlns:a16="http://schemas.microsoft.com/office/drawing/2014/main" id="{62A13587-72AA-9A62-6614-9DC63E1F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AB8554-06B6-4D1C-98B2-5434F4E56E0C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tr-TR" altLang="tr-TR" sz="1400"/>
          </a:p>
        </p:txBody>
      </p:sp>
      <p:sp>
        <p:nvSpPr>
          <p:cNvPr id="92170" name="Text Box 11">
            <a:extLst>
              <a:ext uri="{FF2B5EF4-FFF2-40B4-BE49-F238E27FC236}">
                <a16:creationId xmlns:a16="http://schemas.microsoft.com/office/drawing/2014/main" id="{8BFD93ED-912D-AA16-1DA2-4E0E7C4FC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sp>
        <p:nvSpPr>
          <p:cNvPr id="92171" name="Text Box 13">
            <a:extLst>
              <a:ext uri="{FF2B5EF4-FFF2-40B4-BE49-F238E27FC236}">
                <a16:creationId xmlns:a16="http://schemas.microsoft.com/office/drawing/2014/main" id="{84E6DAD4-B53E-14C9-F9E5-165CB96C2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500" b="1"/>
              <a:t>Yukarıdaki örnek </a:t>
            </a:r>
            <a:r>
              <a:rPr lang="en-GB" altLang="tr-TR" sz="1500" b="1" i="1"/>
              <a:t>ASVABC’nin S’deki değişimin %33’ünü, SM’nin ise %13’ünü</a:t>
            </a:r>
            <a:r>
              <a:rPr lang="en-GB" altLang="tr-TR" sz="1500" b="1"/>
              <a:t/>
            </a:r>
            <a:r>
              <a:rPr lang="tr-TR" altLang="tr-TR" sz="1500" b="1"/>
              <a:t/>
            </a:r>
            <a:r>
              <a:rPr lang="en-GB" altLang="tr-TR" sz="1500" b="1"/>
              <a:t/>
            </a:r>
            <a:r>
              <a:rPr lang="en-GB" altLang="tr-TR" sz="1500" b="1" i="1"/>
              <a:t/>
            </a:r>
            <a:r>
              <a:rPr lang="tr-TR" altLang="tr-TR" sz="1500" b="1" i="1"/>
              <a:t/>
            </a:r>
            <a:r>
              <a:rPr lang="en-GB" altLang="tr-TR" sz="1500" b="1" i="1"/>
              <a:t/>
            </a:r>
            <a:r>
              <a:rPr lang="en-GB" altLang="tr-TR" sz="1500" b="1"/>
              <a:t/>
            </a:r>
            <a:r>
              <a:rPr lang="tr-TR" altLang="tr-TR" sz="1500" b="1"/>
              <a:t/>
            </a:r>
            <a:r>
              <a:rPr lang="en-GB" altLang="tr-TR" sz="1500" b="1"/>
              <a:t/>
            </a:r>
            <a:r>
              <a:rPr lang="tr-TR" altLang="tr-TR" sz="1500" b="1"/>
              <a:t> açıkladığını ifade etmekte midir? </a:t>
            </a:r>
            <a:r>
              <a:rPr lang="en-GB" altLang="tr-TR" sz="1500" b="1"/>
              <a:t> </a:t>
            </a:r>
            <a:r>
              <a:rPr lang="tr-TR" altLang="tr-TR" sz="1500" b="1"/>
              <a:t>Hayır; çünkü çoklu</a:t>
            </a:r>
            <a:r>
              <a:rPr lang="en-GB" altLang="tr-TR" sz="1500" b="1"/>
              <a:t/>
            </a:r>
            <a:r>
              <a:rPr lang="tr-TR" altLang="tr-TR" sz="1500" b="1"/>
              <a:t> regresyon ortak açıklama gücünün </a:t>
            </a:r>
            <a:r>
              <a:rPr lang="en-GB" altLang="tr-TR" sz="1500" b="1"/>
              <a:t>0.46 </a:t>
            </a:r>
            <a:r>
              <a:rPr lang="tr-TR" altLang="tr-TR" sz="1500" b="1"/>
              <a:t>değil </a:t>
            </a:r>
            <a:r>
              <a:rPr lang="en-GB" altLang="tr-TR" sz="1500" b="1"/>
              <a:t>0.36 olduğunu</a:t>
            </a:r>
            <a:r>
              <a:rPr lang="tr-TR" altLang="tr-TR" sz="1500" b="1"/>
              <a:t/>
            </a:r>
            <a:r>
              <a:rPr lang="en-GB" altLang="tr-TR" sz="1500" b="1"/>
              <a:t/>
            </a:r>
            <a:r>
              <a:rPr lang="tr-TR" altLang="tr-TR" sz="1500" b="1"/>
              <a:t> göstermektedir.</a:t>
            </a:r>
            <a:endParaRPr lang="en-GB" altLang="tr-TR" sz="1500" b="1" baseline="30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9A527C82-B9EE-E37C-9FD7-6D831F74D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018088"/>
            <a:ext cx="2587625" cy="228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AF4BDFBE-F4F4-4F44-8462-B5B363A1A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308350"/>
            <a:ext cx="2587625" cy="228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222E3D74-793B-C243-043A-B58E35C79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617663"/>
            <a:ext cx="2587625" cy="228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004D493D-D3FA-7BBA-45B9-2062D3506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2457450"/>
            <a:ext cx="1590675" cy="2286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0C50B98A-AC2F-E9A1-A384-0753CD26A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4157663"/>
            <a:ext cx="1169988" cy="2286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4215" name="Rectangle 7">
            <a:extLst>
              <a:ext uri="{FF2B5EF4-FFF2-40B4-BE49-F238E27FC236}">
                <a16:creationId xmlns:a16="http://schemas.microsoft.com/office/drawing/2014/main" id="{4334A662-1C05-7C76-D5A9-F4C830DD9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766763"/>
            <a:ext cx="1919288" cy="2286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tr-TR" altLang="tr-TR" sz="1800">
              <a:latin typeface="Verdana" panose="020B0604030504040204" pitchFamily="34" charset="0"/>
            </a:endParaRPr>
          </a:p>
        </p:txBody>
      </p:sp>
      <p:sp>
        <p:nvSpPr>
          <p:cNvPr id="94216" name="Text Box 8">
            <a:extLst>
              <a:ext uri="{FF2B5EF4-FFF2-40B4-BE49-F238E27FC236}">
                <a16:creationId xmlns:a16="http://schemas.microsoft.com/office/drawing/2014/main" id="{7C1A35B0-1797-8109-E2A9-E6A7345DD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455613"/>
            <a:ext cx="8532813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94615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46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46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46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tr-TR" sz="1800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. reg S ASVABC SM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F(  2,   567) =  156.81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Model |   1230.2039     2  615.101949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Residual |  2224.04347   567  3.92247526               R-squared     =  0.3561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Adj R-squared =  0.3539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Total |  3454.24737   569  6.07073351               Root MSE      =  1.9805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. reg S ASVABC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---------+------------------------------               F(  1,   568) =  284.89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Model |  1153.80864     1  1153.80864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Residual |  2300.43873   568  4.05006818               R-squared     =  0.3340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---------+------------------------------               Adj R-squared =  0.3329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tr-TR" sz="1400" b="1">
                <a:latin typeface="Courier New" panose="02070309020205020404" pitchFamily="49" charset="0"/>
              </a:rPr>
              <a:t>   Total |  3454.24737   569  6.07073351               Root MSE      =  2.0125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. reg S SM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Source |       SS       df       MS                  Number of obs =     570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F(  1,   568) =   83.59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Model |  443.110436     1  443.110436               Prob &gt; F      =  0.0000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Residual |  3011.13693   568  5.30129742               R-squared     =  0.1283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---------+------------------------------               Adj R-squared =  0.1267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tr-TR" sz="1400" b="1">
                <a:latin typeface="Courier New" panose="02070309020205020404" pitchFamily="49" charset="0"/>
              </a:rPr>
              <a:t>   Total |  3454.24737   569  6.07073351               Root MSE      =  2.3025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tr-TR" sz="1400" b="1">
              <a:latin typeface="Courier New" panose="02070309020205020404" pitchFamily="49" charset="0"/>
            </a:endParaRPr>
          </a:p>
        </p:txBody>
      </p:sp>
      <p:sp>
        <p:nvSpPr>
          <p:cNvPr id="94217" name="3 Slayt Numarası Yer Tutucusu">
            <a:extLst>
              <a:ext uri="{FF2B5EF4-FFF2-40B4-BE49-F238E27FC236}">
                <a16:creationId xmlns:a16="http://schemas.microsoft.com/office/drawing/2014/main" id="{2FC9A9E8-050A-DF47-F797-1A062F7BD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A093E7-7D7E-425A-9409-27D600423006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tr-TR" altLang="tr-TR" sz="1400"/>
          </a:p>
        </p:txBody>
      </p:sp>
      <p:sp>
        <p:nvSpPr>
          <p:cNvPr id="94218" name="Text Box 9">
            <a:extLst>
              <a:ext uri="{FF2B5EF4-FFF2-40B4-BE49-F238E27FC236}">
                <a16:creationId xmlns:a16="http://schemas.microsoft.com/office/drawing/2014/main" id="{91E378DD-227A-77BC-69BE-6F61F56BE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0"/>
            <a:ext cx="8528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tr-TR" sz="1800" b="1"/>
              <a:t>GEREKLİ BİR DEĞİŞKENİN MODELE ALINMAMASI</a:t>
            </a:r>
            <a:endParaRPr lang="en-GB" altLang="tr-TR" sz="1600">
              <a:latin typeface="Times New Roman" panose="02020603050405020304" pitchFamily="18" charset="0"/>
            </a:endParaRPr>
          </a:p>
        </p:txBody>
      </p:sp>
      <p:sp>
        <p:nvSpPr>
          <p:cNvPr id="94219" name="Text Box 13">
            <a:extLst>
              <a:ext uri="{FF2B5EF4-FFF2-40B4-BE49-F238E27FC236}">
                <a16:creationId xmlns:a16="http://schemas.microsoft.com/office/drawing/2014/main" id="{CF608C3E-79F7-1C96-5DF6-C84D99CC4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788025"/>
            <a:ext cx="8532813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tr-TR" altLang="tr-TR" sz="1500" b="1"/>
              <a:t>İkinci regresyonda</a:t>
            </a:r>
            <a:r>
              <a:rPr lang="en-GB" altLang="tr-TR" sz="1500" b="1"/>
              <a:t>, </a:t>
            </a:r>
            <a:r>
              <a:rPr lang="en-GB" altLang="tr-TR" sz="1500" b="1" i="1"/>
              <a:t>ASVABC</a:t>
            </a:r>
            <a:r>
              <a:rPr lang="en-GB" altLang="tr-TR" sz="1500" b="1"/>
              <a:t> </a:t>
            </a:r>
            <a:r>
              <a:rPr lang="en-GB" altLang="tr-TR" sz="1500" b="1" i="1"/>
              <a:t>SM</a:t>
            </a:r>
            <a:r>
              <a:rPr lang="tr-TR" altLang="tr-TR" sz="1500" b="1" i="1"/>
              <a:t> için  kısmen vekil gibi davranmakta ve bu</a:t>
            </a:r>
            <a:r>
              <a:rPr lang="en-GB" altLang="tr-TR" sz="1500" b="1"/>
              <a:t/>
            </a:r>
            <a:r>
              <a:rPr lang="tr-TR" altLang="tr-TR" sz="1500" b="1"/>
              <a:t> görünür açıklama gücünü şişirmektedir</a:t>
            </a:r>
            <a:r>
              <a:rPr lang="en-GB" altLang="tr-TR" sz="1500" b="1"/>
              <a:t>.  </a:t>
            </a:r>
            <a:r>
              <a:rPr lang="tr-TR" altLang="tr-TR" sz="1500" b="1"/>
              <a:t>Benzer biçimde,</a:t>
            </a:r>
            <a:r>
              <a:rPr lang="en-GB" altLang="tr-TR" sz="1500" b="1"/>
              <a:t> </a:t>
            </a:r>
            <a:r>
              <a:rPr lang="tr-TR" altLang="tr-TR" sz="1500" b="1"/>
              <a:t>üçüncü regresyonda</a:t>
            </a:r>
            <a:r>
              <a:rPr lang="en-GB" altLang="tr-TR" sz="1500" b="1"/>
              <a:t>, </a:t>
            </a:r>
            <a:r>
              <a:rPr lang="en-GB" altLang="tr-TR" sz="1500" b="1" i="1"/>
              <a:t>SM</a:t>
            </a:r>
            <a:r>
              <a:rPr lang="en-GB" altLang="tr-TR" sz="1500" b="1"/>
              <a:t> </a:t>
            </a:r>
            <a:r>
              <a:rPr lang="en-GB" altLang="tr-TR" sz="1500" b="1" i="1"/>
              <a:t>ASVABC</a:t>
            </a:r>
            <a:r>
              <a:rPr lang="tr-TR" altLang="tr-TR" sz="1500" b="1" i="1"/>
              <a:t> için vekil gibi davranmaktadır</a:t>
            </a:r>
            <a:r>
              <a:rPr lang="en-GB" altLang="tr-TR" sz="1500" b="1"/>
              <a:t>, </a:t>
            </a:r>
            <a:r>
              <a:rPr lang="tr-TR" altLang="tr-TR" sz="1500" b="1"/>
              <a:t> yine görünür açıklama gücünü şişirmektedir.</a:t>
            </a:r>
            <a:r>
              <a:rPr lang="en-GB" altLang="tr-TR" sz="1500" b="1"/>
              <a:t/>
            </a:r>
            <a:endParaRPr lang="en-GB" altLang="tr-TR" sz="1500" b="1" baseline="30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3 Slayt Numarası Yer Tutucusu">
            <a:extLst>
              <a:ext uri="{FF2B5EF4-FFF2-40B4-BE49-F238E27FC236}">
                <a16:creationId xmlns:a16="http://schemas.microsoft.com/office/drawing/2014/main" id="{E13D5B11-7B04-22C4-1881-F321B9772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D9E723-551A-4B5A-908A-3386AB4CC918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tr-TR" altLang="tr-TR" sz="14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C6C74172-E96E-CD90-AFDC-89ADFFF94FC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2863"/>
            <a:ext cx="7772400" cy="762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600"/>
              <a:t>Tanımlama Hatası Testleri</a:t>
            </a:r>
            <a:endParaRPr lang="en-US" altLang="tr-TR" sz="3600"/>
          </a:p>
        </p:txBody>
      </p:sp>
      <p:sp>
        <p:nvSpPr>
          <p:cNvPr id="16395" name="Text Box 11">
            <a:extLst>
              <a:ext uri="{FF2B5EF4-FFF2-40B4-BE49-F238E27FC236}">
                <a16:creationId xmlns:a16="http://schemas.microsoft.com/office/drawing/2014/main" id="{52E147BB-3455-F5AF-264F-1D73C9656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4438"/>
            <a:ext cx="6858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r-TR" altLang="tr-TR" sz="2400">
                <a:latin typeface="Times New Roman" panose="02020603050405020304" pitchFamily="18" charset="0"/>
              </a:rPr>
              <a:t>Gereksiz değişkenlerin varlığının araştırılması,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tr-TR" altLang="tr-TR" sz="2400">
                <a:latin typeface="Times New Roman" panose="02020603050405020304" pitchFamily="18" charset="0"/>
              </a:rPr>
              <a:t> Basit t testi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tr-TR" altLang="tr-TR" sz="2400">
                <a:latin typeface="Times New Roman" panose="02020603050405020304" pitchFamily="18" charset="0"/>
              </a:rPr>
              <a:t> Değişkenin gerekli olup olmadığı F testi  </a:t>
            </a:r>
          </a:p>
        </p:txBody>
      </p:sp>
      <p:sp>
        <p:nvSpPr>
          <p:cNvPr id="16396" name="Text Box 12">
            <a:extLst>
              <a:ext uri="{FF2B5EF4-FFF2-40B4-BE49-F238E27FC236}">
                <a16:creationId xmlns:a16="http://schemas.microsoft.com/office/drawing/2014/main" id="{04524AA4-A39D-5017-2B8E-867534956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965450"/>
            <a:ext cx="853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</a:rPr>
              <a:t>Gerekli değişkenlerin gözardı edilmesinin ve yanlış fonksiyonel biçimin test edilmesi:</a:t>
            </a:r>
          </a:p>
        </p:txBody>
      </p:sp>
      <p:sp>
        <p:nvSpPr>
          <p:cNvPr id="16397" name="Text Box 13">
            <a:extLst>
              <a:ext uri="{FF2B5EF4-FFF2-40B4-BE49-F238E27FC236}">
                <a16:creationId xmlns:a16="http://schemas.microsoft.com/office/drawing/2014/main" id="{D2BC1E70-3B5B-6ACA-8BFC-C0056F0F8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821113"/>
            <a:ext cx="8215312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Hataların İncelenmesi</a:t>
            </a:r>
            <a:endParaRPr lang="en-US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tr-TR" sz="2400">
                <a:latin typeface="Times New Roman" panose="02020603050405020304" pitchFamily="18" charset="0"/>
              </a:rPr>
              <a:t>Durbin-Watson d istatistiği</a:t>
            </a:r>
            <a:r>
              <a:rPr lang="tr-TR" altLang="tr-TR" sz="2400">
                <a:latin typeface="Times New Roman" panose="02020603050405020304" pitchFamily="18" charset="0"/>
              </a:rPr>
              <a:t/>
            </a:r>
            <a:r>
              <a:rPr lang="en-US" altLang="tr-TR" sz="2400">
                <a:latin typeface="Times New Roman" panose="02020603050405020304" pitchFamily="18" charset="0"/>
              </a:rPr>
              <a:t/>
            </a:r>
            <a:r>
              <a:rPr lang="tr-TR" altLang="tr-TR" sz="2400">
                <a:latin typeface="Times New Roman" panose="02020603050405020304" pitchFamily="18" charset="0"/>
              </a:rPr>
              <a:t/>
            </a:r>
            <a:r>
              <a:rPr lang="en-US" altLang="tr-TR" sz="2400">
                <a:latin typeface="Times New Roman" panose="02020603050405020304" pitchFamily="18" charset="0"/>
              </a:rPr>
              <a:t/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tr-TR" sz="2400">
                <a:latin typeface="Times New Roman" panose="02020603050405020304" pitchFamily="18" charset="0"/>
              </a:rPr>
              <a:t>Ramsey’</a:t>
            </a:r>
            <a:r>
              <a:rPr lang="tr-TR" altLang="tr-TR" sz="2400">
                <a:latin typeface="Times New Roman" panose="02020603050405020304" pitchFamily="18" charset="0"/>
              </a:rPr>
              <a:t>in</a:t>
            </a:r>
            <a:r>
              <a:rPr lang="en-US" altLang="tr-TR" sz="2400">
                <a:latin typeface="Times New Roman" panose="02020603050405020304" pitchFamily="18" charset="0"/>
              </a:rPr>
              <a:t> RESET test</a:t>
            </a:r>
            <a:r>
              <a:rPr lang="tr-TR" altLang="tr-TR" sz="2400">
                <a:latin typeface="Times New Roman" panose="02020603050405020304" pitchFamily="18" charset="0"/>
              </a:rPr>
              <a:t>i</a:t>
            </a:r>
            <a:endParaRPr lang="en-US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Eklenen Değişkenler için </a:t>
            </a:r>
            <a:r>
              <a:rPr lang="en-US" altLang="tr-TR" sz="2400">
                <a:latin typeface="Times New Roman" panose="02020603050405020304" pitchFamily="18" charset="0"/>
              </a:rPr>
              <a:t>Lagrange Multiplier (LM) test</a:t>
            </a:r>
            <a:r>
              <a:rPr lang="tr-TR" altLang="tr-TR" sz="2400">
                <a:latin typeface="Times New Roman" panose="02020603050405020304" pitchFamily="18" charset="0"/>
              </a:rPr>
              <a:t>i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Hausman Testi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5" grpId="0" autoUpdateAnimBg="0"/>
      <p:bldP spid="16396" grpId="0" autoUpdateAnimBg="0"/>
      <p:bldP spid="16397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3 Slayt Numarası Yer Tutucusu">
            <a:extLst>
              <a:ext uri="{FF2B5EF4-FFF2-40B4-BE49-F238E27FC236}">
                <a16:creationId xmlns:a16="http://schemas.microsoft.com/office/drawing/2014/main" id="{497B65CB-1830-63DE-AE36-CC05FF37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D0E7D5-D3FB-4F59-A05E-C91378A830F9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tr-TR" altLang="tr-TR" sz="140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D0CC6745-3BAD-01C3-268C-3E701DF32E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2863"/>
            <a:ext cx="7772400" cy="762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600">
                <a:solidFill>
                  <a:schemeClr val="tx1"/>
                </a:solidFill>
              </a:rPr>
              <a:t>Hataların İncelenmesi</a:t>
            </a:r>
            <a:endParaRPr lang="en-US" altLang="tr-TR" sz="3600">
              <a:solidFill>
                <a:schemeClr val="tx1"/>
              </a:solidFill>
            </a:endParaRPr>
          </a:p>
        </p:txBody>
      </p:sp>
      <p:pic>
        <p:nvPicPr>
          <p:cNvPr id="98308" name="Picture 98307" descr="fig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1005840"/>
            <a:ext cx="8595360" cy="3291840"/>
          </a:xfrm>
          <a:prstGeom prst="rect">
            <a:avLst/>
          </a:prstGeom>
        </p:spPr>
      </p:pic>
      <p:sp>
        <p:nvSpPr>
          <p:cNvPr id="98309" name="TextBox 98308"/>
          <p:cNvSpPr txBox="1"/>
          <p:nvPr/>
        </p:nvSpPr>
        <p:spPr>
          <a:xfrm>
            <a:off x="365760" y="443484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Toplam maliyet örneği (10 gözlem): doğrusal ve karesel modellerin kalıntılarında belirgin bir örüntü vardır, kübik modelde örüntü kaybolur.</a:t>
            </a:r>
          </a:p>
          <a:p>
            <a:r>
              <a:rPr sz="1800" lang="tr-TR">
                <a:latin typeface="Times New Roman"/>
              </a:rPr>
              <a:t>Kalıntılardaki sistematik örüntü, dışlanmış bir değişkenin ya da yanlış fonksiyonel biçimin belirtisidir.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3 Slayt Numarası Yer Tutucusu">
            <a:extLst>
              <a:ext uri="{FF2B5EF4-FFF2-40B4-BE49-F238E27FC236}">
                <a16:creationId xmlns:a16="http://schemas.microsoft.com/office/drawing/2014/main" id="{9EB1DD8D-781E-5734-8085-F256EBDC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FF6A80-D57A-4B1F-9E49-07A78F47D746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343CBA6-844F-F67C-6919-E25A9B596C9D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2863"/>
            <a:ext cx="7772400" cy="76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600" kern="0">
                <a:latin typeface="+mj-lt"/>
                <a:ea typeface="+mj-ea"/>
                <a:cs typeface="+mj-cs"/>
              </a:rPr>
              <a:t>Ramsey’</a:t>
            </a:r>
            <a:r>
              <a:rPr lang="tr-TR" sz="3600" kern="0">
                <a:latin typeface="+mj-lt"/>
                <a:ea typeface="+mj-ea"/>
                <a:cs typeface="+mj-cs"/>
              </a:rPr>
              <a:t>in</a:t>
            </a:r>
            <a:r>
              <a:rPr lang="en-US" sz="3600" kern="0">
                <a:latin typeface="+mj-lt"/>
                <a:ea typeface="+mj-ea"/>
                <a:cs typeface="+mj-cs"/>
              </a:rPr>
              <a:t> RESET test</a:t>
            </a:r>
            <a:r>
              <a:rPr lang="tr-TR" sz="3600" kern="0">
                <a:latin typeface="+mj-lt"/>
                <a:ea typeface="+mj-ea"/>
                <a:cs typeface="+mj-cs"/>
              </a:rPr>
              <a:t>i</a:t>
            </a:r>
            <a:endParaRPr lang="en-US" sz="3600" kern="0">
              <a:latin typeface="+mj-lt"/>
              <a:ea typeface="+mj-ea"/>
              <a:cs typeface="+mj-cs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9FAF4AC-4403-1186-A50E-37CBA4794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1785938"/>
            <a:ext cx="314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 =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2i</a:t>
            </a:r>
            <a:r>
              <a:rPr lang="en-US" altLang="tr-TR" sz="2400">
                <a:latin typeface="Times New Roman" panose="02020603050405020304" pitchFamily="18" charset="0"/>
              </a:rPr>
              <a:t> + u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00357" name="4 Metin kutusu">
            <a:extLst>
              <a:ext uri="{FF2B5EF4-FFF2-40B4-BE49-F238E27FC236}">
                <a16:creationId xmlns:a16="http://schemas.microsoft.com/office/drawing/2014/main" id="{D4E2BD7B-0129-3542-FDD6-356389A9E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071563"/>
            <a:ext cx="8286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Modelde tanımlama hatası olup olmadığını araştırmak için</a:t>
            </a:r>
          </a:p>
        </p:txBody>
      </p:sp>
      <p:sp>
        <p:nvSpPr>
          <p:cNvPr id="1034" name="5 Metin kutusu">
            <a:extLst>
              <a:ext uri="{FF2B5EF4-FFF2-40B4-BE49-F238E27FC236}">
                <a16:creationId xmlns:a16="http://schemas.microsoft.com/office/drawing/2014/main" id="{D667D08E-5B0D-97B2-691C-56F3EBDC6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1785938"/>
            <a:ext cx="1500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1. Adım: </a:t>
            </a:r>
          </a:p>
        </p:txBody>
      </p:sp>
      <p:sp>
        <p:nvSpPr>
          <p:cNvPr id="7" name="6 Sağ Ok">
            <a:extLst>
              <a:ext uri="{FF2B5EF4-FFF2-40B4-BE49-F238E27FC236}">
                <a16:creationId xmlns:a16="http://schemas.microsoft.com/office/drawing/2014/main" id="{0BDF7100-20B9-A5DD-58C2-C8B232C0DC59}"/>
              </a:ext>
            </a:extLst>
          </p:cNvPr>
          <p:cNvSpPr/>
          <p:nvPr/>
        </p:nvSpPr>
        <p:spPr>
          <a:xfrm>
            <a:off x="4429125" y="1857375"/>
            <a:ext cx="1214438" cy="3571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 sz="2400"/>
          </a:p>
        </p:txBody>
      </p:sp>
      <p:graphicFrame>
        <p:nvGraphicFramePr>
          <p:cNvPr id="1026" name="Object 8">
            <a:extLst>
              <a:ext uri="{FF2B5EF4-FFF2-40B4-BE49-F238E27FC236}">
                <a16:creationId xmlns:a16="http://schemas.microsoft.com/office/drawing/2014/main" id="{7C19C49C-62C5-109F-F1BC-29F961EE49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1624013"/>
          <a:ext cx="500063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5" imgH="266353" progId="Equation.DSMT4">
                  <p:embed/>
                </p:oleObj>
              </mc:Choice>
              <mc:Fallback>
                <p:oleObj name="Equation" r:id="rId3" imgW="164885" imgH="266353" progId="Equation.DSMT4">
                  <p:embed/>
                  <p:pic>
                    <p:nvPicPr>
                      <p:cNvPr id="1026" name="Object 8">
                        <a:extLst>
                          <a:ext uri="{FF2B5EF4-FFF2-40B4-BE49-F238E27FC236}">
                            <a16:creationId xmlns:a16="http://schemas.microsoft.com/office/drawing/2014/main" id="{7C19C49C-62C5-109F-F1BC-29F961EE49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1624013"/>
                        <a:ext cx="500063" cy="80803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8 Metin kutusu">
            <a:extLst>
              <a:ext uri="{FF2B5EF4-FFF2-40B4-BE49-F238E27FC236}">
                <a16:creationId xmlns:a16="http://schemas.microsoft.com/office/drawing/2014/main" id="{521430FE-C5A3-130C-69C6-EA7141A96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2643188"/>
            <a:ext cx="1785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2. Adım:</a:t>
            </a:r>
          </a:p>
        </p:txBody>
      </p:sp>
      <p:graphicFrame>
        <p:nvGraphicFramePr>
          <p:cNvPr id="1027" name="Object 9">
            <a:extLst>
              <a:ext uri="{FF2B5EF4-FFF2-40B4-BE49-F238E27FC236}">
                <a16:creationId xmlns:a16="http://schemas.microsoft.com/office/drawing/2014/main" id="{EF1581FC-8BA1-B4B3-D2BE-1B40A12514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6688" y="2582863"/>
          <a:ext cx="1081087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8000" imgH="279400" progId="Equation.DSMT4">
                  <p:embed/>
                </p:oleObj>
              </mc:Choice>
              <mc:Fallback>
                <p:oleObj name="Equation" r:id="rId5" imgW="508000" imgH="279400" progId="Equation.DSMT4">
                  <p:embed/>
                  <p:pic>
                    <p:nvPicPr>
                      <p:cNvPr id="1027" name="Object 9">
                        <a:extLst>
                          <a:ext uri="{FF2B5EF4-FFF2-40B4-BE49-F238E27FC236}">
                            <a16:creationId xmlns:a16="http://schemas.microsoft.com/office/drawing/2014/main" id="{EF1581FC-8BA1-B4B3-D2BE-1B40A12514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2582863"/>
                        <a:ext cx="1081087" cy="5937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" name="10 Metin kutusu">
            <a:extLst>
              <a:ext uri="{FF2B5EF4-FFF2-40B4-BE49-F238E27FC236}">
                <a16:creationId xmlns:a16="http://schemas.microsoft.com/office/drawing/2014/main" id="{3FFF028E-F9F8-098D-1C4A-1E899378B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2714625"/>
            <a:ext cx="4929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arasındaki dağılma diyagramı çizilerek </a:t>
            </a:r>
          </a:p>
        </p:txBody>
      </p:sp>
      <p:graphicFrame>
        <p:nvGraphicFramePr>
          <p:cNvPr id="1028" name="Object 10">
            <a:extLst>
              <a:ext uri="{FF2B5EF4-FFF2-40B4-BE49-F238E27FC236}">
                <a16:creationId xmlns:a16="http://schemas.microsoft.com/office/drawing/2014/main" id="{11ACA53C-EBBF-2F07-CF13-AF029B9279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9050" y="2386013"/>
          <a:ext cx="6540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5713" imgH="291847" progId="Equation.DSMT4">
                  <p:embed/>
                </p:oleObj>
              </mc:Choice>
              <mc:Fallback>
                <p:oleObj name="Equation" r:id="rId7" imgW="215713" imgH="291847" progId="Equation.DSMT4">
                  <p:embed/>
                  <p:pic>
                    <p:nvPicPr>
                      <p:cNvPr id="1028" name="Object 10">
                        <a:extLst>
                          <a:ext uri="{FF2B5EF4-FFF2-40B4-BE49-F238E27FC236}">
                            <a16:creationId xmlns:a16="http://schemas.microsoft.com/office/drawing/2014/main" id="{11ACA53C-EBBF-2F07-CF13-AF029B9279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9050" y="2386013"/>
                        <a:ext cx="654050" cy="8858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" name="12 Metin kutusu">
            <a:extLst>
              <a:ext uri="{FF2B5EF4-FFF2-40B4-BE49-F238E27FC236}">
                <a16:creationId xmlns:a16="http://schemas.microsoft.com/office/drawing/2014/main" id="{0EB59807-7986-43C0-C24C-CA636F19D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3357563"/>
            <a:ext cx="8286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(n= 2, 3,…..,) değişkenler eklenerek model yeniden tahminlenir. </a:t>
            </a:r>
          </a:p>
        </p:txBody>
      </p:sp>
      <p:graphicFrame>
        <p:nvGraphicFramePr>
          <p:cNvPr id="1029" name="Object 11">
            <a:extLst>
              <a:ext uri="{FF2B5EF4-FFF2-40B4-BE49-F238E27FC236}">
                <a16:creationId xmlns:a16="http://schemas.microsoft.com/office/drawing/2014/main" id="{FF0ED0F4-4DC9-A772-F59A-14B25A8A7C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4592638"/>
          <a:ext cx="329565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12900" imgH="342900" progId="Equation.DSMT4">
                  <p:embed/>
                </p:oleObj>
              </mc:Choice>
              <mc:Fallback>
                <p:oleObj name="Equation" r:id="rId9" imgW="1612900" imgH="342900" progId="Equation.DSMT4">
                  <p:embed/>
                  <p:pic>
                    <p:nvPicPr>
                      <p:cNvPr id="1029" name="Object 11">
                        <a:extLst>
                          <a:ext uri="{FF2B5EF4-FFF2-40B4-BE49-F238E27FC236}">
                            <a16:creationId xmlns:a16="http://schemas.microsoft.com/office/drawing/2014/main" id="{FF0ED0F4-4DC9-A772-F59A-14B25A8A7C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592638"/>
                        <a:ext cx="3295650" cy="70008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9" name="14 Metin kutusu">
            <a:extLst>
              <a:ext uri="{FF2B5EF4-FFF2-40B4-BE49-F238E27FC236}">
                <a16:creationId xmlns:a16="http://schemas.microsoft.com/office/drawing/2014/main" id="{7A9B2C5C-7C37-D1F3-32ED-47552316E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4000500"/>
            <a:ext cx="5929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tr-TR" altLang="tr-TR" sz="2400">
                <a:latin typeface="Times New Roman" panose="02020603050405020304" pitchFamily="18" charset="0"/>
              </a:rPr>
              <a:t> Grafik parabol ise; </a:t>
            </a:r>
          </a:p>
        </p:txBody>
      </p:sp>
      <p:graphicFrame>
        <p:nvGraphicFramePr>
          <p:cNvPr id="1030" name="Object 12">
            <a:extLst>
              <a:ext uri="{FF2B5EF4-FFF2-40B4-BE49-F238E27FC236}">
                <a16:creationId xmlns:a16="http://schemas.microsoft.com/office/drawing/2014/main" id="{3A5AA169-CCAB-401F-8E5B-0BAC55F4CD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8" y="5994400"/>
          <a:ext cx="42021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57400" imgH="342900" progId="Equation.DSMT4">
                  <p:embed/>
                </p:oleObj>
              </mc:Choice>
              <mc:Fallback>
                <p:oleObj name="Equation" r:id="rId11" imgW="2057400" imgH="342900" progId="Equation.DSMT4">
                  <p:embed/>
                  <p:pic>
                    <p:nvPicPr>
                      <p:cNvPr id="1030" name="Object 12">
                        <a:extLst>
                          <a:ext uri="{FF2B5EF4-FFF2-40B4-BE49-F238E27FC236}">
                            <a16:creationId xmlns:a16="http://schemas.microsoft.com/office/drawing/2014/main" id="{3A5AA169-CCAB-401F-8E5B-0BAC55F4CD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8" y="5994400"/>
                        <a:ext cx="4202112" cy="7016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" name="16 Metin kutusu">
            <a:extLst>
              <a:ext uri="{FF2B5EF4-FFF2-40B4-BE49-F238E27FC236}">
                <a16:creationId xmlns:a16="http://schemas.microsoft.com/office/drawing/2014/main" id="{067DF729-C36F-2F1D-6CBB-23153AFBF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5395913"/>
            <a:ext cx="59293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tr-TR" altLang="tr-TR" sz="2400">
                <a:latin typeface="Times New Roman" panose="02020603050405020304" pitchFamily="18" charset="0"/>
              </a:rPr>
              <a:t> Grafik kübik ise;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34" grpId="0"/>
      <p:bldP spid="7" grpId="0" animBg="1"/>
      <p:bldP spid="1036" grpId="0"/>
      <p:bldP spid="1037" grpId="0"/>
      <p:bldP spid="1038" grpId="0"/>
      <p:bldP spid="1039" grpId="0"/>
      <p:bldP spid="104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3 Slayt Numarası Yer Tutucusu">
            <a:extLst>
              <a:ext uri="{FF2B5EF4-FFF2-40B4-BE49-F238E27FC236}">
                <a16:creationId xmlns:a16="http://schemas.microsoft.com/office/drawing/2014/main" id="{D8AC29B0-37FE-39E8-1811-33E245CB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2357F7-029E-4DA7-AB01-E879E8D9AB87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227B4B3-8327-40E8-5326-8807DFD3AB8D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2863"/>
            <a:ext cx="7772400" cy="76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600" kern="0">
                <a:latin typeface="+mj-lt"/>
                <a:ea typeface="+mj-ea"/>
                <a:cs typeface="+mj-cs"/>
              </a:rPr>
              <a:t>Ramsey’</a:t>
            </a:r>
            <a:r>
              <a:rPr lang="tr-TR" sz="3600" kern="0">
                <a:latin typeface="+mj-lt"/>
                <a:ea typeface="+mj-ea"/>
                <a:cs typeface="+mj-cs"/>
              </a:rPr>
              <a:t>in</a:t>
            </a:r>
            <a:r>
              <a:rPr lang="en-US" sz="3600" kern="0">
                <a:latin typeface="+mj-lt"/>
                <a:ea typeface="+mj-ea"/>
                <a:cs typeface="+mj-cs"/>
              </a:rPr>
              <a:t> RESET test</a:t>
            </a:r>
            <a:r>
              <a:rPr lang="tr-TR" sz="3600" kern="0">
                <a:latin typeface="+mj-lt"/>
                <a:ea typeface="+mj-ea"/>
                <a:cs typeface="+mj-cs"/>
              </a:rPr>
              <a:t>i</a:t>
            </a:r>
            <a:endParaRPr lang="en-US" sz="3600" kern="0">
              <a:latin typeface="+mj-lt"/>
              <a:ea typeface="+mj-ea"/>
              <a:cs typeface="+mj-cs"/>
            </a:endParaRPr>
          </a:p>
        </p:txBody>
      </p:sp>
      <p:pic>
        <p:nvPicPr>
          <p:cNvPr id="102403" name="Picture 102402" descr="fig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60120"/>
            <a:ext cx="7315200" cy="4194048"/>
          </a:xfrm>
          <a:prstGeom prst="rect">
            <a:avLst/>
          </a:prstGeom>
        </p:spPr>
      </p:pic>
      <p:sp>
        <p:nvSpPr>
          <p:cNvPr id="102404" name="TextBox 102403"/>
          <p:cNvSpPr txBox="1"/>
          <p:nvPr/>
        </p:nvSpPr>
        <p:spPr>
          <a:xfrm>
            <a:off x="457200" y="5257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Doğrusal maliyet modelinde û ile Ŷ arasındaki ilişki eğriseldir. Bu örüntü, modele Ŷ² ve Ŷ³ terimlerinin eklenmesini önerir.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3 Slayt Numarası Yer Tutucusu">
            <a:extLst>
              <a:ext uri="{FF2B5EF4-FFF2-40B4-BE49-F238E27FC236}">
                <a16:creationId xmlns:a16="http://schemas.microsoft.com/office/drawing/2014/main" id="{A7C340E1-5086-6025-BB17-7C9778AB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0E1CAC-93F1-40EB-A30F-65534D8A14B8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tr-TR" altLang="tr-TR" sz="1400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256FD5D7-64D7-F25A-EC3D-225B253ABBC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2863"/>
            <a:ext cx="7772400" cy="762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tr-TR" sz="3600">
                <a:solidFill>
                  <a:schemeClr val="tx1"/>
                </a:solidFill>
              </a:rPr>
              <a:t>Ramsey’</a:t>
            </a:r>
            <a:r>
              <a:rPr lang="tr-TR" altLang="tr-TR" sz="3600">
                <a:solidFill>
                  <a:schemeClr val="tx1"/>
                </a:solidFill>
              </a:rPr>
              <a:t>in</a:t>
            </a:r>
            <a:r>
              <a:rPr lang="en-US" altLang="tr-TR" sz="3600">
                <a:solidFill>
                  <a:schemeClr val="tx1"/>
                </a:solidFill>
              </a:rPr>
              <a:t> RESET test</a:t>
            </a:r>
            <a:r>
              <a:rPr lang="tr-TR" altLang="tr-TR" sz="3600">
                <a:solidFill>
                  <a:schemeClr val="tx1"/>
                </a:solidFill>
              </a:rPr>
              <a:t>i</a:t>
            </a:r>
            <a:endParaRPr lang="en-US" altLang="tr-TR" sz="3600">
              <a:solidFill>
                <a:schemeClr val="tx1"/>
              </a:solidFill>
            </a:endParaRPr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AD7B1CDB-C7CB-257D-20A8-00486C502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71563"/>
            <a:ext cx="7391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 H</a:t>
            </a:r>
            <a:r>
              <a:rPr lang="en-US" altLang="tr-TR" sz="2400" baseline="-25000">
                <a:latin typeface="Times New Roman" panose="02020603050405020304" pitchFamily="18" charset="0"/>
              </a:rPr>
              <a:t>0</a:t>
            </a:r>
            <a:r>
              <a:rPr lang="en-US" altLang="tr-TR" sz="2400">
                <a:latin typeface="Times New Roman" panose="02020603050405020304" pitchFamily="18" charset="0"/>
              </a:rPr>
              <a:t>: </a:t>
            </a:r>
            <a:r>
              <a:rPr lang="tr-TR" altLang="tr-TR" sz="2400">
                <a:latin typeface="Times New Roman" panose="02020603050405020304" pitchFamily="18" charset="0"/>
              </a:rPr>
              <a:t>M</a:t>
            </a:r>
            <a:r>
              <a:rPr lang="en-US" altLang="tr-TR" sz="2400">
                <a:latin typeface="Times New Roman" panose="02020603050405020304" pitchFamily="18" charset="0"/>
              </a:rPr>
              <a:t>odel spe</a:t>
            </a:r>
            <a:r>
              <a:rPr lang="tr-TR" altLang="tr-TR" sz="2400">
                <a:latin typeface="Times New Roman" panose="02020603050405020304" pitchFamily="18" charset="0"/>
              </a:rPr>
              <a:t>sifikasyonu doğrudur.</a:t>
            </a:r>
            <a:endParaRPr lang="en-US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 </a:t>
            </a:r>
            <a:r>
              <a:rPr lang="en-US" altLang="tr-TR" sz="2400">
                <a:latin typeface="Times New Roman" panose="02020603050405020304" pitchFamily="18" charset="0"/>
              </a:rPr>
              <a:t>H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: </a:t>
            </a:r>
            <a:r>
              <a:rPr lang="tr-TR" altLang="tr-TR" sz="2400">
                <a:latin typeface="Times New Roman" panose="02020603050405020304" pitchFamily="18" charset="0"/>
              </a:rPr>
              <a:t>M</a:t>
            </a:r>
            <a:r>
              <a:rPr lang="en-US" altLang="tr-TR" sz="2400">
                <a:latin typeface="Times New Roman" panose="02020603050405020304" pitchFamily="18" charset="0"/>
              </a:rPr>
              <a:t>odel spe</a:t>
            </a:r>
            <a:r>
              <a:rPr lang="tr-TR" altLang="tr-TR" sz="2400">
                <a:latin typeface="Times New Roman" panose="02020603050405020304" pitchFamily="18" charset="0"/>
              </a:rPr>
              <a:t>sifikasyonu yanlıştır.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graphicFrame>
        <p:nvGraphicFramePr>
          <p:cNvPr id="19463" name="Object 7">
            <a:extLst>
              <a:ext uri="{FF2B5EF4-FFF2-40B4-BE49-F238E27FC236}">
                <a16:creationId xmlns:a16="http://schemas.microsoft.com/office/drawing/2014/main" id="{ABE85F6B-EFB3-0A90-150C-310053AD01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5938" y="4144963"/>
          <a:ext cx="3500437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59866" imgH="533169" progId="Equation.DSMT4">
                  <p:embed/>
                </p:oleObj>
              </mc:Choice>
              <mc:Fallback>
                <p:oleObj name="Equation" r:id="rId3" imgW="1459866" imgH="533169" progId="Equation.DSMT4">
                  <p:embed/>
                  <p:pic>
                    <p:nvPicPr>
                      <p:cNvPr id="19463" name="Object 7">
                        <a:extLst>
                          <a:ext uri="{FF2B5EF4-FFF2-40B4-BE49-F238E27FC236}">
                            <a16:creationId xmlns:a16="http://schemas.microsoft.com/office/drawing/2014/main" id="{ABE85F6B-EFB3-0A90-150C-310053AD01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4144963"/>
                        <a:ext cx="3500437" cy="12128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Text Box 8">
            <a:extLst>
              <a:ext uri="{FF2B5EF4-FFF2-40B4-BE49-F238E27FC236}">
                <a16:creationId xmlns:a16="http://schemas.microsoft.com/office/drawing/2014/main" id="{D17B205D-D574-F8FE-2103-EF41F805E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876925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F</a:t>
            </a:r>
            <a:r>
              <a:rPr lang="tr-TR" altLang="tr-TR" sz="2400" baseline="-25000">
                <a:latin typeface="Times New Roman" panose="02020603050405020304" pitchFamily="18" charset="0"/>
              </a:rPr>
              <a:t>hes</a:t>
            </a:r>
            <a:r>
              <a:rPr lang="en-US" altLang="tr-TR" sz="2400">
                <a:latin typeface="Times New Roman" panose="02020603050405020304" pitchFamily="18" charset="0"/>
              </a:rPr>
              <a:t> &gt; F</a:t>
            </a:r>
            <a:r>
              <a:rPr lang="en-US" altLang="tr-TR" sz="2400" baseline="-25000">
                <a:latin typeface="Times New Roman" panose="02020603050405020304" pitchFamily="18" charset="0"/>
              </a:rPr>
              <a:t>tab</a:t>
            </a:r>
            <a:r>
              <a:rPr lang="en-US" altLang="tr-TR" sz="2400">
                <a:latin typeface="Times New Roman" panose="02020603050405020304" pitchFamily="18" charset="0"/>
              </a:rPr>
              <a:t>    H</a:t>
            </a:r>
            <a:r>
              <a:rPr lang="en-US" altLang="tr-TR" sz="2400" baseline="-25000">
                <a:latin typeface="Times New Roman" panose="02020603050405020304" pitchFamily="18" charset="0"/>
              </a:rPr>
              <a:t>0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</a:rPr>
              <a:t> reddedilebilir.</a:t>
            </a:r>
          </a:p>
        </p:txBody>
      </p:sp>
      <p:sp>
        <p:nvSpPr>
          <p:cNvPr id="2054" name="5 Metin kutusu">
            <a:extLst>
              <a:ext uri="{FF2B5EF4-FFF2-40B4-BE49-F238E27FC236}">
                <a16:creationId xmlns:a16="http://schemas.microsoft.com/office/drawing/2014/main" id="{6C0F3E3A-80A0-1A00-B078-413EF2BC6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038225"/>
            <a:ext cx="1500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3. Adım: </a:t>
            </a:r>
          </a:p>
        </p:txBody>
      </p:sp>
      <p:sp>
        <p:nvSpPr>
          <p:cNvPr id="2055" name="8 Metin kutusu">
            <a:extLst>
              <a:ext uri="{FF2B5EF4-FFF2-40B4-BE49-F238E27FC236}">
                <a16:creationId xmlns:a16="http://schemas.microsoft.com/office/drawing/2014/main" id="{7539498D-A692-B5EE-4F1E-770012002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428875"/>
            <a:ext cx="728662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 F</a:t>
            </a:r>
            <a:r>
              <a:rPr lang="en-US" altLang="tr-TR" sz="2400" baseline="-25000">
                <a:latin typeface="Times New Roman" panose="02020603050405020304" pitchFamily="18" charset="0"/>
              </a:rPr>
              <a:t>tab</a:t>
            </a:r>
            <a:r>
              <a:rPr lang="en-US" altLang="tr-TR" sz="2400">
                <a:latin typeface="Times New Roman" panose="02020603050405020304" pitchFamily="18" charset="0"/>
              </a:rPr>
              <a:t>=F</a:t>
            </a:r>
            <a:r>
              <a:rPr lang="en-US" altLang="tr-TR" sz="2400" baseline="-25000">
                <a:latin typeface="Symbol" panose="05050102010706020507" pitchFamily="18" charset="2"/>
              </a:rPr>
              <a:t>a</a:t>
            </a:r>
            <a:r>
              <a:rPr lang="en-US" altLang="tr-TR" sz="2400">
                <a:latin typeface="Times New Roman" panose="02020603050405020304" pitchFamily="18" charset="0"/>
              </a:rPr>
              <a:t>,</a:t>
            </a:r>
            <a:r>
              <a:rPr lang="en-US" altLang="tr-TR" sz="2400" baseline="-25000">
                <a:latin typeface="Times New Roman" panose="02020603050405020304" pitchFamily="18" charset="0"/>
              </a:rPr>
              <a:t>f</a:t>
            </a:r>
            <a:r>
              <a:rPr lang="en-US" altLang="tr-TR" sz="2400" baseline="-34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,</a:t>
            </a:r>
            <a:r>
              <a:rPr lang="en-US" altLang="tr-TR" sz="2400" baseline="-25000">
                <a:latin typeface="Times New Roman" panose="02020603050405020304" pitchFamily="18" charset="0"/>
              </a:rPr>
              <a:t>f</a:t>
            </a:r>
            <a:r>
              <a:rPr lang="en-US" altLang="tr-TR" sz="2400" baseline="-34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= ?</a:t>
            </a:r>
            <a:endParaRPr lang="tr-TR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 baseline="-34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f</a:t>
            </a:r>
            <a:r>
              <a:rPr lang="tr-TR" altLang="tr-TR" sz="2400" baseline="-25000">
                <a:latin typeface="Times New Roman" panose="02020603050405020304" pitchFamily="18" charset="0"/>
              </a:rPr>
              <a:t>1</a:t>
            </a:r>
            <a:r>
              <a:rPr lang="tr-TR" altLang="tr-TR" sz="2400">
                <a:latin typeface="Times New Roman" panose="02020603050405020304" pitchFamily="18" charset="0"/>
              </a:rPr>
              <a:t>: Yeni Değişken Sayısı f</a:t>
            </a:r>
            <a:r>
              <a:rPr lang="tr-TR" altLang="tr-TR" sz="2400" baseline="-25000">
                <a:latin typeface="Times New Roman" panose="02020603050405020304" pitchFamily="18" charset="0"/>
              </a:rPr>
              <a:t>2</a:t>
            </a:r>
            <a:r>
              <a:rPr lang="tr-TR" altLang="tr-TR" sz="2400">
                <a:latin typeface="Times New Roman" panose="02020603050405020304" pitchFamily="18" charset="0"/>
              </a:rPr>
              <a:t>: n – yeni model katsayı sayısı   </a:t>
            </a:r>
          </a:p>
        </p:txBody>
      </p:sp>
      <p:sp>
        <p:nvSpPr>
          <p:cNvPr id="2056" name="5 Metin kutusu">
            <a:extLst>
              <a:ext uri="{FF2B5EF4-FFF2-40B4-BE49-F238E27FC236}">
                <a16:creationId xmlns:a16="http://schemas.microsoft.com/office/drawing/2014/main" id="{8774AA3F-8C8D-4501-6725-41B8EDA84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395538"/>
            <a:ext cx="1500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4. Adım: </a:t>
            </a:r>
          </a:p>
        </p:txBody>
      </p:sp>
      <p:sp>
        <p:nvSpPr>
          <p:cNvPr id="2057" name="5 Metin kutusu">
            <a:extLst>
              <a:ext uri="{FF2B5EF4-FFF2-40B4-BE49-F238E27FC236}">
                <a16:creationId xmlns:a16="http://schemas.microsoft.com/office/drawing/2014/main" id="{83A681DA-3633-F1F1-20E6-3195FEB33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4111625"/>
            <a:ext cx="1500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5. Adım: </a:t>
            </a:r>
          </a:p>
        </p:txBody>
      </p:sp>
      <p:sp>
        <p:nvSpPr>
          <p:cNvPr id="2058" name="5 Metin kutusu">
            <a:extLst>
              <a:ext uri="{FF2B5EF4-FFF2-40B4-BE49-F238E27FC236}">
                <a16:creationId xmlns:a16="http://schemas.microsoft.com/office/drawing/2014/main" id="{08D73962-6105-AEE4-5454-82C46EF52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5824538"/>
            <a:ext cx="1500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6. Adım: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autoUpdateAnimBg="0"/>
      <p:bldP spid="19464" grpId="0"/>
      <p:bldP spid="2054" grpId="0"/>
      <p:bldP spid="2055" grpId="0"/>
      <p:bldP spid="2056" grpId="0"/>
      <p:bldP spid="2057" grpId="0"/>
      <p:bldP spid="205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3 Slayt Numarası Yer Tutucusu">
            <a:extLst>
              <a:ext uri="{FF2B5EF4-FFF2-40B4-BE49-F238E27FC236}">
                <a16:creationId xmlns:a16="http://schemas.microsoft.com/office/drawing/2014/main" id="{FBA00478-7E96-713E-F2C5-B244538C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CCCCDE-B1DB-4F3D-9ABE-374299C12645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E9C9B7C-4E38-41AB-A8CA-66C1BBBEC62C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2863"/>
            <a:ext cx="7772400" cy="76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600" kern="0">
                <a:latin typeface="+mj-lt"/>
                <a:ea typeface="+mj-ea"/>
                <a:cs typeface="+mj-cs"/>
              </a:rPr>
              <a:t>Ramsey’</a:t>
            </a:r>
            <a:r>
              <a:rPr lang="tr-TR" sz="3600" kern="0">
                <a:latin typeface="+mj-lt"/>
                <a:ea typeface="+mj-ea"/>
                <a:cs typeface="+mj-cs"/>
              </a:rPr>
              <a:t>in</a:t>
            </a:r>
            <a:r>
              <a:rPr lang="en-US" sz="3600" kern="0">
                <a:latin typeface="+mj-lt"/>
                <a:ea typeface="+mj-ea"/>
                <a:cs typeface="+mj-cs"/>
              </a:rPr>
              <a:t> RESET test</a:t>
            </a:r>
            <a:r>
              <a:rPr lang="tr-TR" sz="3600" kern="0">
                <a:latin typeface="+mj-lt"/>
                <a:ea typeface="+mj-ea"/>
                <a:cs typeface="+mj-cs"/>
              </a:rPr>
              <a:t>i</a:t>
            </a:r>
            <a:endParaRPr lang="en-US" sz="3600" kern="0">
              <a:latin typeface="+mj-lt"/>
              <a:ea typeface="+mj-ea"/>
              <a:cs typeface="+mj-cs"/>
            </a:endParaRPr>
          </a:p>
        </p:txBody>
      </p:sp>
      <p:sp>
        <p:nvSpPr>
          <p:cNvPr id="106500" name="2 Metin kutusu">
            <a:extLst>
              <a:ext uri="{FF2B5EF4-FFF2-40B4-BE49-F238E27FC236}">
                <a16:creationId xmlns:a16="http://schemas.microsoft.com/office/drawing/2014/main" id="{FE6E745B-7F4B-52F0-96F8-7E546C7A5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43000"/>
            <a:ext cx="89296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>
                <a:latin typeface="Times New Roman" panose="02020603050405020304" pitchFamily="18" charset="0"/>
              </a:rPr>
              <a:t>Uygulama: </a:t>
            </a:r>
            <a:r>
              <a:rPr lang="tr-TR" altLang="tr-TR" sz="2400">
                <a:latin typeface="Times New Roman" panose="02020603050405020304" pitchFamily="18" charset="0"/>
              </a:rPr>
              <a:t>Türkiye’nin 1984 -2003 dönemi için İhracatı (IHR, milyar $) ile ABD Döviz Kurları (1/ 1000 YTL) değerleri aşağıda verilmiştir.</a:t>
            </a:r>
          </a:p>
        </p:txBody>
      </p:sp>
      <p:graphicFrame>
        <p:nvGraphicFramePr>
          <p:cNvPr id="33883" name="Group 91">
            <a:extLst>
              <a:ext uri="{FF2B5EF4-FFF2-40B4-BE49-F238E27FC236}">
                <a16:creationId xmlns:a16="http://schemas.microsoft.com/office/drawing/2014/main" id="{7FE9DA77-6B06-7CF3-990C-535D257D8406}"/>
              </a:ext>
            </a:extLst>
          </p:cNvPr>
          <p:cNvGraphicFramePr>
            <a:graphicFrameLocks noGrp="1"/>
          </p:cNvGraphicFramePr>
          <p:nvPr/>
        </p:nvGraphicFramePr>
        <p:xfrm>
          <a:off x="714375" y="2565400"/>
          <a:ext cx="7000875" cy="3457575"/>
        </p:xfrm>
        <a:graphic>
          <a:graphicData uri="http://schemas.openxmlformats.org/drawingml/2006/table">
            <a:tbl>
              <a:tblPr/>
              <a:tblGrid>
                <a:gridCol w="1166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683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YILLAR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DK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IHR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YILLAR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DK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IHR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1984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0.368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7.134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1994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29.848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18.106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1985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0.525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7.958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1995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45.952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21.638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1986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0.680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7.457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1996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81.796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23.225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1987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0.861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10.19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1997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152.805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26.261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1988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1.431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11.662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1998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262.233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26.974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1989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2.125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11.625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1999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422.152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26.588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1990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2.612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12.959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2000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626.712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27.775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1991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4.184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13.594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2001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1231.322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31.334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1992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6.888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14.715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2002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1513.102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35.762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1993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11.058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15.345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2003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1500.269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Tur"/>
                        </a:rPr>
                        <a:t>38.317</a:t>
                      </a:r>
                    </a:p>
                  </a:txBody>
                  <a:tcPr marL="9525" marR="9525" marT="9525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3 Slayt Numarası Yer Tutucusu">
            <a:extLst>
              <a:ext uri="{FF2B5EF4-FFF2-40B4-BE49-F238E27FC236}">
                <a16:creationId xmlns:a16="http://schemas.microsoft.com/office/drawing/2014/main" id="{44B5EFAF-9302-99F4-5BDC-B498B2E4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6BE864-1FA2-479E-8033-00D90ADC2B53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227B4B3-8327-40E8-5326-8807DFD3AB8D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2863"/>
            <a:ext cx="7772400" cy="76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600" kern="0">
                <a:latin typeface="+mj-lt"/>
                <a:ea typeface="+mj-ea"/>
                <a:cs typeface="+mj-cs"/>
              </a:rPr>
              <a:t>Ramsey’</a:t>
            </a:r>
            <a:r>
              <a:rPr lang="tr-TR" sz="3600" kern="0">
                <a:latin typeface="+mj-lt"/>
                <a:ea typeface="+mj-ea"/>
                <a:cs typeface="+mj-cs"/>
              </a:rPr>
              <a:t>in</a:t>
            </a:r>
            <a:r>
              <a:rPr lang="en-US" sz="3600" kern="0">
                <a:latin typeface="+mj-lt"/>
                <a:ea typeface="+mj-ea"/>
                <a:cs typeface="+mj-cs"/>
              </a:rPr>
              <a:t> RESET test</a:t>
            </a:r>
            <a:r>
              <a:rPr lang="tr-TR" sz="3600" kern="0">
                <a:latin typeface="+mj-lt"/>
                <a:ea typeface="+mj-ea"/>
                <a:cs typeface="+mj-cs"/>
              </a:rPr>
              <a:t>i</a:t>
            </a:r>
            <a:endParaRPr lang="en-US" sz="3600" kern="0">
              <a:latin typeface="+mj-lt"/>
              <a:ea typeface="+mj-ea"/>
              <a:cs typeface="+mj-cs"/>
            </a:endParaRPr>
          </a:p>
        </p:txBody>
      </p:sp>
      <p:sp>
        <p:nvSpPr>
          <p:cNvPr id="3079" name="4 Metin kutusu">
            <a:extLst>
              <a:ext uri="{FF2B5EF4-FFF2-40B4-BE49-F238E27FC236}">
                <a16:creationId xmlns:a16="http://schemas.microsoft.com/office/drawing/2014/main" id="{7414B753-51DF-A5E4-CB15-2045F9A91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6063"/>
            <a:ext cx="1785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2. Adım:</a:t>
            </a:r>
          </a:p>
        </p:txBody>
      </p:sp>
      <p:sp>
        <p:nvSpPr>
          <p:cNvPr id="3080" name="5 Metin kutusu">
            <a:extLst>
              <a:ext uri="{FF2B5EF4-FFF2-40B4-BE49-F238E27FC236}">
                <a16:creationId xmlns:a16="http://schemas.microsoft.com/office/drawing/2014/main" id="{5BB02923-58AE-52D4-2FB4-43EE10812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71563"/>
            <a:ext cx="1571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1. Adım: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47" name="Denklem"/>
              <p:cNvSpPr txBox="1"/>
              <p:nvPr/>
            </p:nvSpPr>
            <p:spPr>
              <a:xfrm>
                <a:off x="1600200" y="1051560"/>
                <a:ext cx="3950208" cy="348843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ln</m:t>
                      </m:r>
                      <m:r>
                        <a:rPr lang="en-US" sz="2400">
                          <a:latin typeface="Cambria Math"/>
                        </a:rPr>
                        <m:t>I</m:t>
                      </m:r>
                      <m:r>
                        <a:rPr lang="en-US" sz="2400">
                          <a:latin typeface="Cambria Math"/>
                        </a:rPr>
                        <m:t>H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2.284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+</m:t>
                      </m:r>
                      <m:r>
                        <a:rPr lang="en-US" sz="2400">
                          <a:latin typeface="Cambria Math"/>
                        </a:rPr>
                        <m:t>0.179</m:t>
                      </m:r>
                      <m:r>
                        <a:rPr lang="en-US" sz="2400"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ln</m:t>
                      </m:r>
                      <m:r>
                        <a:rPr lang="en-US" sz="24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108547" name="Picture 108546" descr="eq0004.png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00200" y="1051560"/>
                <a:ext cx="3657600" cy="332232"/>
              </a:xfrm>
              <a:prstGeom prst="rect">
                <a:avLst/>
              </a:prstGeom>
            </p:spPr>
          </p:pic>
        </mc:Fallback>
      </mc:AlternateContent>
      <p:sp>
        <p:nvSpPr>
          <p:cNvPr id="108548" name="TextBox 108547"/>
          <p:cNvSpPr txBox="1"/>
          <p:nvPr/>
        </p:nvSpPr>
        <p:spPr>
          <a:xfrm>
            <a:off x="1600200" y="1600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t:          (71.259)       (23.503)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49" name="Denklem"/>
              <p:cNvSpPr txBox="1"/>
              <p:nvPr/>
            </p:nvSpPr>
            <p:spPr>
              <a:xfrm>
                <a:off x="6583680" y="1051560"/>
                <a:ext cx="1688713" cy="38404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e>
                          <m:r>
                            <a:rPr lang="en-US" sz="220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e</m:t>
                          </m:r>
                          <m:r>
                            <a:rPr lang="en-US" sz="2200">
                              <a:latin typeface="Cambria Math"/>
                            </a:rPr>
                            <m:t>s</m:t>
                          </m:r>
                          <m:r>
                            <a:rPr lang="en-US" sz="2200">
                              <a:latin typeface="Cambria Math"/>
                            </a:rPr>
                            <m:t>k</m:t>
                          </m:r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  <m:sup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r>
                        <a:rPr lang="en-US" sz="2200">
                          <a:latin typeface="Cambria Math"/>
                        </a:rPr>
                        <m:t>0.9684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08549" name="Picture 108548" descr="eq0005.png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83680" y="1051560"/>
                <a:ext cx="1563624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550" name="Denklem"/>
              <p:cNvSpPr txBox="1"/>
              <p:nvPr/>
            </p:nvSpPr>
            <p:spPr>
              <a:xfrm>
                <a:off x="6583680" y="1600200"/>
                <a:ext cx="1695297" cy="38404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∑</m:t>
                      </m:r>
                      <m:sSubSup>
                        <m:e>
                          <m:r>
                            <a:rPr lang="en-US" sz="2200"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  <m:sup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r>
                        <a:rPr lang="en-US" sz="2200">
                          <a:latin typeface="Cambria Math"/>
                        </a:rPr>
                        <m:t>0.1673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08550" name="Picture 108549" descr="eq0006.png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83680" y="1600200"/>
                <a:ext cx="156972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551" name="Denklem"/>
              <p:cNvSpPr txBox="1"/>
              <p:nvPr/>
            </p:nvSpPr>
            <p:spPr>
              <a:xfrm>
                <a:off x="274320" y="3337560"/>
                <a:ext cx="7291425" cy="38404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ln</m:t>
                      </m:r>
                      <m:r>
                        <a:rPr lang="en-US" sz="2000">
                          <a:latin typeface="Cambria Math"/>
                        </a:rPr>
                        <m:t>I</m:t>
                      </m:r>
                      <m:r>
                        <a:rPr lang="en-US" sz="2000">
                          <a:latin typeface="Cambria Math"/>
                        </a:rPr>
                        <m:t>H</m:t>
                      </m:r>
                      <m:sSub>
                        <m:e>
                          <m:r>
                            <a:rPr lang="en-US" sz="200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=</m:t>
                      </m:r>
                      <m:r>
                        <a:rPr lang="en-US" sz="2000">
                          <a:latin typeface="Cambria Math"/>
                        </a:rPr>
                        <m:t>17.966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+</m:t>
                      </m:r>
                      <m:r>
                        <a:rPr lang="en-US" sz="2000">
                          <a:latin typeface="Cambria Math"/>
                        </a:rPr>
                        <m:t>2.350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ln</m:t>
                      </m:r>
                      <m:r>
                        <a:rPr lang="en-US" sz="20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0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−</m:t>
                      </m:r>
                      <m:r>
                        <a:rPr lang="en-US" sz="2000">
                          <a:latin typeface="Cambria Math"/>
                        </a:rPr>
                        <m:t>3.994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(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/>
                                </a:rPr>
                                <m:t>ln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I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R</m:t>
                              </m:r>
                            </m:e>
                          </m:acc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+</m:t>
                      </m:r>
                      <m:r>
                        <a:rPr lang="en-US" sz="2000">
                          <a:latin typeface="Cambria Math"/>
                        </a:rPr>
                        <m:t>0.431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(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/>
                                </a:rPr>
                                <m:t>ln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I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R</m:t>
                              </m:r>
                            </m:e>
                          </m:acc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pic>
            <p:nvPicPr>
              <p:cNvPr id="108551" name="Picture 108550" descr="eq0007.png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4320" y="3337560"/>
                <a:ext cx="6751320" cy="365760"/>
              </a:xfrm>
              <a:prstGeom prst="rect">
                <a:avLst/>
              </a:prstGeom>
            </p:spPr>
          </p:pic>
        </mc:Fallback>
      </mc:AlternateContent>
      <p:sp>
        <p:nvSpPr>
          <p:cNvPr id="108552" name="TextBox 108551"/>
          <p:cNvSpPr txBox="1"/>
          <p:nvPr/>
        </p:nvSpPr>
        <p:spPr>
          <a:xfrm>
            <a:off x="274320" y="402336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t:          (2.563)       (2.533)                  (−2.186)                    (2.032)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53" name="Denklem"/>
              <p:cNvSpPr txBox="1"/>
              <p:nvPr/>
            </p:nvSpPr>
            <p:spPr>
              <a:xfrm>
                <a:off x="457200" y="4846320"/>
                <a:ext cx="1708464" cy="42245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e>
                          <m:r>
                            <a:rPr lang="en-US" sz="220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y</m:t>
                          </m:r>
                          <m:r>
                            <a:rPr lang="en-US" sz="2200">
                              <a:latin typeface="Cambria Math"/>
                            </a:rPr>
                            <m:t>e</m:t>
                          </m:r>
                          <m:r>
                            <a:rPr lang="en-US" sz="2200">
                              <a:latin typeface="Cambria Math"/>
                            </a:rPr>
                            <m:t>n</m:t>
                          </m:r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  <m:sup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r>
                        <a:rPr lang="en-US" sz="2200">
                          <a:latin typeface="Cambria Math"/>
                        </a:rPr>
                        <m:t>0.9839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08553" name="Picture 108552" descr="eq0008.png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7200" y="4846320"/>
                <a:ext cx="1581912" cy="402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554" name="Denklem"/>
              <p:cNvSpPr txBox="1"/>
              <p:nvPr/>
            </p:nvSpPr>
            <p:spPr>
              <a:xfrm>
                <a:off x="457200" y="5440680"/>
                <a:ext cx="1682130" cy="38404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∑</m:t>
                      </m:r>
                      <m:sSubSup>
                        <m:e>
                          <m:r>
                            <a:rPr lang="en-US" sz="2200"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  <m:sup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r>
                        <a:rPr lang="en-US" sz="2200">
                          <a:latin typeface="Cambria Math"/>
                        </a:rPr>
                        <m:t>0.0851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08554" name="Picture 108553" descr="eq0009.png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7200" y="5440680"/>
                <a:ext cx="1557528" cy="36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/>
      <p:bldP spid="308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3 Slayt Numarası Yer Tutucusu">
            <a:extLst>
              <a:ext uri="{FF2B5EF4-FFF2-40B4-BE49-F238E27FC236}">
                <a16:creationId xmlns:a16="http://schemas.microsoft.com/office/drawing/2014/main" id="{87705EE8-999F-BD33-C6C1-D6620A11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D0981D-D82C-4557-A289-CF6F2574426C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tr-TR" altLang="tr-TR" sz="1400"/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FF9BD628-562F-DEDE-1910-4462A782D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71563"/>
            <a:ext cx="7391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 H</a:t>
            </a:r>
            <a:r>
              <a:rPr lang="en-US" altLang="tr-TR" sz="2400" baseline="-25000">
                <a:latin typeface="Times New Roman" panose="02020603050405020304" pitchFamily="18" charset="0"/>
              </a:rPr>
              <a:t>0</a:t>
            </a:r>
            <a:r>
              <a:rPr lang="en-US" altLang="tr-TR" sz="2400">
                <a:latin typeface="Times New Roman" panose="02020603050405020304" pitchFamily="18" charset="0"/>
              </a:rPr>
              <a:t>: </a:t>
            </a:r>
            <a:r>
              <a:rPr lang="tr-TR" altLang="tr-TR" sz="2400">
                <a:latin typeface="Times New Roman" panose="02020603050405020304" pitchFamily="18" charset="0"/>
              </a:rPr>
              <a:t>M</a:t>
            </a:r>
            <a:r>
              <a:rPr lang="en-US" altLang="tr-TR" sz="2400">
                <a:latin typeface="Times New Roman" panose="02020603050405020304" pitchFamily="18" charset="0"/>
              </a:rPr>
              <a:t>odel spe</a:t>
            </a:r>
            <a:r>
              <a:rPr lang="tr-TR" altLang="tr-TR" sz="2400">
                <a:latin typeface="Times New Roman" panose="02020603050405020304" pitchFamily="18" charset="0"/>
              </a:rPr>
              <a:t>sifikasyonu doğrudur. </a:t>
            </a:r>
            <a:endParaRPr lang="en-US" altLang="tr-TR" sz="2400">
              <a:latin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 </a:t>
            </a:r>
            <a:r>
              <a:rPr lang="en-US" altLang="tr-TR" sz="2400">
                <a:latin typeface="Times New Roman" panose="02020603050405020304" pitchFamily="18" charset="0"/>
              </a:rPr>
              <a:t>H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: </a:t>
            </a:r>
            <a:r>
              <a:rPr lang="tr-TR" altLang="tr-TR" sz="2400">
                <a:latin typeface="Times New Roman" panose="02020603050405020304" pitchFamily="18" charset="0"/>
              </a:rPr>
              <a:t>M</a:t>
            </a:r>
            <a:r>
              <a:rPr lang="en-US" altLang="tr-TR" sz="2400">
                <a:latin typeface="Times New Roman" panose="02020603050405020304" pitchFamily="18" charset="0"/>
              </a:rPr>
              <a:t>odel spe</a:t>
            </a:r>
            <a:r>
              <a:rPr lang="tr-TR" altLang="tr-TR" sz="2400">
                <a:latin typeface="Times New Roman" panose="02020603050405020304" pitchFamily="18" charset="0"/>
              </a:rPr>
              <a:t>sifikasyonu yanlıştır.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CB83AF00-90D7-ED89-3638-395012208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5857875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F</a:t>
            </a:r>
            <a:r>
              <a:rPr lang="tr-TR" altLang="tr-TR" sz="2400" baseline="-25000">
                <a:latin typeface="Times New Roman" panose="02020603050405020304" pitchFamily="18" charset="0"/>
              </a:rPr>
              <a:t>hes</a:t>
            </a:r>
            <a:r>
              <a:rPr lang="en-US" altLang="tr-TR" sz="2400">
                <a:latin typeface="Times New Roman" panose="02020603050405020304" pitchFamily="18" charset="0"/>
              </a:rPr>
              <a:t> &gt; F</a:t>
            </a:r>
            <a:r>
              <a:rPr lang="en-US" altLang="tr-TR" sz="2400" baseline="-25000">
                <a:latin typeface="Times New Roman" panose="02020603050405020304" pitchFamily="18" charset="0"/>
              </a:rPr>
              <a:t>tab</a:t>
            </a:r>
            <a:r>
              <a:rPr lang="en-US" altLang="tr-TR" sz="2400">
                <a:latin typeface="Times New Roman" panose="02020603050405020304" pitchFamily="18" charset="0"/>
              </a:rPr>
              <a:t>    H</a:t>
            </a:r>
            <a:r>
              <a:rPr lang="en-US" altLang="tr-TR" sz="2400" baseline="-25000">
                <a:latin typeface="Times New Roman" panose="02020603050405020304" pitchFamily="18" charset="0"/>
              </a:rPr>
              <a:t>0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</a:rPr>
              <a:t> reddedilebilir.</a:t>
            </a:r>
          </a:p>
        </p:txBody>
      </p:sp>
      <p:sp>
        <p:nvSpPr>
          <p:cNvPr id="4101" name="5 Metin kutusu">
            <a:extLst>
              <a:ext uri="{FF2B5EF4-FFF2-40B4-BE49-F238E27FC236}">
                <a16:creationId xmlns:a16="http://schemas.microsoft.com/office/drawing/2014/main" id="{3D7A62C5-DC8D-9821-6EE6-3BC3F1EC5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038225"/>
            <a:ext cx="1500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3. Adım: </a:t>
            </a:r>
          </a:p>
        </p:txBody>
      </p:sp>
      <p:sp>
        <p:nvSpPr>
          <p:cNvPr id="4102" name="5 Metin kutusu">
            <a:extLst>
              <a:ext uri="{FF2B5EF4-FFF2-40B4-BE49-F238E27FC236}">
                <a16:creationId xmlns:a16="http://schemas.microsoft.com/office/drawing/2014/main" id="{94E29D6B-1FFB-3CA6-5CEF-D83547716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428875"/>
            <a:ext cx="728662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400" dirty="0">
                <a:latin typeface="Times New Roman" panose="02020603050405020304" pitchFamily="18" charset="0"/>
              </a:rPr>
              <a:t> </a:t>
            </a:r>
            <a:r>
              <a:rPr lang="en-US" altLang="tr-TR" sz="2400" dirty="0" err="1">
                <a:latin typeface="Times New Roman" panose="02020603050405020304" pitchFamily="18" charset="0"/>
              </a:rPr>
              <a:t>F</a:t>
            </a:r>
            <a:r>
              <a:rPr lang="en-US" altLang="tr-TR" sz="2400" baseline="-25000" dirty="0" err="1">
                <a:latin typeface="Times New Roman" panose="02020603050405020304" pitchFamily="18" charset="0"/>
              </a:rPr>
              <a:t>tab</a:t>
            </a:r>
            <a:r>
              <a:rPr lang="en-US" altLang="tr-TR" sz="2400" dirty="0">
                <a:latin typeface="Times New Roman" panose="02020603050405020304" pitchFamily="18" charset="0"/>
              </a:rPr>
              <a:t>=F</a:t>
            </a:r>
            <a:r>
              <a:rPr lang="en-US" altLang="tr-TR" sz="2400" baseline="-25000" dirty="0">
                <a:latin typeface="Symbol" panose="05050102010706020507" pitchFamily="18" charset="2"/>
              </a:rPr>
              <a:t>a</a:t>
            </a:r>
            <a:r>
              <a:rPr lang="en-US" altLang="tr-TR" sz="2400" dirty="0">
                <a:latin typeface="Times New Roman" panose="02020603050405020304" pitchFamily="18" charset="0"/>
              </a:rPr>
              <a:t>,</a:t>
            </a:r>
            <a:r>
              <a:rPr lang="tr-TR" altLang="tr-TR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tr-TR" sz="2400" dirty="0">
                <a:latin typeface="Times New Roman" panose="02020603050405020304" pitchFamily="18" charset="0"/>
              </a:rPr>
              <a:t>,</a:t>
            </a:r>
            <a:r>
              <a:rPr lang="tr-TR" altLang="tr-TR" sz="2400" dirty="0">
                <a:latin typeface="Times New Roman" panose="02020603050405020304" pitchFamily="18" charset="0"/>
              </a:rPr>
              <a:t> </a:t>
            </a:r>
            <a:r>
              <a:rPr lang="tr-TR" altLang="tr-TR" sz="2400" baseline="-25000" dirty="0">
                <a:latin typeface="Times New Roman" panose="02020603050405020304" pitchFamily="18" charset="0"/>
              </a:rPr>
              <a:t>20-4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 </a:t>
            </a:r>
            <a:r>
              <a:rPr lang="en-US" altLang="tr-TR" sz="2400" dirty="0">
                <a:latin typeface="Times New Roman" panose="02020603050405020304" pitchFamily="18" charset="0"/>
              </a:rPr>
              <a:t>=</a:t>
            </a:r>
            <a:r>
              <a:rPr lang="tr-TR" altLang="tr-TR" sz="2400" dirty="0">
                <a:latin typeface="Times New Roman" panose="02020603050405020304" pitchFamily="18" charset="0"/>
              </a:rPr>
              <a:t>3.63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 baseline="-34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dirty="0">
                <a:latin typeface="Times New Roman" panose="02020603050405020304" pitchFamily="18" charset="0"/>
              </a:rPr>
              <a:t>f</a:t>
            </a:r>
            <a:r>
              <a:rPr lang="tr-TR" altLang="tr-TR" sz="2400" baseline="-25000" dirty="0">
                <a:latin typeface="Times New Roman" panose="02020603050405020304" pitchFamily="18" charset="0"/>
              </a:rPr>
              <a:t>1</a:t>
            </a:r>
            <a:r>
              <a:rPr lang="tr-TR" altLang="tr-TR" sz="2400" dirty="0">
                <a:latin typeface="Times New Roman" panose="02020603050405020304" pitchFamily="18" charset="0"/>
              </a:rPr>
              <a:t>: Yeni Değişken Sayısı f</a:t>
            </a:r>
            <a:r>
              <a:rPr lang="tr-TR" altLang="tr-TR" sz="2400" baseline="-25000" dirty="0">
                <a:latin typeface="Times New Roman" panose="02020603050405020304" pitchFamily="18" charset="0"/>
              </a:rPr>
              <a:t>2</a:t>
            </a:r>
            <a:r>
              <a:rPr lang="tr-TR" altLang="tr-TR" sz="2400" dirty="0">
                <a:latin typeface="Times New Roman" panose="02020603050405020304" pitchFamily="18" charset="0"/>
              </a:rPr>
              <a:t>: n – yeni model katsayı sayısı   </a:t>
            </a:r>
          </a:p>
        </p:txBody>
      </p:sp>
      <p:sp>
        <p:nvSpPr>
          <p:cNvPr id="4103" name="5 Metin kutusu">
            <a:extLst>
              <a:ext uri="{FF2B5EF4-FFF2-40B4-BE49-F238E27FC236}">
                <a16:creationId xmlns:a16="http://schemas.microsoft.com/office/drawing/2014/main" id="{50EBA803-F3F8-1824-0A13-6F7846EBB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395538"/>
            <a:ext cx="1500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4. Adım: </a:t>
            </a:r>
          </a:p>
        </p:txBody>
      </p:sp>
      <p:sp>
        <p:nvSpPr>
          <p:cNvPr id="4104" name="5 Metin kutusu">
            <a:extLst>
              <a:ext uri="{FF2B5EF4-FFF2-40B4-BE49-F238E27FC236}">
                <a16:creationId xmlns:a16="http://schemas.microsoft.com/office/drawing/2014/main" id="{BB65A0C0-12FF-155E-05F5-B801C2BC3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4111625"/>
            <a:ext cx="1500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5. Adım: </a:t>
            </a:r>
          </a:p>
        </p:txBody>
      </p:sp>
      <p:sp>
        <p:nvSpPr>
          <p:cNvPr id="4105" name="5 Metin kutusu">
            <a:extLst>
              <a:ext uri="{FF2B5EF4-FFF2-40B4-BE49-F238E27FC236}">
                <a16:creationId xmlns:a16="http://schemas.microsoft.com/office/drawing/2014/main" id="{76415EFF-D6DD-9534-3492-95630775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5824538"/>
            <a:ext cx="1500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6. Adım: 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A5824E2-864E-FA47-C125-77E0818C6101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2863"/>
            <a:ext cx="7772400" cy="76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600" kern="0" dirty="0">
                <a:latin typeface="+mj-lt"/>
                <a:ea typeface="+mj-ea"/>
                <a:cs typeface="+mj-cs"/>
              </a:rPr>
              <a:t>Ramsey’</a:t>
            </a:r>
            <a:r>
              <a:rPr lang="tr-TR" sz="3600" kern="0" dirty="0">
                <a:latin typeface="+mj-lt"/>
                <a:ea typeface="+mj-ea"/>
                <a:cs typeface="+mj-cs"/>
              </a:rPr>
              <a:t>in</a:t>
            </a:r>
            <a:r>
              <a:rPr lang="en-US" sz="3600" kern="0" dirty="0">
                <a:latin typeface="+mj-lt"/>
                <a:ea typeface="+mj-ea"/>
                <a:cs typeface="+mj-cs"/>
              </a:rPr>
              <a:t> RESET test</a:t>
            </a:r>
            <a:r>
              <a:rPr lang="tr-TR" sz="3600" kern="0" dirty="0">
                <a:latin typeface="+mj-lt"/>
                <a:ea typeface="+mj-ea"/>
                <a:cs typeface="+mj-cs"/>
              </a:rPr>
              <a:t>i</a:t>
            </a:r>
            <a:endParaRPr lang="en-US" sz="3600" kern="0" dirty="0"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595" name="Denklem"/>
              <p:cNvSpPr txBox="1"/>
              <p:nvPr/>
            </p:nvSpPr>
            <p:spPr>
              <a:xfrm>
                <a:off x="2011680" y="4069080"/>
                <a:ext cx="3732946" cy="53446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h</m:t>
                          </m:r>
                          <m:r>
                            <a:rPr lang="en-US" sz="2400">
                              <a:latin typeface="Cambria Math"/>
                            </a:rPr>
                            <m:t>e</m:t>
                          </m:r>
                          <m:r>
                            <a:rPr lang="en-US" sz="2400">
                              <a:latin typeface="Cambria Math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(</m:t>
                          </m:r>
                          <m:r>
                            <a:rPr lang="en-US" sz="2400">
                              <a:latin typeface="Cambria Math"/>
                            </a:rPr>
                            <m:t>0.9839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−</m:t>
                          </m:r>
                          <m:r>
                            <a:rPr lang="en-US" sz="2400">
                              <a:latin typeface="Cambria Math"/>
                            </a:rPr>
                            <m:t>0.9684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/</m:t>
                          </m:r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(</m:t>
                          </m:r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−</m:t>
                          </m:r>
                          <m:r>
                            <a:rPr lang="en-US" sz="2400">
                              <a:latin typeface="Cambria Math"/>
                            </a:rPr>
                            <m:t>0.9839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(</m:t>
                          </m:r>
                          <m:r>
                            <a:rPr lang="en-US" sz="2400">
                              <a:latin typeface="Cambria Math"/>
                            </a:rPr>
                            <m:t>20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−</m:t>
                          </m:r>
                          <m:r>
                            <a:rPr lang="en-US" sz="2400">
                              <a:latin typeface="Cambria Math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7.70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10595" name="Picture 110594" descr="eq0010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11680" y="4069080"/>
                <a:ext cx="3456432" cy="50901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utoUpdateAnimBg="0"/>
      <p:bldP spid="4101" grpId="0"/>
      <p:bldP spid="4102" grpId="0"/>
      <p:bldP spid="4103" grpId="0"/>
      <p:bldP spid="4104" grpId="0"/>
      <p:bldP spid="4105" grpId="0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546" name="3 Slayt Numarası Yer Tutucusu">
            <a:extLst>
              <a:ext uri="{FF2B5EF4-FFF2-40B4-BE49-F238E27FC236}">
                <a16:creationId xmlns:a16="http://schemas.microsoft.com/office/drawing/2014/main" id="{44B5EFAF-9302-99F4-5BDC-B498B2E4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6BE864-1FA2-479E-8033-00D90ADC2B53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227B4B3-8327-40E8-5326-8807DFD3AB8D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2863"/>
            <a:ext cx="8229600" cy="76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000" kern="0">
                <a:latin typeface="+mj-lt"/>
                <a:ea typeface="+mj-ea"/>
                <a:cs typeface="+mj-cs"/>
              </a:rPr>
              <a:t>Durbin-Watson d ile Tanımlama Hatası</a:t>
            </a:r>
            <a:endParaRPr lang="en-US" sz="3600" kern="0">
              <a:latin typeface="+mj-lt"/>
              <a:ea typeface="+mj-ea"/>
              <a:cs typeface="+mj-cs"/>
            </a:endParaRPr>
          </a:p>
        </p:txBody>
      </p:sp>
      <p:sp>
        <p:nvSpPr>
          <p:cNvPr id="108547" name="TextBox 108546"/>
          <p:cNvSpPr txBox="1"/>
          <p:nvPr/>
        </p:nvSpPr>
        <p:spPr>
          <a:xfrm>
            <a:off x="274320" y="91440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lang="tr-TR">
                <a:latin typeface="Times New Roman"/>
              </a:rPr>
              <a:t>Gerekli bir değişkenin dışlandığından ya da fonksiyonel biçimin yanlış olduğundan şüpheleniliyorsa:</a:t>
            </a:r>
          </a:p>
        </p:txBody>
      </p:sp>
      <p:sp>
        <p:nvSpPr>
          <p:cNvPr id="108548" name="TextBox 108547"/>
          <p:cNvSpPr txBox="1"/>
          <p:nvPr/>
        </p:nvSpPr>
        <p:spPr>
          <a:xfrm>
            <a:off x="274320" y="164592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tr-TR">
                <a:latin typeface="Times New Roman"/>
              </a:rPr>
              <a:t>1. Adım: </a:t>
            </a:r>
            <a:r>
              <a:rPr sz="1900" lang="tr-TR">
                <a:latin typeface="Times New Roman"/>
              </a:rPr>
              <a:t>Modeli EKK ile tahmin et, kalıntıları (e</a:t>
            </a:r>
            <a:r>
              <a:rPr sz="1900" lang="tr-TR" baseline="-25000">
                <a:latin typeface="Times New Roman"/>
              </a:rPr>
              <a:t>i</a:t>
            </a:r>
            <a:r>
              <a:rPr sz="1900" lang="tr-TR">
                <a:latin typeface="Times New Roman"/>
              </a:rPr>
              <a:t>) elde et.</a:t>
            </a:r>
          </a:p>
          <a:p>
            <a:r>
              <a:rPr sz="1900" b="1" lang="tr-TR">
                <a:latin typeface="Times New Roman"/>
              </a:rPr>
              <a:t>2. Adım: </a:t>
            </a:r>
            <a:r>
              <a:rPr sz="1900" lang="tr-TR">
                <a:latin typeface="Times New Roman"/>
              </a:rPr>
              <a:t>Gözlemleri şüphelenilen değişkene (X ya da Ŷ) göre küçükten büyüğe sırala.</a:t>
            </a:r>
          </a:p>
          <a:p>
            <a:r>
              <a:rPr sz="1900" b="1" lang="tr-TR">
                <a:latin typeface="Times New Roman"/>
              </a:rPr>
              <a:t>3. Adım: </a:t>
            </a:r>
            <a:r>
              <a:rPr sz="1900" lang="tr-TR">
                <a:latin typeface="Times New Roman"/>
              </a:rPr>
              <a:t>Sıralı kalıntılardan d istatistiğini hesapla: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49" name="Denklem"/>
              <p:cNvSpPr txBox="1"/>
              <p:nvPr/>
            </p:nvSpPr>
            <p:spPr>
              <a:xfrm>
                <a:off x="2286000" y="3063240"/>
                <a:ext cx="1836846" cy="1139342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>
                          <a:latin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400"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>
                                  <a:latin typeface="Cambria Math"/>
                                </a:rP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/>
                                </a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400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>
                                  <a:latin typeface="Cambria Math"/>
                                </a:rPr>
                                <m:t>n</m:t>
                              </m:r>
                            </m:sup>
                            <m:e>
                              <m:sSubSup>
                                <m:e>
                                  <m:r>
                                    <a:rPr lang="en-US" sz="2400">
                                      <a:latin typeface="Cambria Math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a:rPr lang="en-US" sz="240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</a:p>
            </p:txBody>
          </p:sp>
        </mc:Choice>
        <mc:Fallback>
          <p:pic>
            <p:nvPicPr>
              <p:cNvPr id="108549" name="Picture 108548" descr="eq0040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86000" y="3063240"/>
                <a:ext cx="1700784" cy="1085088"/>
              </a:xfrm>
              <a:prstGeom prst="rect">
                <a:avLst/>
              </a:prstGeom>
            </p:spPr>
          </p:pic>
        </mc:Fallback>
      </mc:AlternateContent>
      <p:sp>
        <p:nvSpPr>
          <p:cNvPr id="108550" name="TextBox 108549"/>
          <p:cNvSpPr txBox="1"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tr-TR">
                <a:latin typeface="Times New Roman"/>
              </a:rPr>
              <a:t>4. Adım: </a:t>
            </a:r>
            <a:r>
              <a:rPr sz="1900" lang="tr-TR">
                <a:latin typeface="Times New Roman"/>
              </a:rPr>
              <a:t>d &lt; d</a:t>
            </a:r>
            <a:r>
              <a:rPr sz="1900" lang="tr-TR" baseline="-25000">
                <a:latin typeface="Times New Roman"/>
              </a:rPr>
              <a:t>L</a:t>
            </a:r>
            <a:r>
              <a:rPr sz="1900" lang="tr-TR">
                <a:latin typeface="Times New Roman"/>
              </a:rPr>
              <a:t> ise kalıntılarda sistematik örüntü vardır: tanımlama hatası.</a:t>
            </a:r>
          </a:p>
        </p:txBody>
      </p:sp>
      <p:sp>
        <p:nvSpPr>
          <p:cNvPr id="108551" name="TextBox 108550"/>
          <p:cNvSpPr txBox="1"/>
          <p:nvPr/>
        </p:nvSpPr>
        <p:spPr>
          <a:xfrm>
            <a:off x="274320" y="4892040"/>
            <a:ext cx="8595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tr-TR">
                <a:latin typeface="Times New Roman"/>
              </a:rPr>
              <a:t>Uygulama</a:t>
            </a:r>
            <a:r>
              <a:rPr sz="1900" lang="tr-TR">
                <a:latin typeface="Times New Roman"/>
              </a:rPr>
              <a:t> (ihracat modeli, gözlemler DK’ya göre sıralı): d = </a:t>
            </a:r>
            <a:r>
              <a:rPr sz="1900" lang="tr-TR">
                <a:latin typeface="Times New Roman"/>
              </a:rPr>
              <a:t>0.973</a:t>
            </a:r>
            <a:r>
              <a:rPr sz="1900" lang="tr-TR">
                <a:latin typeface="Times New Roman"/>
              </a:rPr>
              <a:t> &lt; d</a:t>
            </a:r>
            <a:r>
              <a:rPr sz="1900" lang="tr-TR" baseline="-25000">
                <a:latin typeface="Times New Roman"/>
              </a:rPr>
              <a:t>L</a:t>
            </a:r>
            <a:r>
              <a:rPr sz="1900" lang="tr-TR">
                <a:latin typeface="Times New Roman"/>
              </a:rPr>
              <a:t> = 1.201 (n = 20, k′ = 1, %5) ⇒ tanımlama hatası vardır. RESET testiyle aynı sonuç.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546" name="3 Slayt Numarası Yer Tutucusu">
            <a:extLst>
              <a:ext uri="{FF2B5EF4-FFF2-40B4-BE49-F238E27FC236}">
                <a16:creationId xmlns:a16="http://schemas.microsoft.com/office/drawing/2014/main" id="{44B5EFAF-9302-99F4-5BDC-B498B2E4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6BE864-1FA2-479E-8033-00D90ADC2B53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227B4B3-8327-40E8-5326-8807DFD3AB8D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2863"/>
            <a:ext cx="8229600" cy="76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000" kern="0">
                <a:latin typeface="+mj-lt"/>
                <a:ea typeface="+mj-ea"/>
                <a:cs typeface="+mj-cs"/>
              </a:rPr>
              <a:t>Eklenen Değişkenler için LM Testi</a:t>
            </a:r>
            <a:endParaRPr lang="en-US" sz="3600" kern="0">
              <a:latin typeface="+mj-lt"/>
              <a:ea typeface="+mj-ea"/>
              <a:cs typeface="+mj-cs"/>
            </a:endParaRPr>
          </a:p>
        </p:txBody>
      </p:sp>
      <p:sp>
        <p:nvSpPr>
          <p:cNvPr id="108547" name="TextBox 108546"/>
          <p:cNvSpPr txBox="1"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tr-TR">
                <a:latin typeface="Times New Roman"/>
              </a:rPr>
              <a:t>1. Adım: </a:t>
            </a:r>
            <a:r>
              <a:rPr sz="1900" lang="tr-TR">
                <a:latin typeface="Times New Roman"/>
              </a:rPr>
              <a:t>Kısıtlı modeli EKK ile tahmin et, kalıntıları (e</a:t>
            </a:r>
            <a:r>
              <a:rPr sz="1900" lang="tr-TR" baseline="-25000">
                <a:latin typeface="Times New Roman"/>
              </a:rPr>
              <a:t>t</a:t>
            </a:r>
            <a:r>
              <a:rPr sz="1900" lang="tr-TR">
                <a:latin typeface="Times New Roman"/>
              </a:rPr>
              <a:t>) al: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48" name="Denklem"/>
              <p:cNvSpPr txBox="1"/>
              <p:nvPr/>
            </p:nvSpPr>
            <p:spPr>
              <a:xfrm>
                <a:off x="731520" y="1371600"/>
                <a:ext cx="3318174" cy="32004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ln</m:t>
                      </m:r>
                      <m:r>
                        <a:rPr lang="en-US" sz="2200">
                          <a:latin typeface="Cambria Math"/>
                        </a:rPr>
                        <m:t>I</m:t>
                      </m:r>
                      <m:r>
                        <a:rPr lang="en-US" sz="2200">
                          <a:latin typeface="Cambria Math"/>
                        </a:rPr>
                        <m:t>H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α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α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ln</m:t>
                      </m:r>
                      <m:r>
                        <a:rPr lang="en-US" sz="22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108548" name="Picture 108547" descr="eq0041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31520" y="1371600"/>
                <a:ext cx="3072384" cy="304800"/>
              </a:xfrm>
              <a:prstGeom prst="rect">
                <a:avLst/>
              </a:prstGeom>
            </p:spPr>
          </p:pic>
        </mc:Fallback>
      </mc:AlternateContent>
      <p:sp>
        <p:nvSpPr>
          <p:cNvPr id="108549" name="TextBox 108548"/>
          <p:cNvSpPr txBox="1"/>
          <p:nvPr/>
        </p:nvSpPr>
        <p:spPr>
          <a:xfrm>
            <a:off x="274320" y="19659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tr-TR">
                <a:latin typeface="Times New Roman"/>
              </a:rPr>
              <a:t>2. Adım: </a:t>
            </a:r>
            <a:r>
              <a:rPr sz="1900" lang="tr-TR">
                <a:latin typeface="Times New Roman"/>
              </a:rPr>
              <a:t>Kalıntıları, modeldeki ve eklenmesi düşünülen tüm değişkenlere regres et: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50" name="Denklem"/>
              <p:cNvSpPr txBox="1"/>
              <p:nvPr/>
            </p:nvSpPr>
            <p:spPr>
              <a:xfrm>
                <a:off x="365760" y="2468880"/>
                <a:ext cx="5457870" cy="39044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000"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0">
                              <a:latin typeface="Cambria Math"/>
                            </a:rPr>
                            <m:t>γ</m:t>
                          </m:r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0">
                              <a:latin typeface="Cambria Math"/>
                            </a:rPr>
                            <m:t>γ</m:t>
                          </m:r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ln</m:t>
                      </m:r>
                      <m:r>
                        <a:rPr lang="en-US" sz="20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0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0">
                              <a:latin typeface="Cambria Math"/>
                            </a:rPr>
                            <m:t>γ</m:t>
                          </m:r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(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/>
                                </a:rPr>
                                <m:t>ln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I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R</m:t>
                              </m:r>
                            </m:e>
                          </m:acc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0">
                              <a:latin typeface="Cambria Math"/>
                            </a:rPr>
                            <m:t>γ</m:t>
                          </m:r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(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/>
                                </a:rPr>
                                <m:t>ln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I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R</m:t>
                              </m:r>
                            </m:e>
                          </m:acc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0">
                              <a:latin typeface="Cambria Math"/>
                            </a:rPr>
                            <m:t>ε</m:t>
                          </m:r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108550" name="Picture 108549" descr="eq0042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5760" y="2468880"/>
                <a:ext cx="5053584" cy="371856"/>
              </a:xfrm>
              <a:prstGeom prst="rect">
                <a:avLst/>
              </a:prstGeom>
            </p:spPr>
          </p:pic>
        </mc:Fallback>
      </mc:AlternateContent>
      <p:sp>
        <p:nvSpPr>
          <p:cNvPr id="108551" name="TextBox 108550"/>
          <p:cNvSpPr txBox="1"/>
          <p:nvPr/>
        </p:nvSpPr>
        <p:spPr>
          <a:xfrm>
            <a:off x="274320" y="31546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tr-TR">
                <a:latin typeface="Times New Roman"/>
              </a:rPr>
              <a:t>3. Adım: </a:t>
            </a:r>
            <a:r>
              <a:rPr sz="1900" lang="tr-TR">
                <a:latin typeface="Times New Roman"/>
              </a:rPr>
              <a:t>H</a:t>
            </a:r>
            <a:r>
              <a:rPr sz="1900" lang="tr-TR" baseline="-25000">
                <a:latin typeface="Times New Roman"/>
              </a:rPr>
              <a:t>0</a:t>
            </a:r>
            <a:r>
              <a:rPr sz="1900" lang="tr-TR">
                <a:latin typeface="Times New Roman"/>
              </a:rPr>
              <a:t>: eklenen değişkenlerin katsayıları sıfırdır. Büyük örneklemde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52" name="Denklem"/>
              <p:cNvSpPr txBox="1"/>
              <p:nvPr/>
            </p:nvSpPr>
            <p:spPr>
              <a:xfrm>
                <a:off x="731520" y="3611880"/>
                <a:ext cx="1112641" cy="38404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00">
                          <a:latin typeface="Cambria Math"/>
                        </a:rPr>
                        <m:t>n</m:t>
                      </m:r>
                      <m:sSup>
                        <m:e>
                          <m:r>
                            <a:rPr lang="en-US" sz="2200">
                              <a:latin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∼</m:t>
                      </m:r>
                      <m:sSubSup>
                        <m:e>
                          <m:r>
                            <a:rPr lang="en-US" sz="2200">
                              <a:latin typeface="Cambria Math"/>
                            </a:rPr>
                            <m:t>χ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m</m:t>
                          </m:r>
                        </m:sub>
                        <m:sup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pic>
            <p:nvPicPr>
              <p:cNvPr id="108552" name="Picture 108551" descr="eq0043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1520" y="3611880"/>
                <a:ext cx="1030224" cy="365760"/>
              </a:xfrm>
              <a:prstGeom prst="rect">
                <a:avLst/>
              </a:prstGeom>
            </p:spPr>
          </p:pic>
        </mc:Fallback>
      </mc:AlternateContent>
      <p:sp>
        <p:nvSpPr>
          <p:cNvPr id="108553" name="TextBox 108552"/>
          <p:cNvSpPr txBox="1"/>
          <p:nvPr/>
        </p:nvSpPr>
        <p:spPr>
          <a:xfrm>
            <a:off x="2743200" y="3657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lang="tr-TR">
                <a:latin typeface="Times New Roman"/>
              </a:rPr>
              <a:t>(m: eklenen değişken sayısı)</a:t>
            </a:r>
          </a:p>
        </p:txBody>
      </p:sp>
      <p:sp>
        <p:nvSpPr>
          <p:cNvPr id="108554" name="TextBox 108553"/>
          <p:cNvSpPr txBox="1"/>
          <p:nvPr/>
        </p:nvSpPr>
        <p:spPr>
          <a:xfrm>
            <a:off x="274320" y="4343400"/>
            <a:ext cx="8595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tr-TR">
                <a:latin typeface="Times New Roman"/>
              </a:rPr>
              <a:t>Uygulama: </a:t>
            </a:r>
            <a:r>
              <a:rPr sz="1900" lang="tr-TR">
                <a:latin typeface="Times New Roman"/>
              </a:rPr>
              <a:t>nR² = 20 × </a:t>
            </a:r>
            <a:r>
              <a:rPr sz="1900" lang="tr-TR">
                <a:latin typeface="Times New Roman"/>
              </a:rPr>
              <a:t>0.4912</a:t>
            </a:r>
            <a:r>
              <a:rPr sz="1900" lang="tr-TR">
                <a:latin typeface="Times New Roman"/>
              </a:rPr>
              <a:t> = </a:t>
            </a:r>
            <a:r>
              <a:rPr sz="1900" lang="tr-TR">
                <a:latin typeface="Times New Roman"/>
              </a:rPr>
              <a:t>9.82</a:t>
            </a:r>
            <a:r>
              <a:rPr sz="1900" lang="tr-TR">
                <a:latin typeface="Times New Roman"/>
              </a:rPr>
              <a:t> &gt; χ</a:t>
            </a:r>
            <a:r>
              <a:rPr sz="1900" lang="tr-TR" baseline="30000">
                <a:latin typeface="Times New Roman"/>
              </a:rPr>
              <a:t>2</a:t>
            </a:r>
            <a:r>
              <a:rPr sz="1900" lang="tr-TR" baseline="-25000">
                <a:latin typeface="Times New Roman"/>
              </a:rPr>
              <a:t>2</a:t>
            </a:r>
            <a:r>
              <a:rPr sz="1900" lang="tr-TR">
                <a:latin typeface="Times New Roman"/>
              </a:rPr>
              <a:t> = 5.99 ⇒ H</a:t>
            </a:r>
            <a:r>
              <a:rPr sz="1900" lang="tr-TR" baseline="-25000">
                <a:latin typeface="Times New Roman"/>
              </a:rPr>
              <a:t>0</a:t>
            </a:r>
            <a:r>
              <a:rPr sz="1900" lang="tr-TR">
                <a:latin typeface="Times New Roman"/>
              </a:rPr>
              <a:t> reddedilir.</a:t>
            </a:r>
          </a:p>
          <a:p>
            <a:r>
              <a:rPr sz="1900" lang="tr-TR">
                <a:latin typeface="Times New Roman"/>
              </a:rPr>
              <a:t>Model yanlış tanımlanmıştır; RESET ve Durbin-Watson ile aynı sonuç.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3 Slayt Numarası Yer Tutucusu">
            <a:extLst>
              <a:ext uri="{FF2B5EF4-FFF2-40B4-BE49-F238E27FC236}">
                <a16:creationId xmlns:a16="http://schemas.microsoft.com/office/drawing/2014/main" id="{F4344ABD-0935-FFE6-0ABA-C418928FD71A}"/>
              </a:ext>
            </a:extLst>
          </p:cNvPr>
          <p:cNvSpPr txBox="1">
            <a:spLocks noGrp="1"/>
          </p:cNvSpPr>
          <p:nvPr/>
        </p:nvSpPr>
        <p:spPr bwMode="auto">
          <a:xfrm>
            <a:off x="6588125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624A49F-5322-4FCB-BF38-0C6ABBEE6856}" type="slidenum">
              <a:rPr lang="tr-TR" altLang="tr-TR" sz="1400"/>
              <a:pPr algn="r" eaLnBrk="1" hangingPunct="1">
                <a:spcBef>
                  <a:spcPct val="0"/>
                </a:spcBef>
                <a:buFontTx/>
                <a:buNone/>
              </a:pPr>
              <a:t>36</a:t>
            </a:fld>
            <a:endParaRPr lang="tr-TR" altLang="tr-TR" sz="1400"/>
          </a:p>
        </p:txBody>
      </p:sp>
      <p:sp>
        <p:nvSpPr>
          <p:cNvPr id="122883" name="1 Dikdörtgen">
            <a:extLst>
              <a:ext uri="{FF2B5EF4-FFF2-40B4-BE49-F238E27FC236}">
                <a16:creationId xmlns:a16="http://schemas.microsoft.com/office/drawing/2014/main" id="{7E296D68-EA49-82BB-2F99-260B62245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11138"/>
            <a:ext cx="5105400" cy="6461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3600">
                <a:latin typeface="Times New Roman" panose="02020603050405020304" pitchFamily="18" charset="0"/>
              </a:rPr>
              <a:t>Hausman Tanımlama Testi</a:t>
            </a:r>
          </a:p>
        </p:txBody>
      </p:sp>
      <p:sp>
        <p:nvSpPr>
          <p:cNvPr id="122884" name="Text Box 13">
            <a:extLst>
              <a:ext uri="{FF2B5EF4-FFF2-40B4-BE49-F238E27FC236}">
                <a16:creationId xmlns:a16="http://schemas.microsoft.com/office/drawing/2014/main" id="{1D790CFD-4568-1FB1-390A-49C766C6C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96975"/>
            <a:ext cx="8351838" cy="243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tr-TR" altLang="tr-TR" sz="2200" dirty="0"/>
              <a:t> </a:t>
            </a:r>
            <a:r>
              <a:rPr lang="tr-TR" altLang="tr-TR" sz="2200" dirty="0" err="1"/>
              <a:t>Hausman</a:t>
            </a:r>
            <a:r>
              <a:rPr lang="tr-TR" altLang="tr-TR" sz="2200" dirty="0"/>
              <a:t> testinde temel hipotez tanımlama hatası olmadığını, alternatif hipotez ise tanımlama hatası olduğunu ifade etmektedir. Bağımsız değişkenlerle hata terimleri arasında ilişki yoksa </a:t>
            </a:r>
            <a:r>
              <a:rPr lang="tr-TR" altLang="tr-TR" sz="2200" b="1" dirty="0">
                <a:solidFill>
                  <a:schemeClr val="accent2"/>
                </a:solidFill>
              </a:rPr>
              <a:t>tanımlama hatası olmayacak</a:t>
            </a:r>
            <a:r>
              <a:rPr lang="tr-TR" altLang="tr-TR" sz="2200" dirty="0"/>
              <a:t>, ilişki varsa </a:t>
            </a:r>
            <a:r>
              <a:rPr lang="tr-TR" altLang="tr-TR" sz="2200" b="1" dirty="0">
                <a:solidFill>
                  <a:schemeClr val="accent2"/>
                </a:solidFill>
              </a:rPr>
              <a:t>tanımlama hatası</a:t>
            </a:r>
            <a:r>
              <a:rPr lang="tr-TR" altLang="tr-TR" sz="2200" dirty="0"/>
              <a:t> söz konusu olacaktır. Bu nedenle </a:t>
            </a:r>
            <a:r>
              <a:rPr lang="tr-TR" altLang="tr-TR" sz="2200" b="1" dirty="0">
                <a:solidFill>
                  <a:schemeClr val="accent2"/>
                </a:solidFill>
              </a:rPr>
              <a:t>temel hipotez bağımsız değişkenlerle hatalar ilişkisiz, alternatif hipotez ise bağımsız değişkenlerle hatalar ilişkilidir şeklinde kurulur.</a:t>
            </a:r>
            <a:r>
              <a:rPr lang="tr-TR" altLang="tr-TR" sz="2200" dirty="0"/>
              <a:t> </a:t>
            </a:r>
          </a:p>
        </p:txBody>
      </p:sp>
      <p:sp>
        <p:nvSpPr>
          <p:cNvPr id="122885" name="TextBox 122884"/>
          <p:cNvSpPr txBox="1"/>
          <p:nvPr/>
        </p:nvSpPr>
        <p:spPr>
          <a:xfrm>
            <a:off x="393192" y="3840480"/>
            <a:ext cx="84947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✓ EKK tahmincisi (</a:t>
            </a:r>
            <a:r>
              <a:rPr sz="1800" lang="tr-TR">
                <a:latin typeface="Times New Roman"/>
              </a:rPr>
              <a:t>β̂</a:t>
            </a:r>
            <a:r>
              <a:rPr sz="1800" lang="tr-TR" baseline="-25000">
                <a:latin typeface="Times New Roman"/>
              </a:rPr>
              <a:t>0</a:t>
            </a:r>
            <a:r>
              <a:rPr sz="1800" lang="tr-TR">
                <a:latin typeface="Times New Roman"/>
              </a:rPr>
              <a:t>): H</a:t>
            </a:r>
            <a:r>
              <a:rPr sz="1800" lang="tr-TR" baseline="-25000">
                <a:latin typeface="Times New Roman"/>
              </a:rPr>
              <a:t>0</a:t>
            </a:r>
            <a:r>
              <a:rPr sz="1800" lang="tr-TR">
                <a:latin typeface="Times New Roman"/>
              </a:rPr>
              <a:t> altında tutarlı ve etkin, H</a:t>
            </a:r>
            <a:r>
              <a:rPr sz="1800" lang="tr-TR" baseline="-25000">
                <a:latin typeface="Times New Roman"/>
              </a:rPr>
              <a:t>1</a:t>
            </a:r>
            <a:r>
              <a:rPr sz="1800" lang="tr-TR">
                <a:latin typeface="Times New Roman"/>
              </a:rPr>
              <a:t> altında tutarsızdır.</a:t>
            </a:r>
          </a:p>
          <a:p>
            <a:r>
              <a:rPr sz="1800" lang="tr-TR">
                <a:latin typeface="Times New Roman"/>
              </a:rPr>
              <a:t>✓ Araç değişken (IV) tahmincisi (</a:t>
            </a:r>
            <a:r>
              <a:rPr sz="1800" lang="tr-TR">
                <a:latin typeface="Times New Roman"/>
              </a:rPr>
              <a:t>β̂</a:t>
            </a:r>
            <a:r>
              <a:rPr sz="1800" lang="tr-TR" baseline="-25000">
                <a:latin typeface="Times New Roman"/>
              </a:rPr>
              <a:t>1</a:t>
            </a:r>
            <a:r>
              <a:rPr sz="1800" lang="tr-TR">
                <a:latin typeface="Times New Roman"/>
              </a:rPr>
              <a:t>): H</a:t>
            </a:r>
            <a:r>
              <a:rPr sz="1800" lang="tr-TR" baseline="-25000">
                <a:latin typeface="Times New Roman"/>
              </a:rPr>
              <a:t>0</a:t>
            </a:r>
            <a:r>
              <a:rPr sz="1800" lang="tr-TR">
                <a:latin typeface="Times New Roman"/>
              </a:rPr>
              <a:t> ve H</a:t>
            </a:r>
            <a:r>
              <a:rPr sz="1800" lang="tr-TR" baseline="-25000">
                <a:latin typeface="Times New Roman"/>
              </a:rPr>
              <a:t>1</a:t>
            </a:r>
            <a:r>
              <a:rPr sz="1800" lang="tr-TR">
                <a:latin typeface="Times New Roman"/>
              </a:rPr>
              <a:t> altında tutarlıdır, ancak H</a:t>
            </a:r>
            <a:r>
              <a:rPr sz="1800" lang="tr-TR" baseline="-25000">
                <a:latin typeface="Times New Roman"/>
              </a:rPr>
              <a:t>0</a:t>
            </a:r>
            <a:r>
              <a:rPr sz="1800" lang="tr-TR">
                <a:latin typeface="Times New Roman"/>
              </a:rPr>
              <a:t> altında etkin değildir.</a:t>
            </a:r>
          </a:p>
          <a:p>
            <a:r>
              <a:rPr sz="1800" lang="tr-TR">
                <a:latin typeface="Times New Roman"/>
              </a:rPr>
              <a:t>✓ H</a:t>
            </a:r>
            <a:r>
              <a:rPr sz="1800" lang="tr-TR" baseline="-25000">
                <a:latin typeface="Times New Roman"/>
              </a:rPr>
              <a:t>0</a:t>
            </a:r>
            <a:r>
              <a:rPr sz="1800" lang="tr-TR">
                <a:latin typeface="Times New Roman"/>
              </a:rPr>
              <a:t> doğruysa iki tahmin birbirine yakın çıkar; aralarındaki fark (q̂ = </a:t>
            </a:r>
            <a:r>
              <a:rPr sz="1800" lang="tr-TR">
                <a:latin typeface="Times New Roman"/>
              </a:rPr>
              <a:t>β̂</a:t>
            </a:r>
            <a:r>
              <a:rPr sz="1800" lang="tr-TR" baseline="-25000">
                <a:latin typeface="Times New Roman"/>
              </a:rPr>
              <a:t>1</a:t>
            </a:r>
            <a:r>
              <a:rPr sz="1800" lang="tr-TR">
                <a:latin typeface="Times New Roman"/>
              </a:rPr>
              <a:t> − </a:t>
            </a:r>
            <a:r>
              <a:rPr sz="1800" lang="tr-TR">
                <a:latin typeface="Times New Roman"/>
              </a:rPr>
              <a:t>β̂</a:t>
            </a:r>
            <a:r>
              <a:rPr sz="1800" lang="tr-TR" baseline="-25000">
                <a:latin typeface="Times New Roman"/>
              </a:rPr>
              <a:t>0</a:t>
            </a:r>
            <a:r>
              <a:rPr sz="1800" lang="tr-TR">
                <a:latin typeface="Times New Roman"/>
              </a:rPr>
              <a:t>) büyükse H</a:t>
            </a:r>
            <a:r>
              <a:rPr sz="1800" lang="tr-TR" baseline="-25000">
                <a:latin typeface="Times New Roman"/>
              </a:rPr>
              <a:t>0</a:t>
            </a:r>
            <a:r>
              <a:rPr sz="1800" lang="tr-TR">
                <a:latin typeface="Times New Roman"/>
              </a:rPr>
              <a:t> reddedilir.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3 Slayt Numarası Yer Tutucusu">
            <a:extLst>
              <a:ext uri="{FF2B5EF4-FFF2-40B4-BE49-F238E27FC236}">
                <a16:creationId xmlns:a16="http://schemas.microsoft.com/office/drawing/2014/main" id="{AB8220DC-31A1-DFC8-47BC-84C99C0DE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DC6696-9FB2-43FC-ABC8-1FCCDFAC4280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tr-TR" altLang="tr-TR" sz="1400"/>
          </a:p>
        </p:txBody>
      </p:sp>
      <p:sp>
        <p:nvSpPr>
          <p:cNvPr id="124931" name="1 Dikdörtgen">
            <a:extLst>
              <a:ext uri="{FF2B5EF4-FFF2-40B4-BE49-F238E27FC236}">
                <a16:creationId xmlns:a16="http://schemas.microsoft.com/office/drawing/2014/main" id="{67DFBE73-FF74-1E38-2194-413B8A476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11138"/>
            <a:ext cx="5105400" cy="6461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3600">
                <a:latin typeface="Times New Roman" panose="02020603050405020304" pitchFamily="18" charset="0"/>
              </a:rPr>
              <a:t>Hausman Tanımlama Testi</a:t>
            </a:r>
          </a:p>
        </p:txBody>
      </p:sp>
      <p:sp>
        <p:nvSpPr>
          <p:cNvPr id="124932" name="2 Metin kutusu">
            <a:extLst>
              <a:ext uri="{FF2B5EF4-FFF2-40B4-BE49-F238E27FC236}">
                <a16:creationId xmlns:a16="http://schemas.microsoft.com/office/drawing/2014/main" id="{AF1B05A4-30EF-BD81-C5E8-640ECB464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1285875"/>
            <a:ext cx="8143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Basit regresyon modeli için Hausman test istatistiği</a:t>
            </a:r>
          </a:p>
        </p:txBody>
      </p:sp>
      <p:graphicFrame>
        <p:nvGraphicFramePr>
          <p:cNvPr id="9218" name="3 İçerik Yer Tutucusu">
            <a:extLst>
              <a:ext uri="{FF2B5EF4-FFF2-40B4-BE49-F238E27FC236}">
                <a16:creationId xmlns:a16="http://schemas.microsoft.com/office/drawing/2014/main" id="{3E2A5B9D-5526-A8D1-A90E-C87F6B0ED2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1928813"/>
          <a:ext cx="1500187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336" imgH="406224" progId="Equation.DSMT4">
                  <p:embed/>
                </p:oleObj>
              </mc:Choice>
              <mc:Fallback>
                <p:oleObj name="Equation" r:id="rId3" imgW="609336" imgH="406224" progId="Equation.DSMT4">
                  <p:embed/>
                  <p:pic>
                    <p:nvPicPr>
                      <p:cNvPr id="9218" name="3 İçerik Yer Tutucusu">
                        <a:extLst>
                          <a:ext uri="{FF2B5EF4-FFF2-40B4-BE49-F238E27FC236}">
                            <a16:creationId xmlns:a16="http://schemas.microsoft.com/office/drawing/2014/main" id="{3E2A5B9D-5526-A8D1-A90E-C87F6B0ED2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1928813"/>
                        <a:ext cx="1500187" cy="10001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4 Metin kutusu">
            <a:extLst>
              <a:ext uri="{FF2B5EF4-FFF2-40B4-BE49-F238E27FC236}">
                <a16:creationId xmlns:a16="http://schemas.microsoft.com/office/drawing/2014/main" id="{848BE258-DC7B-4575-C52D-0D77A8518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2214563"/>
            <a:ext cx="6143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tr-TR" altLang="tr-TR" sz="2400">
                <a:latin typeface="Times New Roman" panose="02020603050405020304" pitchFamily="18" charset="0"/>
              </a:rPr>
              <a:t> m: 1 serbestlik dereceli ki – kare dağılımıdır. </a:t>
            </a:r>
          </a:p>
        </p:txBody>
      </p:sp>
      <p:sp>
        <p:nvSpPr>
          <p:cNvPr id="9226" name="5 Metin kutusu">
            <a:extLst>
              <a:ext uri="{FF2B5EF4-FFF2-40B4-BE49-F238E27FC236}">
                <a16:creationId xmlns:a16="http://schemas.microsoft.com/office/drawing/2014/main" id="{BDA60B2F-8ED3-A1D0-888D-E217BD6E5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429000"/>
            <a:ext cx="44656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En Küçük Kareler yöntemi ile tahminlenen model:</a:t>
            </a:r>
          </a:p>
        </p:txBody>
      </p:sp>
      <p:sp>
        <p:nvSpPr>
          <p:cNvPr id="9227" name="7 Metin kutusu">
            <a:extLst>
              <a:ext uri="{FF2B5EF4-FFF2-40B4-BE49-F238E27FC236}">
                <a16:creationId xmlns:a16="http://schemas.microsoft.com/office/drawing/2014/main" id="{A648437C-3FF3-CCEE-A520-50B2E442D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97425"/>
            <a:ext cx="36353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Tutarlı tahmin: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(IV: X için araç değişken Z)</a:t>
            </a:r>
          </a:p>
        </p:txBody>
      </p:sp>
      <p:graphicFrame>
        <p:nvGraphicFramePr>
          <p:cNvPr id="9220" name="Object 3">
            <a:extLst>
              <a:ext uri="{FF2B5EF4-FFF2-40B4-BE49-F238E27FC236}">
                <a16:creationId xmlns:a16="http://schemas.microsoft.com/office/drawing/2014/main" id="{9A6A5199-078C-20A6-F9F3-6FFA18784D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3357563"/>
          <a:ext cx="371475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29810" imgH="215806" progId="Equation.DSMT4">
                  <p:embed/>
                </p:oleObj>
              </mc:Choice>
              <mc:Fallback>
                <p:oleObj name="Equation" r:id="rId7" imgW="1129810" imgH="215806" progId="Equation.DSMT4">
                  <p:embed/>
                  <p:pic>
                    <p:nvPicPr>
                      <p:cNvPr id="9220" name="Object 3">
                        <a:extLst>
                          <a:ext uri="{FF2B5EF4-FFF2-40B4-BE49-F238E27FC236}">
                            <a16:creationId xmlns:a16="http://schemas.microsoft.com/office/drawing/2014/main" id="{9A6A5199-078C-20A6-F9F3-6FFA18784D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3357563"/>
                        <a:ext cx="3714750" cy="70961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6">
            <a:extLst>
              <a:ext uri="{FF2B5EF4-FFF2-40B4-BE49-F238E27FC236}">
                <a16:creationId xmlns:a16="http://schemas.microsoft.com/office/drawing/2014/main" id="{28A5434A-A9EF-826D-F7C1-B2F8854CA2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5916613"/>
          <a:ext cx="142875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72808" imgH="241195" progId="Equation.DSMT4">
                  <p:embed/>
                </p:oleObj>
              </mc:Choice>
              <mc:Fallback>
                <p:oleObj name="Equation" r:id="rId9" imgW="672808" imgH="241195" progId="Equation.DSMT4">
                  <p:embed/>
                  <p:pic>
                    <p:nvPicPr>
                      <p:cNvPr id="9221" name="Object 6">
                        <a:extLst>
                          <a:ext uri="{FF2B5EF4-FFF2-40B4-BE49-F238E27FC236}">
                            <a16:creationId xmlns:a16="http://schemas.microsoft.com/office/drawing/2014/main" id="{28A5434A-A9EF-826D-F7C1-B2F8854CA2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5916613"/>
                        <a:ext cx="1428750" cy="51276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7">
            <a:extLst>
              <a:ext uri="{FF2B5EF4-FFF2-40B4-BE49-F238E27FC236}">
                <a16:creationId xmlns:a16="http://schemas.microsoft.com/office/drawing/2014/main" id="{3C65AA2F-D14B-0C25-FF53-DBF074A211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5949950"/>
          <a:ext cx="34766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38300" imgH="241300" progId="Equation.DSMT4">
                  <p:embed/>
                </p:oleObj>
              </mc:Choice>
              <mc:Fallback>
                <p:oleObj name="Equation" r:id="rId11" imgW="1638300" imgH="241300" progId="Equation.DSMT4">
                  <p:embed/>
                  <p:pic>
                    <p:nvPicPr>
                      <p:cNvPr id="9222" name="Object 7">
                        <a:extLst>
                          <a:ext uri="{FF2B5EF4-FFF2-40B4-BE49-F238E27FC236}">
                            <a16:creationId xmlns:a16="http://schemas.microsoft.com/office/drawing/2014/main" id="{3C65AA2F-D14B-0C25-FF53-DBF074A211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949950"/>
                        <a:ext cx="3476625" cy="5127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41" name="AutoShape 17">
            <a:extLst>
              <a:ext uri="{FF2B5EF4-FFF2-40B4-BE49-F238E27FC236}">
                <a16:creationId xmlns:a16="http://schemas.microsoft.com/office/drawing/2014/main" id="{B9DB48AA-CDA6-57CA-D977-3BC4C3B99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3716338"/>
            <a:ext cx="720725" cy="73025"/>
          </a:xfrm>
          <a:prstGeom prst="rightArrow">
            <a:avLst>
              <a:gd name="adj1" fmla="val 50000"/>
              <a:gd name="adj2" fmla="val 2467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124942" name="AutoShape 18">
            <a:extLst>
              <a:ext uri="{FF2B5EF4-FFF2-40B4-BE49-F238E27FC236}">
                <a16:creationId xmlns:a16="http://schemas.microsoft.com/office/drawing/2014/main" id="{ED142AA5-8F45-CB62-F9FB-97A518EB3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157788"/>
            <a:ext cx="863600" cy="71437"/>
          </a:xfrm>
          <a:prstGeom prst="rightArrow">
            <a:avLst>
              <a:gd name="adj1" fmla="val 50000"/>
              <a:gd name="adj2" fmla="val 30222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43" name="Denklem"/>
              <p:cNvSpPr txBox="1"/>
              <p:nvPr/>
            </p:nvSpPr>
            <p:spPr>
              <a:xfrm>
                <a:off x="5120640" y="4754880"/>
                <a:ext cx="2567635" cy="37764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26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6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600">
                              <a:latin typeface="Cambria Math"/>
                            </a:rPr>
                            <m:t>α</m:t>
                          </m:r>
                        </m:e>
                        <m:sub>
                          <m:r>
                            <a:rPr lang="en-US" sz="26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6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6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60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en-US" sz="2600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6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6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600">
                              <a:latin typeface="Cambria Math"/>
                            </a:rPr>
                            <m:t>υ</m:t>
                          </m:r>
                        </m:e>
                        <m:sub>
                          <m:r>
                            <a:rPr lang="en-US" sz="2600">
                              <a:latin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124943" name="Picture 124942" descr="eq0011.png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20640" y="4754880"/>
                <a:ext cx="2377440" cy="35966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9226" grpId="0"/>
      <p:bldP spid="92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3 Slayt Numarası Yer Tutucusu">
            <a:extLst>
              <a:ext uri="{FF2B5EF4-FFF2-40B4-BE49-F238E27FC236}">
                <a16:creationId xmlns:a16="http://schemas.microsoft.com/office/drawing/2014/main" id="{3FCD7D07-186D-090F-E3B9-31FD36C8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8A5991-C844-4BFA-B2DB-5352D6B3D9CF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tr-TR" altLang="tr-TR" sz="1400"/>
          </a:p>
        </p:txBody>
      </p:sp>
      <p:sp>
        <p:nvSpPr>
          <p:cNvPr id="126979" name="1 Metin kutusu">
            <a:extLst>
              <a:ext uri="{FF2B5EF4-FFF2-40B4-BE49-F238E27FC236}">
                <a16:creationId xmlns:a16="http://schemas.microsoft.com/office/drawing/2014/main" id="{9D2B8AFD-DD27-240F-84ED-F26C91C31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928688"/>
            <a:ext cx="8643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Araç değişken Z ise araç değişken tahmincisi;</a:t>
            </a:r>
          </a:p>
        </p:txBody>
      </p:sp>
      <p:sp>
        <p:nvSpPr>
          <p:cNvPr id="126980" name="2 Metin kutusu">
            <a:extLst>
              <a:ext uri="{FF2B5EF4-FFF2-40B4-BE49-F238E27FC236}">
                <a16:creationId xmlns:a16="http://schemas.microsoft.com/office/drawing/2014/main" id="{89915102-241E-8195-FD96-2A5A1A0DB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85750"/>
            <a:ext cx="8572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r-TR" altLang="tr-TR" sz="2400">
                <a:latin typeface="Times New Roman" panose="02020603050405020304" pitchFamily="18" charset="0"/>
              </a:rPr>
              <a:t> Araç değişken yöntemi ile tutarlı tahminciler elde edilebilir.  </a:t>
            </a:r>
          </a:p>
        </p:txBody>
      </p:sp>
      <p:graphicFrame>
        <p:nvGraphicFramePr>
          <p:cNvPr id="10243" name="Object 9">
            <a:extLst>
              <a:ext uri="{FF2B5EF4-FFF2-40B4-BE49-F238E27FC236}">
                <a16:creationId xmlns:a16="http://schemas.microsoft.com/office/drawing/2014/main" id="{DD3AD3BE-F2C7-F246-F744-547E81C604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1875" y="1714500"/>
          <a:ext cx="2921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7000" imgH="508000" progId="Equation.DSMT4">
                  <p:embed/>
                </p:oleObj>
              </mc:Choice>
              <mc:Fallback>
                <p:oleObj name="Equation" r:id="rId5" imgW="1397000" imgH="508000" progId="Equation.DSMT4">
                  <p:embed/>
                  <p:pic>
                    <p:nvPicPr>
                      <p:cNvPr id="10243" name="Object 9">
                        <a:extLst>
                          <a:ext uri="{FF2B5EF4-FFF2-40B4-BE49-F238E27FC236}">
                            <a16:creationId xmlns:a16="http://schemas.microsoft.com/office/drawing/2014/main" id="{DD3AD3BE-F2C7-F246-F744-547E81C604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1714500"/>
                        <a:ext cx="2921000" cy="106203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10">
            <a:extLst>
              <a:ext uri="{FF2B5EF4-FFF2-40B4-BE49-F238E27FC236}">
                <a16:creationId xmlns:a16="http://schemas.microsoft.com/office/drawing/2014/main" id="{EA915271-F248-C9A0-E92E-1783031FDA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188" y="2928938"/>
          <a:ext cx="178593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2808" imgH="241195" progId="Equation.DSMT4">
                  <p:embed/>
                </p:oleObj>
              </mc:Choice>
              <mc:Fallback>
                <p:oleObj name="Equation" r:id="rId7" imgW="672808" imgH="241195" progId="Equation.DSMT4">
                  <p:embed/>
                  <p:pic>
                    <p:nvPicPr>
                      <p:cNvPr id="10244" name="Object 10">
                        <a:extLst>
                          <a:ext uri="{FF2B5EF4-FFF2-40B4-BE49-F238E27FC236}">
                            <a16:creationId xmlns:a16="http://schemas.microsoft.com/office/drawing/2014/main" id="{EA915271-F248-C9A0-E92E-1783031FDA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2928938"/>
                        <a:ext cx="1785937" cy="6413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11">
            <a:extLst>
              <a:ext uri="{FF2B5EF4-FFF2-40B4-BE49-F238E27FC236}">
                <a16:creationId xmlns:a16="http://schemas.microsoft.com/office/drawing/2014/main" id="{1124878A-6F2E-3C5B-F0AA-2CEEF7BB03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3" y="3857625"/>
          <a:ext cx="434657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300" imgH="241300" progId="Equation.DSMT4">
                  <p:embed/>
                </p:oleObj>
              </mc:Choice>
              <mc:Fallback>
                <p:oleObj name="Equation" r:id="rId9" imgW="1638300" imgH="241300" progId="Equation.DSMT4">
                  <p:embed/>
                  <p:pic>
                    <p:nvPicPr>
                      <p:cNvPr id="10245" name="Object 11">
                        <a:extLst>
                          <a:ext uri="{FF2B5EF4-FFF2-40B4-BE49-F238E27FC236}">
                            <a16:creationId xmlns:a16="http://schemas.microsoft.com/office/drawing/2014/main" id="{1124878A-6F2E-3C5B-F0AA-2CEEF7BB03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3857625"/>
                        <a:ext cx="4346575" cy="6413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12">
            <a:extLst>
              <a:ext uri="{FF2B5EF4-FFF2-40B4-BE49-F238E27FC236}">
                <a16:creationId xmlns:a16="http://schemas.microsoft.com/office/drawing/2014/main" id="{728C3085-9DB5-4386-B1C9-0A28D2F945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4643438"/>
          <a:ext cx="3000375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35100" imgH="965200" progId="Equation.DSMT4">
                  <p:embed/>
                </p:oleObj>
              </mc:Choice>
              <mc:Fallback>
                <p:oleObj name="Equation" r:id="rId11" imgW="1435100" imgH="965200" progId="Equation.DSMT4">
                  <p:embed/>
                  <p:pic>
                    <p:nvPicPr>
                      <p:cNvPr id="10246" name="Object 12">
                        <a:extLst>
                          <a:ext uri="{FF2B5EF4-FFF2-40B4-BE49-F238E27FC236}">
                            <a16:creationId xmlns:a16="http://schemas.microsoft.com/office/drawing/2014/main" id="{728C3085-9DB5-4386-B1C9-0A28D2F945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4643438"/>
                        <a:ext cx="3000375" cy="20161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Text Box 10">
            <a:extLst>
              <a:ext uri="{FF2B5EF4-FFF2-40B4-BE49-F238E27FC236}">
                <a16:creationId xmlns:a16="http://schemas.microsoft.com/office/drawing/2014/main" id="{BD1B0642-53BF-9404-7729-74A94A950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3644900"/>
            <a:ext cx="35988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r: X ve Z arasındaki korelasyon katsayısı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81" name="Denklem"/>
              <p:cNvSpPr txBox="1"/>
              <p:nvPr/>
            </p:nvSpPr>
            <p:spPr>
              <a:xfrm>
                <a:off x="182880" y="1737360"/>
                <a:ext cx="2024481" cy="47045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1800">
                                  <a:latin typeface="Cambria Math"/>
                                </a:rP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a:rPr lang="en-US" sz="18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/>
                            </a:rPr>
                            <m:t>∑</m:t>
                          </m:r>
                          <m:sSub>
                            <m:e>
                              <m:r>
                                <a:rPr lang="en-US" sz="1800">
                                  <a:latin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e>
                              <m:r>
                                <a:rPr lang="en-US" sz="1800">
                                  <a:latin typeface="Cambria Math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/>
                            </a:rPr>
                            <m:t>∑</m:t>
                          </m:r>
                          <m:sSub>
                            <m:e>
                              <m:r>
                                <a:rPr lang="en-US" sz="180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e>
                              <m:r>
                                <a:rPr lang="en-US" sz="1800">
                                  <a:latin typeface="Cambria Math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8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8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18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i="0">
                          <a:latin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/>
                            </a:rPr>
                            <m:t>∑</m:t>
                          </m:r>
                          <m:sSub>
                            <m:e>
                              <m:r>
                                <a:rPr lang="en-US" sz="1800">
                                  <a:latin typeface="Cambria Math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e>
                              <m:r>
                                <a:rPr lang="en-US" sz="1800">
                                  <a:latin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/>
                            </a:rPr>
                            <m:t>∑</m:t>
                          </m:r>
                          <m:sSub>
                            <m:e>
                              <m:r>
                                <a:rPr lang="en-US" sz="180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e>
                              <m:r>
                                <a:rPr lang="en-US" sz="1800">
                                  <a:latin typeface="Cambria Math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pic>
            <p:nvPicPr>
              <p:cNvPr id="126981" name="Picture 126980" descr="eq0012.png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2880" y="1737360"/>
                <a:ext cx="1874519" cy="44805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3 Slayt Numarası Yer Tutucusu">
            <a:extLst>
              <a:ext uri="{FF2B5EF4-FFF2-40B4-BE49-F238E27FC236}">
                <a16:creationId xmlns:a16="http://schemas.microsoft.com/office/drawing/2014/main" id="{7501CF9C-1BE3-4C96-117A-47B9D0AB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A85BBF-CD97-4839-9C70-F37757869176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tr-TR" altLang="tr-TR" sz="1400"/>
          </a:p>
        </p:txBody>
      </p:sp>
      <p:sp>
        <p:nvSpPr>
          <p:cNvPr id="129027" name="1 Dikdörtgen">
            <a:extLst>
              <a:ext uri="{FF2B5EF4-FFF2-40B4-BE49-F238E27FC236}">
                <a16:creationId xmlns:a16="http://schemas.microsoft.com/office/drawing/2014/main" id="{68D9B136-A7AD-4EC6-3468-C9CDE7A16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11138"/>
            <a:ext cx="5105400" cy="6461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3600">
                <a:latin typeface="Times New Roman" panose="02020603050405020304" pitchFamily="18" charset="0"/>
              </a:rPr>
              <a:t>Hausman Tanımlama Testi</a:t>
            </a:r>
          </a:p>
        </p:txBody>
      </p:sp>
      <p:graphicFrame>
        <p:nvGraphicFramePr>
          <p:cNvPr id="11266" name="3 İçerik Yer Tutucusu">
            <a:extLst>
              <a:ext uri="{FF2B5EF4-FFF2-40B4-BE49-F238E27FC236}">
                <a16:creationId xmlns:a16="http://schemas.microsoft.com/office/drawing/2014/main" id="{B72AEAB2-650B-5F7F-C657-458D753DD0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4214813"/>
          <a:ext cx="257175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700" imgH="571500" progId="Equation.DSMT4">
                  <p:embed/>
                </p:oleObj>
              </mc:Choice>
              <mc:Fallback>
                <p:oleObj name="Equation" r:id="rId3" imgW="1155700" imgH="571500" progId="Equation.DSMT4">
                  <p:embed/>
                  <p:pic>
                    <p:nvPicPr>
                      <p:cNvPr id="11266" name="3 İçerik Yer Tutucusu">
                        <a:extLst>
                          <a:ext uri="{FF2B5EF4-FFF2-40B4-BE49-F238E27FC236}">
                            <a16:creationId xmlns:a16="http://schemas.microsoft.com/office/drawing/2014/main" id="{B72AEAB2-650B-5F7F-C657-458D753DD0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4214813"/>
                        <a:ext cx="2571750" cy="12731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9" name="Object 3">
            <a:extLst>
              <a:ext uri="{FF2B5EF4-FFF2-40B4-BE49-F238E27FC236}">
                <a16:creationId xmlns:a16="http://schemas.microsoft.com/office/drawing/2014/main" id="{86EA7952-7337-F7CC-616F-9579A45D9A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1285875"/>
          <a:ext cx="1500188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336" imgH="406224" progId="Equation.DSMT4">
                  <p:embed/>
                </p:oleObj>
              </mc:Choice>
              <mc:Fallback>
                <p:oleObj name="Equation" r:id="rId5" imgW="609336" imgH="406224" progId="Equation.DSMT4">
                  <p:embed/>
                  <p:pic>
                    <p:nvPicPr>
                      <p:cNvPr id="129029" name="Object 3">
                        <a:extLst>
                          <a:ext uri="{FF2B5EF4-FFF2-40B4-BE49-F238E27FC236}">
                            <a16:creationId xmlns:a16="http://schemas.microsoft.com/office/drawing/2014/main" id="{86EA7952-7337-F7CC-616F-9579A45D9A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285875"/>
                        <a:ext cx="1500188" cy="10001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5 Aşağı Ok">
            <a:extLst>
              <a:ext uri="{FF2B5EF4-FFF2-40B4-BE49-F238E27FC236}">
                <a16:creationId xmlns:a16="http://schemas.microsoft.com/office/drawing/2014/main" id="{EA0D088F-AC69-BD37-17E8-E522C84B17F1}"/>
              </a:ext>
            </a:extLst>
          </p:cNvPr>
          <p:cNvSpPr/>
          <p:nvPr/>
        </p:nvSpPr>
        <p:spPr>
          <a:xfrm>
            <a:off x="1214438" y="2500313"/>
            <a:ext cx="714375" cy="13573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 sz="2400"/>
          </a:p>
        </p:txBody>
      </p:sp>
      <p:graphicFrame>
        <p:nvGraphicFramePr>
          <p:cNvPr id="129031" name="Object 8">
            <a:extLst>
              <a:ext uri="{FF2B5EF4-FFF2-40B4-BE49-F238E27FC236}">
                <a16:creationId xmlns:a16="http://schemas.microsoft.com/office/drawing/2014/main" id="{A9A477D2-AF63-BDC4-77E2-3C6391CB9C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6375" y="4019550"/>
          <a:ext cx="3725863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31366" imgH="469696" progId="Equation.DSMT4">
                  <p:embed/>
                </p:oleObj>
              </mc:Choice>
              <mc:Fallback>
                <p:oleObj name="Equation" r:id="rId7" imgW="1231366" imgH="469696" progId="Equation.DSMT4">
                  <p:embed/>
                  <p:pic>
                    <p:nvPicPr>
                      <p:cNvPr id="129031" name="Object 8">
                        <a:extLst>
                          <a:ext uri="{FF2B5EF4-FFF2-40B4-BE49-F238E27FC236}">
                            <a16:creationId xmlns:a16="http://schemas.microsoft.com/office/drawing/2014/main" id="{A9A477D2-AF63-BDC4-77E2-3C6391CB9C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4019550"/>
                        <a:ext cx="3725863" cy="142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5 Aşağı Ok">
            <a:extLst>
              <a:ext uri="{FF2B5EF4-FFF2-40B4-BE49-F238E27FC236}">
                <a16:creationId xmlns:a16="http://schemas.microsoft.com/office/drawing/2014/main" id="{034EAB07-F76F-486B-ED0A-77DED6B3696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101306" y="4115595"/>
            <a:ext cx="714375" cy="1357312"/>
          </a:xfrm>
          <a:prstGeom prst="downArrow">
            <a:avLst>
              <a:gd name="adj1" fmla="val 50000"/>
              <a:gd name="adj2" fmla="val 49998"/>
            </a:avLst>
          </a:prstGeom>
          <a:solidFill>
            <a:schemeClr val="accent1"/>
          </a:solidFill>
          <a:ln w="25400" algn="ctr">
            <a:solidFill>
              <a:srgbClr val="89A4A7"/>
            </a:solidFill>
            <a:miter lim="800000"/>
            <a:headEnd/>
            <a:tailEnd/>
          </a:ln>
        </p:spPr>
        <p:txBody>
          <a:bodyPr vert="eaVert" anchor="ctr"/>
          <a:lstStyle/>
          <a:p>
            <a:pPr algn="ctr" eaLnBrk="1" hangingPunct="1">
              <a:defRPr/>
            </a:pPr>
            <a:endParaRPr lang="tr-TR" sz="2400">
              <a:solidFill>
                <a:schemeClr val="lt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126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3 Slayt Numarası Yer Tutucusu">
            <a:extLst>
              <a:ext uri="{FF2B5EF4-FFF2-40B4-BE49-F238E27FC236}">
                <a16:creationId xmlns:a16="http://schemas.microsoft.com/office/drawing/2014/main" id="{4144F5DA-2048-9BE7-3A16-00EF3916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2010A1-B112-44B0-B20F-BDB49D5D80EA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tr-TR" altLang="tr-TR" sz="1400"/>
          </a:p>
        </p:txBody>
      </p:sp>
      <p:sp>
        <p:nvSpPr>
          <p:cNvPr id="131075" name="1 Dikdörtgen">
            <a:extLst>
              <a:ext uri="{FF2B5EF4-FFF2-40B4-BE49-F238E27FC236}">
                <a16:creationId xmlns:a16="http://schemas.microsoft.com/office/drawing/2014/main" id="{905B3DBD-4F7E-CEC1-3F0E-7F40D3895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11138"/>
            <a:ext cx="5105400" cy="6461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3600">
                <a:latin typeface="Times New Roman" panose="02020603050405020304" pitchFamily="18" charset="0"/>
              </a:rPr>
              <a:t>Hausman Tanımlama Testi</a:t>
            </a:r>
          </a:p>
        </p:txBody>
      </p:sp>
      <p:sp>
        <p:nvSpPr>
          <p:cNvPr id="12292" name="2 Metin kutusu">
            <a:extLst>
              <a:ext uri="{FF2B5EF4-FFF2-40B4-BE49-F238E27FC236}">
                <a16:creationId xmlns:a16="http://schemas.microsoft.com/office/drawing/2014/main" id="{55D5B5DB-0DCF-8843-58F8-7A16C7259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071563"/>
            <a:ext cx="1500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1. Adım: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A2D87212-064E-0B78-327D-ECED75E61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71563"/>
            <a:ext cx="7391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 H</a:t>
            </a:r>
            <a:r>
              <a:rPr lang="en-US" altLang="tr-TR" sz="2400" baseline="-25000">
                <a:latin typeface="Times New Roman" panose="02020603050405020304" pitchFamily="18" charset="0"/>
              </a:rPr>
              <a:t>0</a:t>
            </a:r>
            <a:r>
              <a:rPr lang="en-US" altLang="tr-TR" sz="2400">
                <a:latin typeface="Times New Roman" panose="02020603050405020304" pitchFamily="18" charset="0"/>
              </a:rPr>
              <a:t>: </a:t>
            </a:r>
            <a:r>
              <a:rPr lang="tr-TR" altLang="tr-TR" sz="2400">
                <a:latin typeface="Times New Roman" panose="02020603050405020304" pitchFamily="18" charset="0"/>
              </a:rPr>
              <a:t>M</a:t>
            </a:r>
            <a:r>
              <a:rPr lang="en-US" altLang="tr-TR" sz="2400">
                <a:latin typeface="Times New Roman" panose="02020603050405020304" pitchFamily="18" charset="0"/>
              </a:rPr>
              <a:t>odel spe</a:t>
            </a:r>
            <a:r>
              <a:rPr lang="tr-TR" altLang="tr-TR" sz="2400">
                <a:latin typeface="Times New Roman" panose="02020603050405020304" pitchFamily="18" charset="0"/>
              </a:rPr>
              <a:t>sifikasyonu doğrudur. </a:t>
            </a:r>
            <a:endParaRPr lang="en-US" altLang="tr-TR" sz="2400">
              <a:latin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 </a:t>
            </a:r>
            <a:r>
              <a:rPr lang="en-US" altLang="tr-TR" sz="2400">
                <a:latin typeface="Times New Roman" panose="02020603050405020304" pitchFamily="18" charset="0"/>
              </a:rPr>
              <a:t>H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: </a:t>
            </a:r>
            <a:r>
              <a:rPr lang="tr-TR" altLang="tr-TR" sz="2400">
                <a:latin typeface="Times New Roman" panose="02020603050405020304" pitchFamily="18" charset="0"/>
              </a:rPr>
              <a:t>M</a:t>
            </a:r>
            <a:r>
              <a:rPr lang="en-US" altLang="tr-TR" sz="2400">
                <a:latin typeface="Times New Roman" panose="02020603050405020304" pitchFamily="18" charset="0"/>
              </a:rPr>
              <a:t>odel spe</a:t>
            </a:r>
            <a:r>
              <a:rPr lang="tr-TR" altLang="tr-TR" sz="2400">
                <a:latin typeface="Times New Roman" panose="02020603050405020304" pitchFamily="18" charset="0"/>
              </a:rPr>
              <a:t>sifikasyonu yanlıştır.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12294" name="4 Metin kutusu">
            <a:extLst>
              <a:ext uri="{FF2B5EF4-FFF2-40B4-BE49-F238E27FC236}">
                <a16:creationId xmlns:a16="http://schemas.microsoft.com/office/drawing/2014/main" id="{87674D44-9AA7-1182-C96A-F0856E727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824163"/>
            <a:ext cx="1500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2. Adım:</a:t>
            </a:r>
          </a:p>
        </p:txBody>
      </p:sp>
      <p:sp>
        <p:nvSpPr>
          <p:cNvPr id="12295" name="5 Metin kutusu">
            <a:extLst>
              <a:ext uri="{FF2B5EF4-FFF2-40B4-BE49-F238E27FC236}">
                <a16:creationId xmlns:a16="http://schemas.microsoft.com/office/drawing/2014/main" id="{E9614D62-0696-1686-DAD5-41D365D3F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895600"/>
            <a:ext cx="2928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Test İstatistiği: </a:t>
            </a:r>
          </a:p>
        </p:txBody>
      </p:sp>
      <p:sp>
        <p:nvSpPr>
          <p:cNvPr id="12296" name="8 Metin kutusu">
            <a:extLst>
              <a:ext uri="{FF2B5EF4-FFF2-40B4-BE49-F238E27FC236}">
                <a16:creationId xmlns:a16="http://schemas.microsoft.com/office/drawing/2014/main" id="{DBCB72E9-DCC0-0F49-A067-BE91910B5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5475288"/>
            <a:ext cx="150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4. Adım:</a:t>
            </a:r>
          </a:p>
        </p:txBody>
      </p:sp>
      <p:sp>
        <p:nvSpPr>
          <p:cNvPr id="12297" name="9 Metin kutusu">
            <a:extLst>
              <a:ext uri="{FF2B5EF4-FFF2-40B4-BE49-F238E27FC236}">
                <a16:creationId xmlns:a16="http://schemas.microsoft.com/office/drawing/2014/main" id="{3F4D41E6-AEF9-4EFA-3C9E-0FFFA73BF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5516563"/>
            <a:ext cx="5214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m &gt; </a:t>
            </a:r>
            <a:r>
              <a:rPr lang="tr-TR" altLang="tr-TR" sz="240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tr-TR" altLang="tr-T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tr-TR" altLang="tr-TR" sz="2400" baseline="30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tr-TR" altLang="tr-TR" sz="2400">
                <a:latin typeface="Times New Roman" panose="02020603050405020304" pitchFamily="18" charset="0"/>
                <a:sym typeface="Symbol" panose="05050102010706020507" pitchFamily="18" charset="2"/>
              </a:rPr>
              <a:t> H</a:t>
            </a:r>
            <a:r>
              <a:rPr lang="tr-TR" altLang="tr-T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tr-TR" altLang="tr-TR" sz="2400">
                <a:latin typeface="Times New Roman" panose="02020603050405020304" pitchFamily="18" charset="0"/>
                <a:sym typeface="Symbol" panose="05050102010706020507" pitchFamily="18" charset="2"/>
              </a:rPr>
              <a:t> reddedilebilir.</a:t>
            </a:r>
            <a:r>
              <a:rPr lang="tr-TR" altLang="tr-TR" sz="24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31082" name="Object 12">
            <a:extLst>
              <a:ext uri="{FF2B5EF4-FFF2-40B4-BE49-F238E27FC236}">
                <a16:creationId xmlns:a16="http://schemas.microsoft.com/office/drawing/2014/main" id="{A0405F78-A91D-F0F2-6304-B86613D649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2450" y="2636838"/>
          <a:ext cx="3444875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366" imgH="469696" progId="Equation.DSMT4">
                  <p:embed/>
                </p:oleObj>
              </mc:Choice>
              <mc:Fallback>
                <p:oleObj name="Equation" r:id="rId3" imgW="1231366" imgH="469696" progId="Equation.DSMT4">
                  <p:embed/>
                  <p:pic>
                    <p:nvPicPr>
                      <p:cNvPr id="131082" name="Object 12">
                        <a:extLst>
                          <a:ext uri="{FF2B5EF4-FFF2-40B4-BE49-F238E27FC236}">
                            <a16:creationId xmlns:a16="http://schemas.microsoft.com/office/drawing/2014/main" id="{A0405F78-A91D-F0F2-6304-B86613D649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2450" y="2636838"/>
                        <a:ext cx="3444875" cy="131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8 Metin kutusu">
            <a:extLst>
              <a:ext uri="{FF2B5EF4-FFF2-40B4-BE49-F238E27FC236}">
                <a16:creationId xmlns:a16="http://schemas.microsoft.com/office/drawing/2014/main" id="{D1235FEC-CCFC-3DB4-490D-B5BA6969A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365625"/>
            <a:ext cx="150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3. Adım:</a:t>
            </a:r>
          </a:p>
        </p:txBody>
      </p:sp>
      <p:sp>
        <p:nvSpPr>
          <p:cNvPr id="9225" name="4 Metin kutusu">
            <a:extLst>
              <a:ext uri="{FF2B5EF4-FFF2-40B4-BE49-F238E27FC236}">
                <a16:creationId xmlns:a16="http://schemas.microsoft.com/office/drawing/2014/main" id="{97EE63B9-9AED-BDAE-7D8E-33AF09805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4508500"/>
            <a:ext cx="614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tr-TR" altLang="tr-TR" sz="2400">
                <a:latin typeface="Times New Roman" panose="02020603050405020304" pitchFamily="18" charset="0"/>
              </a:rPr>
              <a:t>1 serbestlik dereceli ki – kare dağılımıdır.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/>
      <p:bldP spid="4" grpId="0" autoUpdateAnimBg="0"/>
      <p:bldP spid="12294" grpId="0"/>
      <p:bldP spid="12295" grpId="0"/>
      <p:bldP spid="12296" grpId="0"/>
      <p:bldP spid="12297" grpId="0"/>
      <p:bldP spid="2" grpId="0"/>
      <p:bldP spid="92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3 Slayt Numarası Yer Tutucusu">
            <a:extLst>
              <a:ext uri="{FF2B5EF4-FFF2-40B4-BE49-F238E27FC236}">
                <a16:creationId xmlns:a16="http://schemas.microsoft.com/office/drawing/2014/main" id="{EF3D0136-1357-FF85-CF62-7B779C0CF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D5315C-33D8-4181-82A6-491B2E6711D9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tr-TR" altLang="tr-TR" sz="1400"/>
          </a:p>
        </p:txBody>
      </p:sp>
      <p:sp>
        <p:nvSpPr>
          <p:cNvPr id="133123" name="2 Dikdörtgen">
            <a:extLst>
              <a:ext uri="{FF2B5EF4-FFF2-40B4-BE49-F238E27FC236}">
                <a16:creationId xmlns:a16="http://schemas.microsoft.com/office/drawing/2014/main" id="{AF1265F7-9B8E-7AE4-C6FB-EFBE8B13C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11138"/>
            <a:ext cx="5105400" cy="6461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3600">
                <a:latin typeface="Times New Roman" panose="02020603050405020304" pitchFamily="18" charset="0"/>
              </a:rPr>
              <a:t>Hausman Tanımlama Testi</a:t>
            </a:r>
          </a:p>
        </p:txBody>
      </p:sp>
      <p:sp>
        <p:nvSpPr>
          <p:cNvPr id="133124" name="TextBox 133123"/>
          <p:cNvSpPr txBox="1"/>
          <p:nvPr/>
        </p:nvSpPr>
        <p:spPr>
          <a:xfrm>
            <a:off x="228600" y="96012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Uygulama: İhracat modelinde ln(DK)’nın hata terimiyle ilişkili olabileceğinden (eşanlılık) şüphelenelim. Araç değişken: bir dönem gecikmeli kur, ln(DK</a:t>
            </a:r>
            <a:r>
              <a:rPr sz="2000" lang="tr-TR" baseline="-25000">
                <a:latin typeface="Times New Roman"/>
              </a:rPr>
              <a:t>t−1</a:t>
            </a:r>
            <a:r>
              <a:rPr sz="2000" lang="tr-TR">
                <a:latin typeface="Times New Roman"/>
              </a:rPr>
              <a:t>). Gecikme nedeniyle örneklem 1985-2003 (n = 19).</a:t>
            </a:r>
          </a:p>
        </p:txBody>
      </p:sp>
      <p:sp>
        <p:nvSpPr>
          <p:cNvPr id="133125" name="TextBox 133124"/>
          <p:cNvSpPr txBox="1"/>
          <p:nvPr/>
        </p:nvSpPr>
        <p:spPr>
          <a:xfrm>
            <a:off x="228600" y="2057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EKK ile tahmin edilen model: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26" name="Denklem"/>
              <p:cNvSpPr txBox="1"/>
              <p:nvPr/>
            </p:nvSpPr>
            <p:spPr>
              <a:xfrm>
                <a:off x="548640" y="2514600"/>
                <a:ext cx="4443984" cy="348843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ln</m:t>
                      </m:r>
                      <m:r>
                        <a:rPr lang="en-US" sz="2400">
                          <a:latin typeface="Cambria Math"/>
                        </a:rPr>
                        <m:t>I</m:t>
                      </m:r>
                      <m:r>
                        <a:rPr lang="en-US" sz="2400">
                          <a:latin typeface="Cambria Math"/>
                        </a:rPr>
                        <m:t>H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2.305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+</m:t>
                      </m:r>
                      <m:r>
                        <a:rPr lang="en-US" sz="2400">
                          <a:latin typeface="Cambria Math"/>
                        </a:rPr>
                        <m:t>0.175190</m:t>
                      </m:r>
                      <m:r>
                        <a:rPr lang="en-US" sz="2400"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ln</m:t>
                      </m:r>
                      <m:r>
                        <a:rPr lang="en-US" sz="24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133126" name="Picture 133125" descr="eq0013.png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8640" y="2514600"/>
                <a:ext cx="4114800" cy="332232"/>
              </a:xfrm>
              <a:prstGeom prst="rect">
                <a:avLst/>
              </a:prstGeom>
            </p:spPr>
          </p:pic>
        </mc:Fallback>
      </mc:AlternateContent>
      <p:sp>
        <p:nvSpPr>
          <p:cNvPr id="133127" name="TextBox 133126"/>
          <p:cNvSpPr txBox="1"/>
          <p:nvPr/>
        </p:nvSpPr>
        <p:spPr>
          <a:xfrm>
            <a:off x="548640" y="30632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s(b):                   (0.0333)   (0.007739)</a:t>
            </a:r>
          </a:p>
        </p:txBody>
      </p:sp>
      <p:sp>
        <p:nvSpPr>
          <p:cNvPr id="133128" name="TextBox 133127"/>
          <p:cNvSpPr txBox="1"/>
          <p:nvPr/>
        </p:nvSpPr>
        <p:spPr>
          <a:xfrm>
            <a:off x="228600" y="3611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Araç değişken (IV) ile tahmin edilen model (araç: ln DK</a:t>
            </a:r>
            <a:r>
              <a:rPr sz="2000" lang="tr-TR" baseline="-25000">
                <a:latin typeface="Times New Roman"/>
              </a:rPr>
              <a:t>t−1</a:t>
            </a:r>
            <a:r>
              <a:rPr sz="2000" lang="tr-TR">
                <a:latin typeface="Times New Roman"/>
              </a:rPr>
              <a:t>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29" name="Denklem"/>
              <p:cNvSpPr txBox="1"/>
              <p:nvPr/>
            </p:nvSpPr>
            <p:spPr>
              <a:xfrm>
                <a:off x="548640" y="4069080"/>
                <a:ext cx="4443984" cy="348843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ln</m:t>
                      </m:r>
                      <m:r>
                        <a:rPr lang="en-US" sz="2400">
                          <a:latin typeface="Cambria Math"/>
                        </a:rPr>
                        <m:t>I</m:t>
                      </m:r>
                      <m:r>
                        <a:rPr lang="en-US" sz="2400">
                          <a:latin typeface="Cambria Math"/>
                        </a:rPr>
                        <m:t>H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2.305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+</m:t>
                      </m:r>
                      <m:r>
                        <a:rPr lang="en-US" sz="2400">
                          <a:latin typeface="Cambria Math"/>
                        </a:rPr>
                        <m:t>0.175138</m:t>
                      </m:r>
                      <m:r>
                        <a:rPr lang="en-US" sz="2400"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ln</m:t>
                      </m:r>
                      <m:r>
                        <a:rPr lang="en-US" sz="24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133129" name="Picture 133128" descr="eq0014.png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8640" y="4069080"/>
                <a:ext cx="4114800" cy="332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130" name="Denklem"/>
              <p:cNvSpPr txBox="1"/>
              <p:nvPr/>
            </p:nvSpPr>
            <p:spPr>
              <a:xfrm>
                <a:off x="548640" y="5074920"/>
                <a:ext cx="6333500" cy="425653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a:rPr lang="en-US" sz="2400">
                              <a:latin typeface="Cambria Math"/>
                            </a:rPr>
                            <m:t>q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0.175138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−</m:t>
                      </m:r>
                      <m:r>
                        <a:rPr lang="en-US" sz="2400">
                          <a:latin typeface="Cambria Math"/>
                        </a:rPr>
                        <m:t>0.175190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−</m:t>
                      </m:r>
                      <m:r>
                        <a:rPr lang="en-US" sz="2400">
                          <a:latin typeface="Cambria Math"/>
                        </a:rPr>
                        <m:t>0.000052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33130" name="Picture 133129" descr="eq0015.png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8640" y="5074920"/>
                <a:ext cx="5864352" cy="40538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3 Slayt Numarası Yer Tutucusu">
            <a:extLst>
              <a:ext uri="{FF2B5EF4-FFF2-40B4-BE49-F238E27FC236}">
                <a16:creationId xmlns:a16="http://schemas.microsoft.com/office/drawing/2014/main" id="{8CDFB526-8BD4-973E-76D9-90C4B14DE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511152-A220-4BCB-A975-0265ED36B770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tr-TR" altLang="tr-TR" sz="1400"/>
          </a:p>
        </p:txBody>
      </p:sp>
      <p:sp>
        <p:nvSpPr>
          <p:cNvPr id="135171" name="1 Dikdörtgen">
            <a:extLst>
              <a:ext uri="{FF2B5EF4-FFF2-40B4-BE49-F238E27FC236}">
                <a16:creationId xmlns:a16="http://schemas.microsoft.com/office/drawing/2014/main" id="{859FB7A9-6BCC-B68F-85C0-C882CEB99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11138"/>
            <a:ext cx="5105400" cy="6461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3600">
                <a:latin typeface="Times New Roman" panose="02020603050405020304" pitchFamily="18" charset="0"/>
              </a:rPr>
              <a:t>Hausman Tanımlama Testi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172" name="Denklem"/>
              <p:cNvSpPr txBox="1"/>
              <p:nvPr/>
            </p:nvSpPr>
            <p:spPr>
              <a:xfrm>
                <a:off x="548640" y="1280160"/>
                <a:ext cx="4674412" cy="425653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V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r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(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(</m:t>
                      </m:r>
                      <m:r>
                        <a:rPr lang="en-US" sz="2400">
                          <a:latin typeface="Cambria Math"/>
                        </a:rPr>
                        <m:t>0.007739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0.0000599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35172" name="Picture 135171" descr="eq0016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8640" y="1280160"/>
                <a:ext cx="4328160" cy="4053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173" name="Denklem"/>
              <p:cNvSpPr txBox="1"/>
              <p:nvPr/>
            </p:nvSpPr>
            <p:spPr>
              <a:xfrm>
                <a:off x="548640" y="2194560"/>
                <a:ext cx="3535436" cy="348843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ln</m:t>
                          </m:r>
                          <m:r>
                            <a:rPr lang="en-US" sz="2400">
                              <a:latin typeface="Cambria Math"/>
                            </a:rPr>
                            <m:t>D</m:t>
                          </m:r>
                          <m:sSub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,</m:t>
                          </m:r>
                          <m:r>
                            <a:rPr lang="en-US" sz="2400">
                              <a:latin typeface="Cambria Math"/>
                            </a:rPr>
                            <m:t> 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ln</m:t>
                          </m:r>
                          <m:r>
                            <a:rPr lang="en-US" sz="2400">
                              <a:latin typeface="Cambria Math"/>
                            </a:rPr>
                            <m:t>D</m:t>
                          </m:r>
                          <m:sSub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0.99706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35173" name="Picture 135172" descr="eq0017.png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8640" y="2194560"/>
                <a:ext cx="3273552" cy="332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174" name="Denklem"/>
              <p:cNvSpPr txBox="1"/>
              <p:nvPr/>
            </p:nvSpPr>
            <p:spPr>
              <a:xfrm>
                <a:off x="274320" y="3200400"/>
                <a:ext cx="5461162" cy="59847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00">
                          <a:latin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en-US" sz="2200">
                                      <a:latin typeface="Cambria Math"/>
                                    </a:rPr>
                                    <m:t>q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2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200" i="0">
                                  <a:latin typeface="Cambria Math"/>
                                </a:rPr>
                                <m:t>V</m:t>
                              </m:r>
                              <m:r>
                                <m:rPr>
                                  <m:sty m:val="p"/>
                                </m:rPr>
                                <a:rPr lang="en-US" sz="2200" i="0">
                                  <a:latin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en-US" sz="2200" i="0">
                                  <a:latin typeface="Cambria Math"/>
                                </a:rPr>
                                <m:t>r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en-US" sz="2200">
                                      <a:latin typeface="Cambria Math"/>
                                    </a:rPr>
                                    <m:t>β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(</m:t>
                          </m:r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−</m:t>
                          </m:r>
                          <m:sSup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−</m:t>
                          </m:r>
                          <m:r>
                            <a:rPr lang="en-US" sz="2200">
                              <a:latin typeface="Cambria Math"/>
                            </a:rPr>
                            <m:t>0.000052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n-US" sz="2200" i="0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(</m:t>
                          </m:r>
                          <m:r>
                            <a:rPr lang="en-US" sz="2200">
                              <a:latin typeface="Cambria Math"/>
                            </a:rPr>
                            <m:t>0.99706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n-US" sz="2200" i="0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200">
                              <a:latin typeface="Cambria Math"/>
                            </a:rPr>
                            <m:t>0.0000599</m:t>
                          </m:r>
                          <m:r>
                            <a:rPr lang="en-US" sz="2200">
                              <a:latin typeface="Cambria Math"/>
                            </a:rPr>
                            <m:t> </m:t>
                          </m:r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(</m:t>
                          </m:r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−</m:t>
                          </m:r>
                          <m:sSup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0.99706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r>
                        <a:rPr lang="en-US" sz="2200">
                          <a:latin typeface="Cambria Math"/>
                        </a:rPr>
                        <m:t>0.0078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35174" name="Picture 135173" descr="eq0018.png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4320" y="3200400"/>
                <a:ext cx="5056632" cy="569976"/>
              </a:xfrm>
              <a:prstGeom prst="rect">
                <a:avLst/>
              </a:prstGeom>
            </p:spPr>
          </p:pic>
        </mc:Fallback>
      </mc:AlternateContent>
      <p:sp>
        <p:nvSpPr>
          <p:cNvPr id="135175" name="TextBox 135174"/>
          <p:cNvSpPr txBox="1"/>
          <p:nvPr/>
        </p:nvSpPr>
        <p:spPr>
          <a:xfrm>
            <a:off x="365760" y="4846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Kur ile gecikmeli değeri arasındaki korelasyon çok yüksektir (birinci aşama F = </a:t>
            </a:r>
            <a:r>
              <a:rPr sz="1800" lang="tr-TR">
                <a:latin typeface="Times New Roman"/>
              </a:rPr>
              <a:t>2880</a:t>
            </a:r>
            <a:r>
              <a:rPr sz="1800" lang="tr-TR">
                <a:latin typeface="Times New Roman"/>
              </a:rPr>
              <a:t>); araç güçlüdür. Bu yüzden IV ve EKK tahminleri neredeyse aynı çıkmıştır.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3 Slayt Numarası Yer Tutucusu">
            <a:extLst>
              <a:ext uri="{FF2B5EF4-FFF2-40B4-BE49-F238E27FC236}">
                <a16:creationId xmlns:a16="http://schemas.microsoft.com/office/drawing/2014/main" id="{0198AB73-8365-BA24-69CD-AFCD4D713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6A3B3B-472C-4D70-A780-5D3B462D7B36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tr-TR" altLang="tr-TR" sz="1400"/>
          </a:p>
        </p:txBody>
      </p:sp>
      <p:sp>
        <p:nvSpPr>
          <p:cNvPr id="137219" name="1 Dikdörtgen">
            <a:extLst>
              <a:ext uri="{FF2B5EF4-FFF2-40B4-BE49-F238E27FC236}">
                <a16:creationId xmlns:a16="http://schemas.microsoft.com/office/drawing/2014/main" id="{74E6F381-84DB-8E15-1E92-E56A38608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11138"/>
            <a:ext cx="5105400" cy="6461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3600">
                <a:latin typeface="Times New Roman" panose="02020603050405020304" pitchFamily="18" charset="0"/>
              </a:rPr>
              <a:t>Hausman Tanımlama Testi</a:t>
            </a:r>
          </a:p>
        </p:txBody>
      </p:sp>
      <p:sp>
        <p:nvSpPr>
          <p:cNvPr id="15364" name="2 Metin kutusu">
            <a:extLst>
              <a:ext uri="{FF2B5EF4-FFF2-40B4-BE49-F238E27FC236}">
                <a16:creationId xmlns:a16="http://schemas.microsoft.com/office/drawing/2014/main" id="{E965FFF8-BE03-1700-BB2E-8689C824A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1895475"/>
            <a:ext cx="1500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1. Adım: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16B828FC-86B9-F975-BA12-B5C6D58C8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1163" y="1895475"/>
            <a:ext cx="7391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 H</a:t>
            </a:r>
            <a:r>
              <a:rPr lang="en-US" altLang="tr-TR" sz="2400" baseline="-25000">
                <a:latin typeface="Times New Roman" panose="02020603050405020304" pitchFamily="18" charset="0"/>
              </a:rPr>
              <a:t>0</a:t>
            </a:r>
            <a:r>
              <a:rPr lang="en-US" altLang="tr-TR" sz="2400">
                <a:latin typeface="Times New Roman" panose="02020603050405020304" pitchFamily="18" charset="0"/>
              </a:rPr>
              <a:t>: </a:t>
            </a:r>
            <a:r>
              <a:rPr lang="tr-TR" altLang="tr-TR" sz="2400">
                <a:latin typeface="Times New Roman" panose="02020603050405020304" pitchFamily="18" charset="0"/>
              </a:rPr>
              <a:t>M</a:t>
            </a:r>
            <a:r>
              <a:rPr lang="en-US" altLang="tr-TR" sz="2400">
                <a:latin typeface="Times New Roman" panose="02020603050405020304" pitchFamily="18" charset="0"/>
              </a:rPr>
              <a:t>odel spe</a:t>
            </a:r>
            <a:r>
              <a:rPr lang="tr-TR" altLang="tr-TR" sz="2400">
                <a:latin typeface="Times New Roman" panose="02020603050405020304" pitchFamily="18" charset="0"/>
              </a:rPr>
              <a:t>sifikasyonu doğrudur. </a:t>
            </a:r>
            <a:endParaRPr lang="en-US" altLang="tr-TR" sz="2400">
              <a:latin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 </a:t>
            </a:r>
            <a:r>
              <a:rPr lang="en-US" altLang="tr-TR" sz="2400">
                <a:latin typeface="Times New Roman" panose="02020603050405020304" pitchFamily="18" charset="0"/>
              </a:rPr>
              <a:t>H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: </a:t>
            </a:r>
            <a:r>
              <a:rPr lang="tr-TR" altLang="tr-TR" sz="2400">
                <a:latin typeface="Times New Roman" panose="02020603050405020304" pitchFamily="18" charset="0"/>
              </a:rPr>
              <a:t>M</a:t>
            </a:r>
            <a:r>
              <a:rPr lang="en-US" altLang="tr-TR" sz="2400">
                <a:latin typeface="Times New Roman" panose="02020603050405020304" pitchFamily="18" charset="0"/>
              </a:rPr>
              <a:t>odel spe</a:t>
            </a:r>
            <a:r>
              <a:rPr lang="tr-TR" altLang="tr-TR" sz="2400">
                <a:latin typeface="Times New Roman" panose="02020603050405020304" pitchFamily="18" charset="0"/>
              </a:rPr>
              <a:t>sifikasyonu yanlıştır.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15366" name="4 Metin kutusu">
            <a:extLst>
              <a:ext uri="{FF2B5EF4-FFF2-40B4-BE49-F238E27FC236}">
                <a16:creationId xmlns:a16="http://schemas.microsoft.com/office/drawing/2014/main" id="{940718AC-D67F-98AD-BD2A-D5BCE0BCB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3648075"/>
            <a:ext cx="1500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2. Adım:</a:t>
            </a:r>
          </a:p>
        </p:txBody>
      </p:sp>
      <p:sp>
        <p:nvSpPr>
          <p:cNvPr id="15367" name="5 Metin kutusu">
            <a:extLst>
              <a:ext uri="{FF2B5EF4-FFF2-40B4-BE49-F238E27FC236}">
                <a16:creationId xmlns:a16="http://schemas.microsoft.com/office/drawing/2014/main" id="{F6DA2B2D-50D8-E8E8-A536-B12564DFD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3719513"/>
            <a:ext cx="2928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Test İstatistiği: </a:t>
            </a:r>
          </a:p>
        </p:txBody>
      </p:sp>
      <p:sp>
        <p:nvSpPr>
          <p:cNvPr id="15368" name="7 Metin kutusu">
            <a:extLst>
              <a:ext uri="{FF2B5EF4-FFF2-40B4-BE49-F238E27FC236}">
                <a16:creationId xmlns:a16="http://schemas.microsoft.com/office/drawing/2014/main" id="{63C4862B-28B1-BD8B-FD63-262EA8F67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5934075"/>
            <a:ext cx="150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5. Adım:</a:t>
            </a:r>
          </a:p>
        </p:txBody>
      </p:sp>
      <p:sp>
        <p:nvSpPr>
          <p:cNvPr id="15370" name="9 Metin kutusu">
            <a:extLst>
              <a:ext uri="{FF2B5EF4-FFF2-40B4-BE49-F238E27FC236}">
                <a16:creationId xmlns:a16="http://schemas.microsoft.com/office/drawing/2014/main" id="{40FDC94B-47F9-153F-CD6E-227A40B80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5072063"/>
            <a:ext cx="1500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4. Adım:</a:t>
            </a:r>
          </a:p>
        </p:txBody>
      </p:sp>
      <p:sp>
        <p:nvSpPr>
          <p:cNvPr id="15371" name="10 Metin kutusu">
            <a:extLst>
              <a:ext uri="{FF2B5EF4-FFF2-40B4-BE49-F238E27FC236}">
                <a16:creationId xmlns:a16="http://schemas.microsoft.com/office/drawing/2014/main" id="{D28D105A-532A-A70B-FFB4-30EFB175C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5143500"/>
            <a:ext cx="4357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tr-TR" altLang="tr-T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tr-TR" altLang="tr-TR" sz="2400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tr-TR" altLang="tr-TR" sz="2400">
                <a:latin typeface="Times New Roman" panose="02020603050405020304" pitchFamily="18" charset="0"/>
                <a:sym typeface="Symbol" panose="05050102010706020507" pitchFamily="18" charset="2"/>
              </a:rPr>
              <a:t> = 3.84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220" name="Denklem"/>
              <p:cNvSpPr txBox="1"/>
              <p:nvPr/>
            </p:nvSpPr>
            <p:spPr>
              <a:xfrm>
                <a:off x="3931920" y="3520440"/>
                <a:ext cx="3249046" cy="64328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>
                          <a:latin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en-US" sz="2400">
                                      <a:latin typeface="Cambria Math"/>
                                    </a:rPr>
                                    <m:t>q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24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/>
                                </a:rPr>
                                <m:t>V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/>
                                </a:rPr>
                                <m:t>r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en-US" sz="2400">
                                      <a:latin typeface="Cambria Math"/>
                                    </a:rPr>
                                    <m:t>β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(</m:t>
                          </m:r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−</m:t>
                          </m:r>
                          <m:sSup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24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0.0078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37220" name="Picture 137219" descr="eq0019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1920" y="3520440"/>
                <a:ext cx="3008376" cy="612648"/>
              </a:xfrm>
              <a:prstGeom prst="rect">
                <a:avLst/>
              </a:prstGeom>
            </p:spPr>
          </p:pic>
        </mc:Fallback>
      </mc:AlternateContent>
      <p:sp>
        <p:nvSpPr>
          <p:cNvPr id="137221" name="TextBox 137220"/>
          <p:cNvSpPr txBox="1"/>
          <p:nvPr/>
        </p:nvSpPr>
        <p:spPr>
          <a:xfrm>
            <a:off x="1499616" y="589788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m = </a:t>
            </a:r>
            <a:r>
              <a:rPr sz="2000" lang="tr-TR">
                <a:latin typeface="Times New Roman"/>
              </a:rPr>
              <a:t>0.0078</a:t>
            </a:r>
            <a:r>
              <a:rPr sz="2000" lang="tr-TR">
                <a:latin typeface="Times New Roman"/>
              </a:rPr>
              <a:t> &lt; χ</a:t>
            </a:r>
            <a:r>
              <a:rPr sz="2000" lang="tr-TR" baseline="30000">
                <a:latin typeface="Times New Roman"/>
              </a:rPr>
              <a:t>2</a:t>
            </a:r>
            <a:r>
              <a:rPr sz="2000" lang="tr-TR" baseline="-25000">
                <a:latin typeface="Times New Roman"/>
              </a:rPr>
              <a:t>1</a:t>
            </a:r>
            <a:r>
              <a:rPr sz="2000" lang="tr-TR">
                <a:latin typeface="Times New Roman"/>
              </a:rPr>
              <a:t> = 3.84 ⇒ H</a:t>
            </a:r>
            <a:r>
              <a:rPr sz="2000" lang="tr-TR" baseline="-25000">
                <a:latin typeface="Times New Roman"/>
              </a:rPr>
              <a:t>0</a:t>
            </a:r>
            <a:r>
              <a:rPr sz="2000" lang="tr-TR">
                <a:latin typeface="Times New Roman"/>
              </a:rPr>
              <a:t> reddedilemez. ln(DK) dışsal kabul edilebilir; EKK tahmini tutarlıdır.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  <p:bldP spid="4" grpId="0" autoUpdateAnimBg="0"/>
      <p:bldP spid="15366" grpId="0"/>
      <p:bldP spid="15367" grpId="0"/>
      <p:bldP spid="15368" grpId="0"/>
      <p:bldP spid="15370" grpId="0"/>
      <p:bldP spid="15371" grpId="0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546" name="3 Slayt Numarası Yer Tutucusu">
            <a:extLst>
              <a:ext uri="{FF2B5EF4-FFF2-40B4-BE49-F238E27FC236}">
                <a16:creationId xmlns:a16="http://schemas.microsoft.com/office/drawing/2014/main" id="{44B5EFAF-9302-99F4-5BDC-B498B2E4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6BE864-1FA2-479E-8033-00D90ADC2B53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tr-TR" altLang="tr-TR" sz="1400"/>
          </a:p>
        </p:txBody>
      </p:sp>
      <p:sp>
        <p:nvSpPr>
          <p:cNvPr id="133123" name="2 Dikdörtgen">
            <a:extLst>
              <a:ext uri="{FF2B5EF4-FFF2-40B4-BE49-F238E27FC236}">
                <a16:creationId xmlns:a16="http://schemas.microsoft.com/office/drawing/2014/main" id="{AF1265F7-9B8E-7AE4-C6FB-EFBE8B13C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11138"/>
            <a:ext cx="7680960" cy="6461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3000">
                <a:latin typeface="Times New Roman" panose="02020603050405020304" pitchFamily="18" charset="0"/>
              </a:rPr>
              <a:t>Regresyon Tabanlı Hausman (DWH) Testi</a:t>
            </a:r>
          </a:p>
        </p:txBody>
      </p:sp>
      <p:sp>
        <p:nvSpPr>
          <p:cNvPr id="133124" name="TextBox 133123"/>
          <p:cNvSpPr txBox="1"/>
          <p:nvPr/>
        </p:nvSpPr>
        <p:spPr>
          <a:xfrm>
            <a:off x="228600" y="960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lang="tr-TR">
                <a:latin typeface="Times New Roman"/>
              </a:rPr>
              <a:t>1. Adım: </a:t>
            </a:r>
            <a:r>
              <a:rPr sz="1800" lang="tr-TR">
                <a:latin typeface="Times New Roman"/>
              </a:rPr>
              <a:t>Şüpheli değişkeni araca regres et (birinci aşama), kalıntıyı al: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25" name="Denklem"/>
              <p:cNvSpPr txBox="1"/>
              <p:nvPr/>
            </p:nvSpPr>
            <p:spPr>
              <a:xfrm>
                <a:off x="640080" y="1371600"/>
                <a:ext cx="4223430" cy="32004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ln</m:t>
                      </m:r>
                      <m:r>
                        <a:rPr lang="en-US" sz="22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ln</m:t>
                      </m:r>
                      <m:r>
                        <a:rPr lang="en-US" sz="22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−</m:t>
                          </m:r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200"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⇒</m:t>
                      </m:r>
                      <m:r>
                        <a:rPr lang="en-US" sz="2200">
                          <a:latin typeface="Cambria Math"/>
                        </a:rPr>
                        <m:t> 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v</m:t>
                              </m:r>
                            </m:e>
                          </m:acc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133125" name="Picture 133124" descr="eq0020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40080" y="1371600"/>
                <a:ext cx="3910583" cy="304800"/>
              </a:xfrm>
              <a:prstGeom prst="rect">
                <a:avLst/>
              </a:prstGeom>
            </p:spPr>
          </p:pic>
        </mc:Fallback>
      </mc:AlternateContent>
      <p:sp>
        <p:nvSpPr>
          <p:cNvPr id="133126" name="TextBox 133125"/>
          <p:cNvSpPr txBox="1"/>
          <p:nvPr/>
        </p:nvSpPr>
        <p:spPr>
          <a:xfrm>
            <a:off x="228600" y="19202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lang="tr-TR">
                <a:latin typeface="Times New Roman"/>
              </a:rPr>
              <a:t>2. Adım: </a:t>
            </a:r>
            <a:r>
              <a:rPr sz="1800" lang="tr-TR">
                <a:latin typeface="Times New Roman"/>
              </a:rPr>
              <a:t>Kalıntıyı ana modele ekleyip EKK ile tahmin et: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27" name="Denklem"/>
              <p:cNvSpPr txBox="1"/>
              <p:nvPr/>
            </p:nvSpPr>
            <p:spPr>
              <a:xfrm>
                <a:off x="640080" y="2331720"/>
                <a:ext cx="3729654" cy="32644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ln</m:t>
                      </m:r>
                      <m:r>
                        <a:rPr lang="en-US" sz="2200">
                          <a:latin typeface="Cambria Math"/>
                        </a:rPr>
                        <m:t>I</m:t>
                      </m:r>
                      <m:r>
                        <a:rPr lang="en-US" sz="2200">
                          <a:latin typeface="Cambria Math"/>
                        </a:rPr>
                        <m:t>H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r>
                        <a:rPr lang="en-US" sz="2200">
                          <a:latin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r>
                        <a:rPr lang="en-US" sz="2200">
                          <a:latin typeface="Cambria Math"/>
                        </a:rPr>
                        <m:t>β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ln</m:t>
                      </m:r>
                      <m:r>
                        <a:rPr lang="en-US" sz="22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r>
                        <a:rPr lang="en-US" sz="2200">
                          <a:latin typeface="Cambria Math"/>
                        </a:rPr>
                        <m:t>δ</m:t>
                      </m:r>
                      <m:r>
                        <a:rPr lang="en-US" sz="2200">
                          <a:latin typeface="Cambria Math"/>
                        </a:rPr>
                        <m:t> 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v</m:t>
                              </m:r>
                            </m:e>
                          </m:acc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133127" name="Picture 133126" descr="eq0021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080" y="2331720"/>
                <a:ext cx="3453384" cy="310896"/>
              </a:xfrm>
              <a:prstGeom prst="rect">
                <a:avLst/>
              </a:prstGeom>
            </p:spPr>
          </p:pic>
        </mc:Fallback>
      </mc:AlternateContent>
      <p:sp>
        <p:nvSpPr>
          <p:cNvPr id="133128" name="TextBox 133127"/>
          <p:cNvSpPr txBox="1"/>
          <p:nvPr/>
        </p:nvSpPr>
        <p:spPr>
          <a:xfrm>
            <a:off x="228600" y="288036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lang="tr-TR">
                <a:latin typeface="Times New Roman"/>
              </a:rPr>
              <a:t>3. Adım: </a:t>
            </a:r>
            <a:r>
              <a:rPr sz="1800" lang="tr-TR">
                <a:latin typeface="Times New Roman"/>
              </a:rPr>
              <a:t>H</a:t>
            </a:r>
            <a:r>
              <a:rPr sz="1800" lang="tr-TR" baseline="-25000">
                <a:latin typeface="Times New Roman"/>
              </a:rPr>
              <a:t>0</a:t>
            </a:r>
            <a:r>
              <a:rPr sz="1800" lang="tr-TR">
                <a:latin typeface="Times New Roman"/>
              </a:rPr>
              <a:t>: δ = 0 (ln DK dışsal) t testiyle sınanır. Reddedilirse ln DK içseldir ve IV kullanılmalıdır.</a:t>
            </a:r>
          </a:p>
        </p:txBody>
      </p:sp>
      <p:sp>
        <p:nvSpPr>
          <p:cNvPr id="133129" name="TextBox 133128"/>
          <p:cNvSpPr txBox="1"/>
          <p:nvPr/>
        </p:nvSpPr>
        <p:spPr>
          <a:xfrm>
            <a:off x="228600" y="36118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lang="tr-TR">
                <a:latin typeface="Times New Roman"/>
              </a:rPr>
              <a:t>Uygulama (1985-2003, n = 19):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30" name="Denklem"/>
              <p:cNvSpPr txBox="1"/>
              <p:nvPr/>
            </p:nvSpPr>
            <p:spPr>
              <a:xfrm>
                <a:off x="640080" y="4023360"/>
                <a:ext cx="6201826" cy="37444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/>
                                </a:rPr>
                                <m:t>ln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D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K</m:t>
                              </m:r>
                            </m:e>
                          </m:acc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=</m:t>
                      </m:r>
                      <m:r>
                        <a:rPr lang="en-US" sz="2000">
                          <a:latin typeface="Cambria Math"/>
                        </a:rPr>
                        <m:t>0.437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+</m:t>
                      </m:r>
                      <m:r>
                        <a:rPr lang="en-US" sz="2000">
                          <a:latin typeface="Cambria Math"/>
                        </a:rPr>
                        <m:t>1.000</m:t>
                      </m:r>
                      <m:r>
                        <a:rPr lang="en-US" sz="2000"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ln</m:t>
                      </m:r>
                      <m:r>
                        <a:rPr lang="en-US" sz="20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0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−</m:t>
                          </m:r>
                          <m:r>
                            <a:rPr lang="en-US" sz="20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(</m:t>
                      </m:r>
                      <m:r>
                        <a:rPr lang="en-US" sz="2000"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=</m:t>
                      </m:r>
                      <m:r>
                        <a:rPr lang="en-US" sz="2000">
                          <a:latin typeface="Cambria Math"/>
                        </a:rPr>
                        <m:t>53.67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,</m:t>
                      </m:r>
                      <m:r>
                        <a:rPr lang="en-US" sz="2000">
                          <a:latin typeface="Cambria Math"/>
                        </a:rPr>
                        <m:t> </m:t>
                      </m:r>
                      <m:r>
                        <a:rPr lang="en-US" sz="2000"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=</m:t>
                      </m:r>
                      <m:r>
                        <a:rPr lang="en-US" sz="2000">
                          <a:latin typeface="Cambria Math"/>
                        </a:rPr>
                        <m:t>2880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33130" name="Picture 133129" descr="eq0022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0080" y="4023360"/>
                <a:ext cx="5742432" cy="3566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131" name="Denklem"/>
              <p:cNvSpPr txBox="1"/>
              <p:nvPr/>
            </p:nvSpPr>
            <p:spPr>
              <a:xfrm>
                <a:off x="640080" y="4572000"/>
                <a:ext cx="4687580" cy="37444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/>
                                </a:rPr>
                                <m:t>ln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I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sz="2000">
                                  <a:latin typeface="Cambria Math"/>
                                </a:rPr>
                                <m:t>R</m:t>
                              </m:r>
                            </m:e>
                          </m:acc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=</m:t>
                      </m:r>
                      <m:r>
                        <a:rPr lang="en-US" sz="2000">
                          <a:latin typeface="Cambria Math"/>
                        </a:rPr>
                        <m:t>2.305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+</m:t>
                      </m:r>
                      <m:r>
                        <a:rPr lang="en-US" sz="2000">
                          <a:latin typeface="Cambria Math"/>
                        </a:rPr>
                        <m:t>0.1751</m:t>
                      </m:r>
                      <m:r>
                        <a:rPr lang="en-US" sz="2000"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ln</m:t>
                      </m:r>
                      <m:r>
                        <a:rPr lang="en-US" sz="20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0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+</m:t>
                      </m:r>
                      <m:r>
                        <a:rPr lang="en-US" sz="2000">
                          <a:latin typeface="Cambria Math"/>
                        </a:rPr>
                        <m:t>0.0089</m:t>
                      </m:r>
                      <m:r>
                        <a:rPr lang="en-US" sz="2000">
                          <a:latin typeface="Cambria Math"/>
                        </a:rPr>
                        <m:t> 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0">
                                  <a:latin typeface="Cambria Math"/>
                                </a:rPr>
                                <m:t>v</m:t>
                              </m:r>
                            </m:e>
                          </m:acc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133131" name="Picture 133130" descr="eq0023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0080" y="4572000"/>
                <a:ext cx="4340352" cy="356616"/>
              </a:xfrm>
              <a:prstGeom prst="rect">
                <a:avLst/>
              </a:prstGeom>
            </p:spPr>
          </p:pic>
        </mc:Fallback>
      </mc:AlternateContent>
      <p:sp>
        <p:nvSpPr>
          <p:cNvPr id="133132" name="TextBox 133131"/>
          <p:cNvSpPr txBox="1"/>
          <p:nvPr/>
        </p:nvSpPr>
        <p:spPr>
          <a:xfrm>
            <a:off x="228600" y="51206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t(δ̂) = </a:t>
            </a:r>
            <a:r>
              <a:rPr sz="1800" lang="tr-TR">
                <a:latin typeface="Times New Roman"/>
              </a:rPr>
              <a:t>0.085</a:t>
            </a:r>
            <a:r>
              <a:rPr sz="1800" lang="tr-TR">
                <a:latin typeface="Times New Roman"/>
              </a:rPr>
              <a:t>, p = </a:t>
            </a:r>
            <a:r>
              <a:rPr sz="1800" lang="tr-TR">
                <a:latin typeface="Times New Roman"/>
              </a:rPr>
              <a:t>0.933</a:t>
            </a:r>
            <a:r>
              <a:rPr sz="1800" lang="tr-TR">
                <a:latin typeface="Times New Roman"/>
              </a:rPr>
              <a:t> ⇒ H</a:t>
            </a:r>
            <a:r>
              <a:rPr sz="1800" lang="tr-TR" baseline="-25000">
                <a:latin typeface="Times New Roman"/>
              </a:rPr>
              <a:t>0</a:t>
            </a:r>
            <a:r>
              <a:rPr sz="1800" lang="tr-TR">
                <a:latin typeface="Times New Roman"/>
              </a:rPr>
              <a:t> reddedilemez; m istatistiğiyle aynı karar.</a:t>
            </a:r>
          </a:p>
          <a:p>
            <a:r>
              <a:rPr sz="1800" lang="tr-TR">
                <a:latin typeface="Times New Roman"/>
              </a:rPr>
              <a:t>Not: Araç değişken güçlü olmalıdır. Pratik kural: birinci aşama F &gt; 10.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2">
            <a:extLst>
              <a:ext uri="{FF2B5EF4-FFF2-40B4-BE49-F238E27FC236}">
                <a16:creationId xmlns:a16="http://schemas.microsoft.com/office/drawing/2014/main" id="{3C67E9C9-48DB-B570-1756-E195D7B55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828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 b="1"/>
              <a:t>UYGULAMA:</a:t>
            </a:r>
          </a:p>
        </p:txBody>
      </p:sp>
      <p:sp>
        <p:nvSpPr>
          <p:cNvPr id="139267" name="Text Box 3">
            <a:extLst>
              <a:ext uri="{FF2B5EF4-FFF2-40B4-BE49-F238E27FC236}">
                <a16:creationId xmlns:a16="http://schemas.microsoft.com/office/drawing/2014/main" id="{E3B1820C-67DD-510B-1474-3FE25BAFF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765175"/>
            <a:ext cx="856932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200"/>
              <a:t>1990-2002 dönemine ait Türkiye’nin İthalat(IT, 10Milyar $), Para Arzı (PA, Milyar$) ve Döviz Kuru (DK, 1/1000 YTL) verileri verilmiştir.</a:t>
            </a:r>
          </a:p>
        </p:txBody>
      </p:sp>
      <p:sp>
        <p:nvSpPr>
          <p:cNvPr id="139268" name="Rectangle 4">
            <a:extLst>
              <a:ext uri="{FF2B5EF4-FFF2-40B4-BE49-F238E27FC236}">
                <a16:creationId xmlns:a16="http://schemas.microsoft.com/office/drawing/2014/main" id="{F325E0A3-2BB0-EBD7-3714-A66C35A20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773238"/>
            <a:ext cx="6696075" cy="421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 u="sng"/>
              <a:t>Yıllar		IT		PA		   DK</a:t>
            </a:r>
            <a:r>
              <a:rPr lang="tr-TR" altLang="tr-TR" sz="1800"/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1990		22		27.773		2.612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1991		21		27.994		4.184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1992		22.9		27.69		6.888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1993		29.4		25.542		11.058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1994		23.3		21.119		29.848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1995		35.7		27.347		45.952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1996		43.6		35.759		81.796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1997		48.6		37.033		152.805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1998		45.9		43.561		262.233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1999		40.7		53.066		422.152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2000		54.5		50.92		626.712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2001		41.4		38.366		1231.32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2002		51.6		40.896		1513.102</a:t>
            </a:r>
          </a:p>
        </p:txBody>
      </p:sp>
      <p:sp>
        <p:nvSpPr>
          <p:cNvPr id="139269" name="Rectangle 5">
            <a:extLst>
              <a:ext uri="{FF2B5EF4-FFF2-40B4-BE49-F238E27FC236}">
                <a16:creationId xmlns:a16="http://schemas.microsoft.com/office/drawing/2014/main" id="{C023881F-A6F4-AA25-9B6F-530AC369E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1773238"/>
            <a:ext cx="1565275" cy="476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 u="sng"/>
              <a:t>GSMH</a:t>
            </a:r>
            <a:r>
              <a:rPr lang="tr-TR" altLang="tr-TR" sz="1800"/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145.381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145.307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152.821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171.883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125.051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162.742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174.992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182.349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193.262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177.889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190.707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139.556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175.451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br>
              <a:rPr lang="tr-TR" altLang="tr-TR" sz="1800"/>
            </a:br>
            <a:endParaRPr lang="tr-TR" altLang="tr-TR" sz="1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ext Box 2">
            <a:extLst>
              <a:ext uri="{FF2B5EF4-FFF2-40B4-BE49-F238E27FC236}">
                <a16:creationId xmlns:a16="http://schemas.microsoft.com/office/drawing/2014/main" id="{7ABAF539-0E71-46F2-179C-CE30CF726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828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 b="1"/>
              <a:t>UYGULAMA: RESET Testi</a:t>
            </a:r>
          </a:p>
        </p:txBody>
      </p:sp>
      <p:sp>
        <p:nvSpPr>
          <p:cNvPr id="141315" name="Text Box 3">
            <a:extLst>
              <a:ext uri="{FF2B5EF4-FFF2-40B4-BE49-F238E27FC236}">
                <a16:creationId xmlns:a16="http://schemas.microsoft.com/office/drawing/2014/main" id="{583F56A4-B431-7B18-49B8-7463D60DA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6613"/>
            <a:ext cx="874871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200"/>
              <a:t>İthalat ve para arzı arasındaki regresyon denklemi aşağıdaki gibi tahmin edilmiştir.</a:t>
            </a:r>
          </a:p>
        </p:txBody>
      </p:sp>
      <p:graphicFrame>
        <p:nvGraphicFramePr>
          <p:cNvPr id="141316" name="Object 2">
            <a:extLst>
              <a:ext uri="{FF2B5EF4-FFF2-40B4-BE49-F238E27FC236}">
                <a16:creationId xmlns:a16="http://schemas.microsoft.com/office/drawing/2014/main" id="{1B78071C-CC5B-B777-E68B-3A2F332EC6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2060575"/>
          <a:ext cx="7216775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22600" imgH="457200" progId="Equation.DSMT4">
                  <p:embed/>
                </p:oleObj>
              </mc:Choice>
              <mc:Fallback>
                <p:oleObj name="Equation" r:id="rId3" imgW="3022600" imgH="457200" progId="Equation.DSMT4">
                  <p:embed/>
                  <p:pic>
                    <p:nvPicPr>
                      <p:cNvPr id="141316" name="Object 2">
                        <a:extLst>
                          <a:ext uri="{FF2B5EF4-FFF2-40B4-BE49-F238E27FC236}">
                            <a16:creationId xmlns:a16="http://schemas.microsoft.com/office/drawing/2014/main" id="{1B78071C-CC5B-B777-E68B-3A2F332EC6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060575"/>
                        <a:ext cx="7216775" cy="1092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7" name="Rectangle 5">
            <a:extLst>
              <a:ext uri="{FF2B5EF4-FFF2-40B4-BE49-F238E27FC236}">
                <a16:creationId xmlns:a16="http://schemas.microsoft.com/office/drawing/2014/main" id="{6ACDC769-DD20-7504-D5F6-85B0C4D86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451225"/>
            <a:ext cx="8281988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200"/>
              <a:t>Bu modelden elde edilen Ŷ tahminleri ile hata terimleri arasındaki grafik çizildiğinde eğrinin parabolik bir yapı gösterdiği görülmüş ve aşağıdaki model elde edilmiştir.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18" name="Denklem"/>
              <p:cNvSpPr txBox="1"/>
              <p:nvPr/>
            </p:nvSpPr>
            <p:spPr>
              <a:xfrm>
                <a:off x="274320" y="4754880"/>
                <a:ext cx="7321052" cy="40005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ln</m:t>
                      </m:r>
                      <m:r>
                        <a:rPr lang="en-US" sz="2200">
                          <a:latin typeface="Cambria Math"/>
                        </a:rPr>
                        <m:t>I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−</m:t>
                      </m:r>
                      <m:r>
                        <a:rPr lang="en-US" sz="2200">
                          <a:latin typeface="Cambria Math"/>
                        </a:rPr>
                        <m:t>7.654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r>
                        <a:rPr lang="en-US" sz="2200">
                          <a:latin typeface="Cambria Math"/>
                        </a:rPr>
                        <m:t>5.383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ln</m:t>
                      </m:r>
                      <m:r>
                        <a:rPr lang="en-US" sz="2200">
                          <a:latin typeface="Cambria Math"/>
                        </a:rPr>
                        <m:t>P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−</m:t>
                      </m:r>
                      <m:r>
                        <a:rPr lang="en-US" sz="2200">
                          <a:latin typeface="Cambria Math"/>
                        </a:rPr>
                        <m:t>0.610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(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200" i="0">
                                  <a:latin typeface="Cambria Math"/>
                                </a:rPr>
                                <m:t>ln</m:t>
                              </m:r>
                              <m:r>
                                <a:rPr lang="en-US" sz="2200">
                                  <a:latin typeface="Cambria Math"/>
                                </a:rPr>
                                <m:t>I</m:t>
                              </m:r>
                              <m:r>
                                <a:rPr lang="en-US" sz="2200">
                                  <a:latin typeface="Cambria Math"/>
                                </a:rPr>
                                <m:t>T</m:t>
                              </m:r>
                            </m:e>
                          </m:acc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200">
                          <a:latin typeface="Cambria Math"/>
                        </a:rPr>
                        <m:t>  </m:t>
                      </m:r>
                      <m:sSup>
                        <m:e>
                          <m:r>
                            <a:rPr lang="en-US" sz="2200">
                              <a:latin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r>
                        <a:rPr lang="en-US" sz="2200">
                          <a:latin typeface="Cambria Math"/>
                        </a:rPr>
                        <m:t>0.6722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41318" name="Picture 141317" descr="eq0024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320" y="4754880"/>
                <a:ext cx="6778752" cy="381000"/>
              </a:xfrm>
              <a:prstGeom prst="rect">
                <a:avLst/>
              </a:prstGeom>
            </p:spPr>
          </p:pic>
        </mc:Fallback>
      </mc:AlternateContent>
      <p:sp>
        <p:nvSpPr>
          <p:cNvPr id="141319" name="TextBox 141318"/>
          <p:cNvSpPr txBox="1"/>
          <p:nvPr/>
        </p:nvSpPr>
        <p:spPr>
          <a:xfrm>
            <a:off x="274320" y="534924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t:       (−0.714)       (0.881)                 (−0.717)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3 Slayt Numarası Yer Tutucusu">
            <a:extLst>
              <a:ext uri="{FF2B5EF4-FFF2-40B4-BE49-F238E27FC236}">
                <a16:creationId xmlns:a16="http://schemas.microsoft.com/office/drawing/2014/main" id="{42A74694-14A6-17FF-C23E-D650391CE1F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79079B1-4AFB-4D49-81D6-3DB57C810B13}" type="slidenum">
              <a:rPr lang="tr-TR" altLang="tr-TR" sz="1400"/>
              <a:pPr algn="r" eaLnBrk="1" hangingPunct="1">
                <a:spcBef>
                  <a:spcPct val="0"/>
                </a:spcBef>
                <a:buFontTx/>
                <a:buNone/>
              </a:pPr>
              <a:t>46</a:t>
            </a:fld>
            <a:endParaRPr lang="tr-TR" altLang="tr-TR" sz="1400"/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03C1B377-D0E9-B2C1-DC60-3F101E2D6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71563"/>
            <a:ext cx="7391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 H</a:t>
            </a:r>
            <a:r>
              <a:rPr lang="en-US" altLang="tr-TR" sz="2400" baseline="-25000">
                <a:latin typeface="Times New Roman" panose="02020603050405020304" pitchFamily="18" charset="0"/>
              </a:rPr>
              <a:t>0</a:t>
            </a:r>
            <a:r>
              <a:rPr lang="en-US" altLang="tr-TR" sz="2400">
                <a:latin typeface="Times New Roman" panose="02020603050405020304" pitchFamily="18" charset="0"/>
              </a:rPr>
              <a:t>: </a:t>
            </a:r>
            <a:r>
              <a:rPr lang="tr-TR" altLang="tr-TR" sz="2400">
                <a:latin typeface="Times New Roman" panose="02020603050405020304" pitchFamily="18" charset="0"/>
              </a:rPr>
              <a:t>M</a:t>
            </a:r>
            <a:r>
              <a:rPr lang="en-US" altLang="tr-TR" sz="2400">
                <a:latin typeface="Times New Roman" panose="02020603050405020304" pitchFamily="18" charset="0"/>
              </a:rPr>
              <a:t>odel spe</a:t>
            </a:r>
            <a:r>
              <a:rPr lang="tr-TR" altLang="tr-TR" sz="2400">
                <a:latin typeface="Times New Roman" panose="02020603050405020304" pitchFamily="18" charset="0"/>
              </a:rPr>
              <a:t>sifikasyonu doğrudur. </a:t>
            </a:r>
            <a:endParaRPr lang="en-US" altLang="tr-TR" sz="2400">
              <a:latin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 </a:t>
            </a:r>
            <a:r>
              <a:rPr lang="en-US" altLang="tr-TR" sz="2400">
                <a:latin typeface="Times New Roman" panose="02020603050405020304" pitchFamily="18" charset="0"/>
              </a:rPr>
              <a:t>H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: </a:t>
            </a:r>
            <a:r>
              <a:rPr lang="tr-TR" altLang="tr-TR" sz="2400">
                <a:latin typeface="Times New Roman" panose="02020603050405020304" pitchFamily="18" charset="0"/>
              </a:rPr>
              <a:t>M</a:t>
            </a:r>
            <a:r>
              <a:rPr lang="en-US" altLang="tr-TR" sz="2400">
                <a:latin typeface="Times New Roman" panose="02020603050405020304" pitchFamily="18" charset="0"/>
              </a:rPr>
              <a:t>odel spe</a:t>
            </a:r>
            <a:r>
              <a:rPr lang="tr-TR" altLang="tr-TR" sz="2400">
                <a:latin typeface="Times New Roman" panose="02020603050405020304" pitchFamily="18" charset="0"/>
              </a:rPr>
              <a:t>sifikasyonu yanlıştır.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9E233B4E-EE6E-2AC2-AD18-2F72FE923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5857875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F</a:t>
            </a:r>
            <a:r>
              <a:rPr lang="tr-TR" altLang="tr-TR" sz="2400" baseline="-25000">
                <a:latin typeface="Times New Roman" panose="02020603050405020304" pitchFamily="18" charset="0"/>
              </a:rPr>
              <a:t>hes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</a:rPr>
              <a:t>&lt;</a:t>
            </a:r>
            <a:r>
              <a:rPr lang="en-US" altLang="tr-TR" sz="2400">
                <a:latin typeface="Times New Roman" panose="02020603050405020304" pitchFamily="18" charset="0"/>
              </a:rPr>
              <a:t> F</a:t>
            </a:r>
            <a:r>
              <a:rPr lang="en-US" altLang="tr-TR" sz="2400" baseline="-25000">
                <a:latin typeface="Times New Roman" panose="02020603050405020304" pitchFamily="18" charset="0"/>
              </a:rPr>
              <a:t>tab</a:t>
            </a:r>
            <a:r>
              <a:rPr lang="en-US" altLang="tr-TR" sz="2400">
                <a:latin typeface="Times New Roman" panose="02020603050405020304" pitchFamily="18" charset="0"/>
              </a:rPr>
              <a:t>    H</a:t>
            </a:r>
            <a:r>
              <a:rPr lang="en-US" altLang="tr-TR" sz="2400" baseline="-25000">
                <a:latin typeface="Times New Roman" panose="02020603050405020304" pitchFamily="18" charset="0"/>
              </a:rPr>
              <a:t>0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</a:rPr>
              <a:t> reddedilemez.</a:t>
            </a:r>
          </a:p>
        </p:txBody>
      </p:sp>
      <p:sp>
        <p:nvSpPr>
          <p:cNvPr id="4101" name="5 Metin kutusu">
            <a:extLst>
              <a:ext uri="{FF2B5EF4-FFF2-40B4-BE49-F238E27FC236}">
                <a16:creationId xmlns:a16="http://schemas.microsoft.com/office/drawing/2014/main" id="{D648497D-4E7F-D9BC-F0E2-0835CB4F5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038225"/>
            <a:ext cx="1500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3. Adım: </a:t>
            </a:r>
          </a:p>
        </p:txBody>
      </p:sp>
      <p:sp>
        <p:nvSpPr>
          <p:cNvPr id="4102" name="5 Metin kutusu">
            <a:extLst>
              <a:ext uri="{FF2B5EF4-FFF2-40B4-BE49-F238E27FC236}">
                <a16:creationId xmlns:a16="http://schemas.microsoft.com/office/drawing/2014/main" id="{9C4FF827-0E6B-FFFE-F76A-9669CBF6C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428875"/>
            <a:ext cx="72866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 F</a:t>
            </a:r>
            <a:r>
              <a:rPr lang="en-US" altLang="tr-TR" sz="2400" baseline="-25000">
                <a:latin typeface="Times New Roman" panose="02020603050405020304" pitchFamily="18" charset="0"/>
              </a:rPr>
              <a:t>tab</a:t>
            </a:r>
            <a:r>
              <a:rPr lang="en-US" altLang="tr-TR" sz="2400">
                <a:latin typeface="Times New Roman" panose="02020603050405020304" pitchFamily="18" charset="0"/>
              </a:rPr>
              <a:t>=F</a:t>
            </a:r>
            <a:r>
              <a:rPr lang="en-US" altLang="tr-TR" sz="2400" baseline="-25000">
                <a:latin typeface="Symbol" panose="05050102010706020507" pitchFamily="18" charset="2"/>
              </a:rPr>
              <a:t>a</a:t>
            </a:r>
            <a:r>
              <a:rPr lang="en-US" altLang="tr-TR" sz="2400">
                <a:latin typeface="Times New Roman" panose="02020603050405020304" pitchFamily="18" charset="0"/>
              </a:rPr>
              <a:t>,</a:t>
            </a:r>
            <a:r>
              <a:rPr lang="tr-TR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,</a:t>
            </a:r>
            <a:r>
              <a:rPr lang="tr-TR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 baseline="-25000">
                <a:latin typeface="Times New Roman" panose="02020603050405020304" pitchFamily="18" charset="0"/>
              </a:rPr>
              <a:t>13-3</a:t>
            </a:r>
            <a:r>
              <a:rPr lang="en-US" altLang="tr-TR" sz="2400" baseline="-25000">
                <a:latin typeface="Times New Roman" panose="02020603050405020304" pitchFamily="18" charset="0"/>
              </a:rPr>
              <a:t> </a:t>
            </a:r>
            <a:r>
              <a:rPr lang="en-US" altLang="tr-TR" sz="2400">
                <a:latin typeface="Times New Roman" panose="02020603050405020304" pitchFamily="18" charset="0"/>
              </a:rPr>
              <a:t>=</a:t>
            </a:r>
            <a:r>
              <a:rPr lang="tr-TR" altLang="tr-TR" sz="2400">
                <a:latin typeface="Times New Roman" panose="02020603050405020304" pitchFamily="18" charset="0"/>
              </a:rPr>
              <a:t>4.96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 baseline="-34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f</a:t>
            </a:r>
            <a:r>
              <a:rPr lang="tr-TR" altLang="tr-TR" sz="2400" baseline="-25000">
                <a:latin typeface="Times New Roman" panose="02020603050405020304" pitchFamily="18" charset="0"/>
              </a:rPr>
              <a:t>1</a:t>
            </a:r>
            <a:r>
              <a:rPr lang="tr-TR" altLang="tr-TR" sz="2400">
                <a:latin typeface="Times New Roman" panose="02020603050405020304" pitchFamily="18" charset="0"/>
              </a:rPr>
              <a:t>: Yeni Değişken Sayısı f</a:t>
            </a:r>
            <a:r>
              <a:rPr lang="tr-TR" altLang="tr-TR" sz="2400" baseline="-25000">
                <a:latin typeface="Times New Roman" panose="02020603050405020304" pitchFamily="18" charset="0"/>
              </a:rPr>
              <a:t>2</a:t>
            </a:r>
            <a:r>
              <a:rPr lang="tr-TR" altLang="tr-TR" sz="2400">
                <a:latin typeface="Times New Roman" panose="02020603050405020304" pitchFamily="18" charset="0"/>
              </a:rPr>
              <a:t>: n – yeni model katsayı sayısı   </a:t>
            </a:r>
          </a:p>
        </p:txBody>
      </p:sp>
      <p:sp>
        <p:nvSpPr>
          <p:cNvPr id="4103" name="5 Metin kutusu">
            <a:extLst>
              <a:ext uri="{FF2B5EF4-FFF2-40B4-BE49-F238E27FC236}">
                <a16:creationId xmlns:a16="http://schemas.microsoft.com/office/drawing/2014/main" id="{453C8AEF-509B-7B47-4376-8F706736A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395538"/>
            <a:ext cx="1500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4. Adım: </a:t>
            </a:r>
          </a:p>
        </p:txBody>
      </p:sp>
      <p:sp>
        <p:nvSpPr>
          <p:cNvPr id="4104" name="5 Metin kutusu">
            <a:extLst>
              <a:ext uri="{FF2B5EF4-FFF2-40B4-BE49-F238E27FC236}">
                <a16:creationId xmlns:a16="http://schemas.microsoft.com/office/drawing/2014/main" id="{EFE16E6D-CA49-80D3-D85B-8CC284A04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4111625"/>
            <a:ext cx="1500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5. Adım: </a:t>
            </a:r>
          </a:p>
        </p:txBody>
      </p:sp>
      <p:sp>
        <p:nvSpPr>
          <p:cNvPr id="4105" name="5 Metin kutusu">
            <a:extLst>
              <a:ext uri="{FF2B5EF4-FFF2-40B4-BE49-F238E27FC236}">
                <a16:creationId xmlns:a16="http://schemas.microsoft.com/office/drawing/2014/main" id="{0860FE38-38C2-1CD8-453F-3647EFF7E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5824538"/>
            <a:ext cx="1500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6. Adım: </a:t>
            </a:r>
          </a:p>
        </p:txBody>
      </p:sp>
      <p:sp>
        <p:nvSpPr>
          <p:cNvPr id="143371" name="Text Box 11">
            <a:extLst>
              <a:ext uri="{FF2B5EF4-FFF2-40B4-BE49-F238E27FC236}">
                <a16:creationId xmlns:a16="http://schemas.microsoft.com/office/drawing/2014/main" id="{67D4BE4F-41CD-CCB8-756E-E33581725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828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 b="1"/>
              <a:t>UYGULAMA: RESET Testi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72" name="Denklem"/>
              <p:cNvSpPr txBox="1"/>
              <p:nvPr/>
            </p:nvSpPr>
            <p:spPr>
              <a:xfrm>
                <a:off x="2011680" y="4069080"/>
                <a:ext cx="3703320" cy="54086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h</m:t>
                          </m:r>
                          <m:r>
                            <a:rPr lang="en-US" sz="2400">
                              <a:latin typeface="Cambria Math"/>
                            </a:rPr>
                            <m:t>e</m:t>
                          </m:r>
                          <m:r>
                            <a:rPr lang="en-US" sz="2400">
                              <a:latin typeface="Cambria Math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(</m:t>
                          </m:r>
                          <m:r>
                            <a:rPr lang="en-US" sz="2400">
                              <a:latin typeface="Cambria Math"/>
                            </a:rPr>
                            <m:t>0.6722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−</m:t>
                          </m:r>
                          <m:r>
                            <a:rPr lang="en-US" sz="2400">
                              <a:latin typeface="Cambria Math"/>
                            </a:rPr>
                            <m:t>0.6554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/</m:t>
                          </m:r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(</m:t>
                          </m:r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−</m:t>
                          </m:r>
                          <m:r>
                            <a:rPr lang="en-US" sz="2400">
                              <a:latin typeface="Cambria Math"/>
                            </a:rPr>
                            <m:t>0.6722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(</m:t>
                          </m:r>
                          <m:r>
                            <a:rPr lang="en-US" sz="2400">
                              <a:latin typeface="Cambria Math"/>
                            </a:rPr>
                            <m:t>13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−</m:t>
                          </m:r>
                          <m:r>
                            <a:rPr lang="en-US" sz="2400">
                              <a:latin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r>
                        <a:rPr lang="en-US" sz="2400">
                          <a:latin typeface="Cambria Math"/>
                        </a:rPr>
                        <m:t>0.51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43372" name="Picture 143371" descr="eq0025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11680" y="4069080"/>
                <a:ext cx="3429000" cy="51511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utoUpdateAnimBg="0"/>
      <p:bldP spid="4101" grpId="0"/>
      <p:bldP spid="4102" grpId="0"/>
      <p:bldP spid="4103" grpId="0"/>
      <p:bldP spid="4104" grpId="0"/>
      <p:bldP spid="410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ext Box 2">
            <a:extLst>
              <a:ext uri="{FF2B5EF4-FFF2-40B4-BE49-F238E27FC236}">
                <a16:creationId xmlns:a16="http://schemas.microsoft.com/office/drawing/2014/main" id="{FE9263F3-09F9-73D3-FBB1-5FCD4EC3B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828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 b="1"/>
              <a:t>UYGULAMA: Hausman Testi</a:t>
            </a:r>
          </a:p>
        </p:txBody>
      </p:sp>
      <p:sp>
        <p:nvSpPr>
          <p:cNvPr id="149507" name="TextBox 149506"/>
          <p:cNvSpPr txBox="1"/>
          <p:nvPr/>
        </p:nvSpPr>
        <p:spPr>
          <a:xfrm>
            <a:off x="228600" y="7772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İthalat modelinde döviz kurunun (DK) içsel olabileceğinden şüphelenelim. EKK tahmini (1990-2002, n = 13):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508" name="Denklem"/>
              <p:cNvSpPr txBox="1"/>
              <p:nvPr/>
            </p:nvSpPr>
            <p:spPr>
              <a:xfrm>
                <a:off x="457200" y="1508760"/>
                <a:ext cx="6784482" cy="345643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ln</m:t>
                      </m:r>
                      <m:r>
                        <a:rPr lang="en-US" sz="2200">
                          <a:latin typeface="Cambria Math"/>
                        </a:rPr>
                        <m:t>I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r>
                        <a:rPr lang="en-US" sz="2200">
                          <a:latin typeface="Cambria Math"/>
                        </a:rPr>
                        <m:t>1.822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r>
                        <a:rPr lang="en-US" sz="2200">
                          <a:latin typeface="Cambria Math"/>
                        </a:rPr>
                        <m:t>0.360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ln</m:t>
                      </m:r>
                      <m:r>
                        <a:rPr lang="en-US" sz="2200">
                          <a:latin typeface="Cambria Math"/>
                        </a:rPr>
                        <m:t>P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r>
                        <a:rPr lang="en-US" sz="2200">
                          <a:latin typeface="Cambria Math"/>
                        </a:rPr>
                        <m:t>0.108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ln</m:t>
                      </m:r>
                      <m:r>
                        <a:rPr lang="en-US" sz="22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200">
                          <a:latin typeface="Cambria Math"/>
                        </a:rPr>
                        <m:t>  </m:t>
                      </m:r>
                      <m:sSup>
                        <m:e>
                          <m:r>
                            <a:rPr lang="en-US" sz="2200">
                              <a:latin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r>
                        <a:rPr lang="en-US" sz="2200">
                          <a:latin typeface="Cambria Math"/>
                        </a:rPr>
                        <m:t>0.832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49508" name="Picture 149507" descr="eq0026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7200" y="1508760"/>
                <a:ext cx="6281928" cy="329184"/>
              </a:xfrm>
              <a:prstGeom prst="rect">
                <a:avLst/>
              </a:prstGeom>
            </p:spPr>
          </p:pic>
        </mc:Fallback>
      </mc:AlternateContent>
      <p:sp>
        <p:nvSpPr>
          <p:cNvPr id="149509" name="TextBox 149508"/>
          <p:cNvSpPr txBox="1"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t:         (2.289)     (1.408)            (3.251)</a:t>
            </a:r>
          </a:p>
        </p:txBody>
      </p:sp>
      <p:sp>
        <p:nvSpPr>
          <p:cNvPr id="149510" name="TextBox 149509"/>
          <p:cNvSpPr txBox="1"/>
          <p:nvPr/>
        </p:nvSpPr>
        <p:spPr>
          <a:xfrm>
            <a:off x="228600" y="2651760"/>
            <a:ext cx="8686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lang="tr-TR">
                <a:latin typeface="Times New Roman"/>
              </a:rPr>
              <a:t>Araç olarak GSMH alınırsa birinci aşamada ln(GSMH)’nin t değeri </a:t>
            </a:r>
            <a:r>
              <a:rPr sz="1900" lang="tr-TR">
                <a:latin typeface="Times New Roman"/>
              </a:rPr>
              <a:t>−0.73</a:t>
            </a:r>
            <a:r>
              <a:rPr sz="1900" lang="tr-TR">
                <a:latin typeface="Times New Roman"/>
              </a:rPr>
              <a:t> (F = </a:t>
            </a:r>
            <a:r>
              <a:rPr sz="1900" lang="tr-TR">
                <a:latin typeface="Times New Roman"/>
              </a:rPr>
              <a:t>0.53</a:t>
            </a:r>
            <a:r>
              <a:rPr sz="1900" lang="tr-TR">
                <a:latin typeface="Times New Roman"/>
              </a:rPr>
              <a:t>) olur: GSMH kur için zayıf (weak) bir araçtır ve Hausman testi bu araçla anlamlı sonuç vermez.</a:t>
            </a:r>
          </a:p>
          <a:p>
            <a:r>
              <a:rPr sz="1900" lang="tr-TR">
                <a:latin typeface="Times New Roman"/>
              </a:rPr>
              <a:t>Bu nedenle araç olarak gecikmeli kur, ln(DK</a:t>
            </a:r>
            <a:r>
              <a:rPr sz="1900" lang="tr-TR" baseline="-25000">
                <a:latin typeface="Times New Roman"/>
              </a:rPr>
              <a:t>t−1</a:t>
            </a:r>
            <a:r>
              <a:rPr sz="1900" lang="tr-TR">
                <a:latin typeface="Times New Roman"/>
              </a:rPr>
              <a:t>), kullanılır (1989 kuru ihracat uygulamasındaki tablodan). Birinci aşama: t = </a:t>
            </a:r>
            <a:r>
              <a:rPr sz="1900" lang="tr-TR">
                <a:latin typeface="Times New Roman"/>
              </a:rPr>
              <a:t>23.67</a:t>
            </a:r>
            <a:r>
              <a:rPr sz="1900" lang="tr-TR">
                <a:latin typeface="Times New Roman"/>
              </a:rPr>
              <a:t> (F = </a:t>
            </a:r>
            <a:r>
              <a:rPr sz="1900" lang="tr-TR">
                <a:latin typeface="Times New Roman"/>
              </a:rPr>
              <a:t>560</a:t>
            </a:r>
            <a:r>
              <a:rPr sz="1900" lang="tr-TR">
                <a:latin typeface="Times New Roman"/>
              </a:rPr>
              <a:t>), güçlü araç.</a:t>
            </a:r>
          </a:p>
          <a:p>
            <a:r>
              <a:rPr sz="1900" lang="tr-TR">
                <a:latin typeface="Times New Roman"/>
              </a:rPr>
              <a:t>İki açıklayıcılı modelde m = q̂²r²/[Var(β̂</a:t>
            </a:r>
            <a:r>
              <a:rPr sz="1900" lang="tr-TR" baseline="-25000">
                <a:latin typeface="Times New Roman"/>
              </a:rPr>
              <a:t>0</a:t>
            </a:r>
            <a:r>
              <a:rPr sz="1900" lang="tr-TR">
                <a:latin typeface="Times New Roman"/>
              </a:rPr>
              <a:t>)(1 − r²)] formülü geçerli değildir; regresyon tabanlı (DWH) biçim kullanılır.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6" name="Text Box 4">
            <a:extLst>
              <a:ext uri="{FF2B5EF4-FFF2-40B4-BE49-F238E27FC236}">
                <a16:creationId xmlns:a16="http://schemas.microsoft.com/office/drawing/2014/main" id="{3099D172-74F5-FB8E-EE74-3C9C7EED4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828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 b="1"/>
              <a:t>UYGULAMA: Hausman Testi</a:t>
            </a:r>
          </a:p>
        </p:txBody>
      </p:sp>
      <p:sp>
        <p:nvSpPr>
          <p:cNvPr id="151557" name="TextBox 151556"/>
          <p:cNvSpPr txBox="1"/>
          <p:nvPr/>
        </p:nvSpPr>
        <p:spPr>
          <a:xfrm>
            <a:off x="228600" y="8229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tr-TR">
                <a:latin typeface="Times New Roman"/>
              </a:rPr>
              <a:t>1. Adım (birinci aşama): </a:t>
            </a:r>
            <a:r>
              <a:rPr sz="1900" lang="tr-TR">
                <a:latin typeface="Times New Roman"/>
              </a:rPr>
              <a:t>kuru tüm dışsal değişkenlere ve araca regres 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558" name="Denklem"/>
              <p:cNvSpPr txBox="1"/>
              <p:nvPr/>
            </p:nvSpPr>
            <p:spPr>
              <a:xfrm>
                <a:off x="457200" y="1325880"/>
                <a:ext cx="5948354" cy="38084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100" i="0">
                                  <a:latin typeface="Cambria Math"/>
                                </a:rPr>
                                <m:t>ln</m:t>
                              </m:r>
                              <m:r>
                                <a:rPr lang="en-US" sz="2100">
                                  <a:latin typeface="Cambria Math"/>
                                </a:rPr>
                                <m:t>D</m:t>
                              </m:r>
                              <m:r>
                                <a:rPr lang="en-US" sz="2100">
                                  <a:latin typeface="Cambria Math"/>
                                </a:rPr>
                                <m:t>K</m:t>
                              </m:r>
                            </m:e>
                          </m:acc>
                        </m:e>
                        <m:sub>
                          <m:r>
                            <a:rPr lang="en-US" sz="21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>
                          <a:latin typeface="Cambria Math"/>
                        </a:rPr>
                        <m:t>=</m:t>
                      </m:r>
                      <m:r>
                        <a:rPr lang="en-US" sz="2100">
                          <a:latin typeface="Cambria Math"/>
                        </a:rPr>
                        <m:t>2.170</m:t>
                      </m:r>
                      <m:r>
                        <m:rPr>
                          <m:sty m:val="p"/>
                        </m:rPr>
                        <a:rPr lang="en-US" sz="2100" i="0">
                          <a:latin typeface="Cambria Math"/>
                        </a:rPr>
                        <m:t>−</m:t>
                      </m:r>
                      <m:r>
                        <a:rPr lang="en-US" sz="2100">
                          <a:latin typeface="Cambria Math"/>
                        </a:rPr>
                        <m:t>0.526</m:t>
                      </m:r>
                      <m:r>
                        <m:rPr>
                          <m:sty m:val="p"/>
                        </m:rPr>
                        <a:rPr lang="en-US" sz="2100" i="0">
                          <a:latin typeface="Cambria Math"/>
                        </a:rPr>
                        <m:t>ln</m:t>
                      </m:r>
                      <m:r>
                        <a:rPr lang="en-US" sz="2100">
                          <a:latin typeface="Cambria Math"/>
                        </a:rPr>
                        <m:t>P</m:t>
                      </m:r>
                      <m:sSub>
                        <m:e>
                          <m:r>
                            <a:rPr lang="en-US" sz="2100"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1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>
                          <a:latin typeface="Cambria Math"/>
                        </a:rPr>
                        <m:t>+</m:t>
                      </m:r>
                      <m:r>
                        <a:rPr lang="en-US" sz="2100">
                          <a:latin typeface="Cambria Math"/>
                        </a:rPr>
                        <m:t>1.050</m:t>
                      </m:r>
                      <m:r>
                        <m:rPr>
                          <m:sty m:val="p"/>
                        </m:rPr>
                        <a:rPr lang="en-US" sz="2100" i="0">
                          <a:latin typeface="Cambria Math"/>
                        </a:rPr>
                        <m:t>ln</m:t>
                      </m:r>
                      <m:r>
                        <a:rPr lang="en-US" sz="21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1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100"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100" i="0">
                              <a:latin typeface="Cambria Math"/>
                            </a:rPr>
                            <m:t>−</m:t>
                          </m:r>
                          <m:r>
                            <a:rPr lang="en-US" sz="21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100"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100" i="0">
                          <a:latin typeface="Cambria Math"/>
                        </a:rPr>
                        <m:t>⇒</m:t>
                      </m:r>
                      <m:r>
                        <a:rPr lang="en-US" sz="2100">
                          <a:latin typeface="Cambria Math"/>
                        </a:rPr>
                        <m:t> 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100">
                                  <a:latin typeface="Cambria Math"/>
                                </a:rPr>
                                <m:t>v</m:t>
                              </m:r>
                            </m:e>
                          </m:acc>
                        </m:e>
                        <m:sub>
                          <m:r>
                            <a:rPr lang="en-US" sz="2100"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151558" name="Picture 151557" descr="eq0027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7200" y="1325880"/>
                <a:ext cx="5507736" cy="362712"/>
              </a:xfrm>
              <a:prstGeom prst="rect">
                <a:avLst/>
              </a:prstGeom>
            </p:spPr>
          </p:pic>
        </mc:Fallback>
      </mc:AlternateContent>
      <p:sp>
        <p:nvSpPr>
          <p:cNvPr id="151559" name="TextBox 151558"/>
          <p:cNvSpPr txBox="1"/>
          <p:nvPr/>
        </p:nvSpPr>
        <p:spPr>
          <a:xfrm>
            <a:off x="228600" y="2148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lang="tr-TR">
                <a:latin typeface="Times New Roman"/>
              </a:rPr>
              <a:t>2. Adım: </a:t>
            </a:r>
            <a:r>
              <a:rPr sz="1900" lang="tr-TR">
                <a:latin typeface="Times New Roman"/>
              </a:rPr>
              <a:t>kalıntıyı ana modele ekle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560" name="Denklem"/>
              <p:cNvSpPr txBox="1"/>
              <p:nvPr/>
            </p:nvSpPr>
            <p:spPr>
              <a:xfrm>
                <a:off x="457200" y="2651760"/>
                <a:ext cx="5981273" cy="374446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100" i="0">
                                  <a:latin typeface="Cambria Math"/>
                                </a:rPr>
                                <m:t>ln</m:t>
                              </m:r>
                              <m:r>
                                <a:rPr lang="en-US" sz="2100">
                                  <a:latin typeface="Cambria Math"/>
                                </a:rPr>
                                <m:t>I</m:t>
                              </m:r>
                              <m:r>
                                <a:rPr lang="en-US" sz="2100">
                                  <a:latin typeface="Cambria Math"/>
                                </a:rPr>
                                <m:t>T</m:t>
                              </m:r>
                            </m:e>
                          </m:acc>
                        </m:e>
                        <m:sub>
                          <m:r>
                            <a:rPr lang="en-US" sz="21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>
                          <a:latin typeface="Cambria Math"/>
                        </a:rPr>
                        <m:t>=</m:t>
                      </m:r>
                      <m:r>
                        <a:rPr lang="en-US" sz="2100">
                          <a:latin typeface="Cambria Math"/>
                        </a:rPr>
                        <m:t>1.868</m:t>
                      </m:r>
                      <m:r>
                        <m:rPr>
                          <m:sty m:val="p"/>
                        </m:rPr>
                        <a:rPr lang="en-US" sz="2100" i="0">
                          <a:latin typeface="Cambria Math"/>
                        </a:rPr>
                        <m:t>+</m:t>
                      </m:r>
                      <m:r>
                        <a:rPr lang="en-US" sz="2100">
                          <a:latin typeface="Cambria Math"/>
                        </a:rPr>
                        <m:t>0.344</m:t>
                      </m:r>
                      <m:r>
                        <m:rPr>
                          <m:sty m:val="p"/>
                        </m:rPr>
                        <a:rPr lang="en-US" sz="2100" i="0">
                          <a:latin typeface="Cambria Math"/>
                        </a:rPr>
                        <m:t>ln</m:t>
                      </m:r>
                      <m:r>
                        <a:rPr lang="en-US" sz="2100">
                          <a:latin typeface="Cambria Math"/>
                        </a:rPr>
                        <m:t>P</m:t>
                      </m:r>
                      <m:sSub>
                        <m:e>
                          <m:r>
                            <a:rPr lang="en-US" sz="2100"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1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>
                          <a:latin typeface="Cambria Math"/>
                        </a:rPr>
                        <m:t>+</m:t>
                      </m:r>
                      <m:r>
                        <a:rPr lang="en-US" sz="2100">
                          <a:latin typeface="Cambria Math"/>
                        </a:rPr>
                        <m:t>0.111</m:t>
                      </m:r>
                      <m:r>
                        <m:rPr>
                          <m:sty m:val="p"/>
                        </m:rPr>
                        <a:rPr lang="en-US" sz="2100" i="0">
                          <a:latin typeface="Cambria Math"/>
                        </a:rPr>
                        <m:t>ln</m:t>
                      </m:r>
                      <m:r>
                        <a:rPr lang="en-US" sz="2100">
                          <a:latin typeface="Cambria Math"/>
                        </a:rPr>
                        <m:t>D</m:t>
                      </m:r>
                      <m:sSub>
                        <m:e>
                          <m:r>
                            <a:rPr lang="en-US" sz="2100"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1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00" i="0">
                          <a:latin typeface="Cambria Math"/>
                        </a:rPr>
                        <m:t>−</m:t>
                      </m:r>
                      <m:r>
                        <a:rPr lang="en-US" sz="2100">
                          <a:latin typeface="Cambria Math"/>
                        </a:rPr>
                        <m:t>0.157</m:t>
                      </m:r>
                      <m:r>
                        <a:rPr lang="en-US" sz="2100">
                          <a:latin typeface="Cambria Math"/>
                        </a:rPr>
                        <m:t> 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100">
                                  <a:latin typeface="Cambria Math"/>
                                </a:rPr>
                                <m:t>v</m:t>
                              </m:r>
                            </m:e>
                          </m:acc>
                        </m:e>
                        <m:sub>
                          <m:r>
                            <a:rPr lang="en-US" sz="2100"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151560" name="Picture 151559" descr="eq0028.png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7200" y="2651760"/>
                <a:ext cx="5538216" cy="356616"/>
              </a:xfrm>
              <a:prstGeom prst="rect">
                <a:avLst/>
              </a:prstGeom>
            </p:spPr>
          </p:pic>
        </mc:Fallback>
      </mc:AlternateContent>
      <p:sp>
        <p:nvSpPr>
          <p:cNvPr id="151561" name="TextBox 151560"/>
          <p:cNvSpPr txBox="1"/>
          <p:nvPr/>
        </p:nvSpPr>
        <p:spPr>
          <a:xfrm>
            <a:off x="457200" y="3246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t:         (2.261)     (1.293)              (3.197)             (−0.599)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3 Slayt Numarası Yer Tutucusu">
            <a:extLst>
              <a:ext uri="{FF2B5EF4-FFF2-40B4-BE49-F238E27FC236}">
                <a16:creationId xmlns:a16="http://schemas.microsoft.com/office/drawing/2014/main" id="{1061FBD5-802D-4339-951F-85AAB9118B67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B047985-2889-442B-AE6A-191474D86CFD}" type="slidenum">
              <a:rPr lang="tr-TR" altLang="tr-TR" sz="1400"/>
              <a:pPr algn="r" eaLnBrk="1" hangingPunct="1">
                <a:spcBef>
                  <a:spcPct val="0"/>
                </a:spcBef>
                <a:buFontTx/>
                <a:buNone/>
              </a:pPr>
              <a:t>49</a:t>
            </a:fld>
            <a:endParaRPr lang="tr-TR" altLang="tr-TR" sz="1400"/>
          </a:p>
        </p:txBody>
      </p:sp>
      <p:sp>
        <p:nvSpPr>
          <p:cNvPr id="153612" name="Text Box 12">
            <a:extLst>
              <a:ext uri="{FF2B5EF4-FFF2-40B4-BE49-F238E27FC236}">
                <a16:creationId xmlns:a16="http://schemas.microsoft.com/office/drawing/2014/main" id="{04155554-38EF-F9B8-855D-16643EE5A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828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 b="1"/>
              <a:t>UYGULAMA: Hausman Testi</a:t>
            </a:r>
          </a:p>
        </p:txBody>
      </p:sp>
      <p:sp>
        <p:nvSpPr>
          <p:cNvPr id="153613" name="TextBox 153612"/>
          <p:cNvSpPr txBox="1"/>
          <p:nvPr/>
        </p:nvSpPr>
        <p:spPr>
          <a:xfrm>
            <a:off x="228600" y="1005840"/>
            <a:ext cx="8686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lang="tr-TR">
                <a:latin typeface="Times New Roman"/>
              </a:rPr>
              <a:t>1. Adım: </a:t>
            </a:r>
            <a:r>
              <a:rPr sz="2200" lang="tr-TR">
                <a:latin typeface="Times New Roman"/>
              </a:rPr>
              <a:t>H</a:t>
            </a:r>
            <a:r>
              <a:rPr sz="2200" lang="tr-TR" baseline="-25000">
                <a:latin typeface="Times New Roman"/>
              </a:rPr>
              <a:t>0</a:t>
            </a:r>
            <a:r>
              <a:rPr sz="2200" lang="tr-TR">
                <a:latin typeface="Times New Roman"/>
              </a:rPr>
              <a:t>: δ = 0 (ln DK dışsal, model doğru tanımlı)     H</a:t>
            </a:r>
            <a:r>
              <a:rPr sz="2200" lang="tr-TR" baseline="-25000">
                <a:latin typeface="Times New Roman"/>
              </a:rPr>
              <a:t>1</a:t>
            </a:r>
            <a:r>
              <a:rPr sz="2200" lang="tr-TR">
                <a:latin typeface="Times New Roman"/>
              </a:rPr>
              <a:t>: δ ≠ 0</a:t>
            </a:r>
          </a:p>
          <a:p>
            <a:r>
              <a:rPr sz="2200" lang="tr-TR">
                <a:latin typeface="Times New Roman"/>
              </a:rPr>
              <a:t/>
            </a:r>
          </a:p>
          <a:p>
            <a:r>
              <a:rPr sz="2200" b="1" lang="tr-TR">
                <a:latin typeface="Times New Roman"/>
              </a:rPr>
              <a:t>2. Adım: </a:t>
            </a:r>
            <a:r>
              <a:rPr sz="2200" lang="tr-TR">
                <a:latin typeface="Times New Roman"/>
              </a:rPr>
              <a:t>Test istatistiği: t(δ̂) = </a:t>
            </a:r>
            <a:r>
              <a:rPr sz="2200" lang="tr-TR">
                <a:latin typeface="Times New Roman"/>
              </a:rPr>
              <a:t>−0.599</a:t>
            </a:r>
          </a:p>
          <a:p>
            <a:r>
              <a:rPr sz="2200" lang="tr-TR">
                <a:latin typeface="Times New Roman"/>
              </a:rPr>
              <a:t/>
            </a:r>
          </a:p>
          <a:p>
            <a:r>
              <a:rPr sz="2200" b="1" lang="tr-TR">
                <a:latin typeface="Times New Roman"/>
              </a:rPr>
              <a:t>3. Adım: </a:t>
            </a:r>
            <a:r>
              <a:rPr sz="2200" lang="tr-TR">
                <a:latin typeface="Times New Roman"/>
              </a:rPr>
              <a:t>t</a:t>
            </a:r>
            <a:r>
              <a:rPr sz="2200" lang="tr-TR" baseline="-25000">
                <a:latin typeface="Times New Roman"/>
              </a:rPr>
              <a:t>0.025; 13−4</a:t>
            </a:r>
            <a:r>
              <a:rPr sz="2200" lang="tr-TR">
                <a:latin typeface="Times New Roman"/>
              </a:rPr>
              <a:t> = </a:t>
            </a:r>
            <a:r>
              <a:rPr sz="2200" lang="tr-TR">
                <a:latin typeface="Times New Roman"/>
              </a:rPr>
              <a:t>2.262</a:t>
            </a:r>
          </a:p>
          <a:p>
            <a:r>
              <a:rPr sz="2200" lang="tr-TR">
                <a:latin typeface="Times New Roman"/>
              </a:rPr>
              <a:t/>
            </a:r>
          </a:p>
          <a:p>
            <a:r>
              <a:rPr sz="2200" b="1" lang="tr-TR">
                <a:latin typeface="Times New Roman"/>
              </a:rPr>
              <a:t>4. Adım: </a:t>
            </a:r>
            <a:r>
              <a:rPr sz="2200" lang="tr-TR">
                <a:latin typeface="Times New Roman"/>
              </a:rPr>
              <a:t>|t| = </a:t>
            </a:r>
            <a:r>
              <a:rPr sz="2200" lang="tr-TR">
                <a:latin typeface="Times New Roman"/>
              </a:rPr>
              <a:t>0.599</a:t>
            </a:r>
            <a:r>
              <a:rPr sz="2200" lang="tr-TR">
                <a:latin typeface="Times New Roman"/>
              </a:rPr>
              <a:t> &lt; </a:t>
            </a:r>
            <a:r>
              <a:rPr sz="2200" lang="tr-TR">
                <a:latin typeface="Times New Roman"/>
              </a:rPr>
              <a:t>2.262</a:t>
            </a:r>
            <a:r>
              <a:rPr sz="2200" lang="tr-TR">
                <a:latin typeface="Times New Roman"/>
              </a:rPr>
              <a:t> ⇒ H</a:t>
            </a:r>
            <a:r>
              <a:rPr sz="2200" lang="tr-TR" baseline="-25000">
                <a:latin typeface="Times New Roman"/>
              </a:rPr>
              <a:t>0</a:t>
            </a:r>
            <a:r>
              <a:rPr sz="2200" lang="tr-TR">
                <a:latin typeface="Times New Roman"/>
              </a:rPr>
              <a:t> reddedilemez (p = </a:t>
            </a:r>
            <a:r>
              <a:rPr sz="2200" lang="tr-TR">
                <a:latin typeface="Times New Roman"/>
              </a:rPr>
              <a:t>0.564</a:t>
            </a:r>
            <a:r>
              <a:rPr sz="2200" lang="tr-TR">
                <a:latin typeface="Times New Roman"/>
              </a:rPr>
              <a:t>).</a:t>
            </a:r>
          </a:p>
          <a:p>
            <a:r>
              <a:rPr sz="2200" lang="tr-TR">
                <a:latin typeface="Times New Roman"/>
              </a:rPr>
              <a:t/>
            </a:r>
          </a:p>
          <a:p>
            <a:r>
              <a:rPr sz="2200" lang="tr-TR">
                <a:latin typeface="Times New Roman"/>
              </a:rPr>
              <a:t>Kur dışsal kabul edilebilir; EKK tahmincileri tutarlıdır.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3 Slayt Numarası Yer Tutucusu">
            <a:extLst>
              <a:ext uri="{FF2B5EF4-FFF2-40B4-BE49-F238E27FC236}">
                <a16:creationId xmlns:a16="http://schemas.microsoft.com/office/drawing/2014/main" id="{009A7483-EACB-3D31-1C63-BAE78FFC1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2C0B79-3FAE-4AFF-A275-78B80BCC190C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2F7E65-6E65-F5FC-3190-0BF4BF28BEBF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304800"/>
            <a:ext cx="8077200" cy="9906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tr-TR" sz="3600" kern="0">
                <a:latin typeface="+mj-lt"/>
                <a:ea typeface="+mj-ea"/>
                <a:cs typeface="+mj-cs"/>
              </a:rPr>
              <a:t>Ölçme Hataları</a:t>
            </a:r>
            <a:endParaRPr lang="en-US" sz="3600" kern="0">
              <a:latin typeface="+mj-lt"/>
              <a:ea typeface="+mj-ea"/>
              <a:cs typeface="+mj-cs"/>
            </a:endParaRPr>
          </a:p>
        </p:txBody>
      </p:sp>
      <p:sp>
        <p:nvSpPr>
          <p:cNvPr id="155652" name="2 Metin kutusu">
            <a:extLst>
              <a:ext uri="{FF2B5EF4-FFF2-40B4-BE49-F238E27FC236}">
                <a16:creationId xmlns:a16="http://schemas.microsoft.com/office/drawing/2014/main" id="{50CF4DC2-FB2F-A320-E127-27AF51E8C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1928813"/>
            <a:ext cx="8501062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Times New Roman" panose="02020603050405020304" pitchFamily="18" charset="0"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800">
                <a:latin typeface="Times New Roman" panose="02020603050405020304" pitchFamily="18" charset="0"/>
              </a:rPr>
              <a:t>Bağımsız Değişkendeki Ölçme Hataları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Times New Roman" panose="02020603050405020304" pitchFamily="18" charset="0"/>
              <a:buAutoNum type="arabicPeriod"/>
            </a:pPr>
            <a:r>
              <a:rPr lang="tr-TR" altLang="tr-TR" sz="2800">
                <a:latin typeface="Times New Roman" panose="02020603050405020304" pitchFamily="18" charset="0"/>
              </a:rPr>
              <a:t> Bağımlı Değişkendeki Ölçme Hataları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Times New Roman" panose="02020603050405020304" pitchFamily="18" charset="0"/>
              <a:buAutoNum type="arabicPeriod"/>
            </a:pPr>
            <a:r>
              <a:rPr lang="tr-TR" altLang="tr-TR" sz="2800">
                <a:latin typeface="Times New Roman" panose="02020603050405020304" pitchFamily="18" charset="0"/>
              </a:rPr>
              <a:t>Hem Bağımlı Hem de Bağımsız Değişkendeki Ölçme Hataları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3 Slayt Numarası Yer Tutucusu">
            <a:extLst>
              <a:ext uri="{FF2B5EF4-FFF2-40B4-BE49-F238E27FC236}">
                <a16:creationId xmlns:a16="http://schemas.microsoft.com/office/drawing/2014/main" id="{F66AC39A-431C-34D5-8D53-2794F73F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188906-08D2-447A-AD35-0098EA65A503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tr-TR" altLang="tr-TR" sz="1400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9D370B13-0DFC-6149-80DA-879642E623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3838"/>
            <a:ext cx="8077200" cy="776287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200">
                <a:solidFill>
                  <a:schemeClr val="tx1"/>
                </a:solidFill>
              </a:rPr>
              <a:t>1.Bağımsız Değişkendeki Ölçme Hataları</a:t>
            </a:r>
            <a:endParaRPr lang="en-US" altLang="tr-TR" sz="3200">
              <a:solidFill>
                <a:schemeClr val="tx1"/>
              </a:solidFill>
            </a:endParaRPr>
          </a:p>
        </p:txBody>
      </p:sp>
      <p:graphicFrame>
        <p:nvGraphicFramePr>
          <p:cNvPr id="157700" name="Object 15">
            <a:extLst>
              <a:ext uri="{FF2B5EF4-FFF2-40B4-BE49-F238E27FC236}">
                <a16:creationId xmlns:a16="http://schemas.microsoft.com/office/drawing/2014/main" id="{B1A08B63-7A23-08B5-C4B4-F04C54C002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1773238"/>
          <a:ext cx="25749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17600" imgH="228600" progId="Equation.DSMT4">
                  <p:embed/>
                </p:oleObj>
              </mc:Choice>
              <mc:Fallback>
                <p:oleObj name="Equation" r:id="rId3" imgW="1117600" imgH="228600" progId="Equation.DSMT4">
                  <p:embed/>
                  <p:pic>
                    <p:nvPicPr>
                      <p:cNvPr id="157700" name="Object 15">
                        <a:extLst>
                          <a:ext uri="{FF2B5EF4-FFF2-40B4-BE49-F238E27FC236}">
                            <a16:creationId xmlns:a16="http://schemas.microsoft.com/office/drawing/2014/main" id="{B1A08B63-7A23-08B5-C4B4-F04C54C002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773238"/>
                        <a:ext cx="257492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1" name="12 Metin kutusu">
            <a:extLst>
              <a:ext uri="{FF2B5EF4-FFF2-40B4-BE49-F238E27FC236}">
                <a16:creationId xmlns:a16="http://schemas.microsoft.com/office/drawing/2014/main" id="{B80AC4A9-A670-FFDC-3124-A72006A8D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25538"/>
            <a:ext cx="8358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/>
              <a:t>Basit doğrusal regresyon denklemi</a:t>
            </a:r>
          </a:p>
        </p:txBody>
      </p:sp>
      <p:sp>
        <p:nvSpPr>
          <p:cNvPr id="157702" name="14 Metin kutusu">
            <a:extLst>
              <a:ext uri="{FF2B5EF4-FFF2-40B4-BE49-F238E27FC236}">
                <a16:creationId xmlns:a16="http://schemas.microsoft.com/office/drawing/2014/main" id="{7252E2DB-16A0-852D-E148-E72400859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420938"/>
            <a:ext cx="821531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/>
              <a:t>Bağımsız değişken X’de toplamsal ölçme hatası olsun. Bu hata v</a:t>
            </a:r>
            <a:r>
              <a:rPr lang="tr-TR" altLang="tr-TR" sz="2400" b="1" baseline="-25000"/>
              <a:t>i</a:t>
            </a:r>
            <a:r>
              <a:rPr lang="tr-TR" altLang="tr-TR" sz="2400" b="1"/>
              <a:t> ile ifade edilirse, ölçme hatalı bağımsız değişken </a:t>
            </a:r>
          </a:p>
        </p:txBody>
      </p:sp>
      <p:graphicFrame>
        <p:nvGraphicFramePr>
          <p:cNvPr id="47107" name="Object 16">
            <a:extLst>
              <a:ext uri="{FF2B5EF4-FFF2-40B4-BE49-F238E27FC236}">
                <a16:creationId xmlns:a16="http://schemas.microsoft.com/office/drawing/2014/main" id="{23909BA8-6146-56FE-D10A-ED7E3D279A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3716338"/>
          <a:ext cx="18351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4" imgH="241195" progId="Equation.DSMT4">
                  <p:embed/>
                </p:oleObj>
              </mc:Choice>
              <mc:Fallback>
                <p:oleObj name="Equation" r:id="rId5" imgW="774364" imgH="241195" progId="Equation.DSMT4">
                  <p:embed/>
                  <p:pic>
                    <p:nvPicPr>
                      <p:cNvPr id="47107" name="Object 16">
                        <a:extLst>
                          <a:ext uri="{FF2B5EF4-FFF2-40B4-BE49-F238E27FC236}">
                            <a16:creationId xmlns:a16="http://schemas.microsoft.com/office/drawing/2014/main" id="{23909BA8-6146-56FE-D10A-ED7E3D279A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716338"/>
                        <a:ext cx="18351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16 Sağ Ayraç">
            <a:extLst>
              <a:ext uri="{FF2B5EF4-FFF2-40B4-BE49-F238E27FC236}">
                <a16:creationId xmlns:a16="http://schemas.microsoft.com/office/drawing/2014/main" id="{E0FBCC20-2A4A-E810-3F97-7350AB86084A}"/>
              </a:ext>
            </a:extLst>
          </p:cNvPr>
          <p:cNvSpPr>
            <a:spLocks/>
          </p:cNvSpPr>
          <p:nvPr/>
        </p:nvSpPr>
        <p:spPr bwMode="auto">
          <a:xfrm rot="5400000">
            <a:off x="2107407" y="4114006"/>
            <a:ext cx="285750" cy="642937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C00000"/>
            </a:solidFill>
            <a:round/>
            <a:headEnd/>
            <a:tailEnd/>
          </a:ln>
        </p:spPr>
        <p:txBody>
          <a:bodyPr rot="10800000" vert="eaVert" anchor="ctr"/>
          <a:lstStyle/>
          <a:p>
            <a:pPr algn="ctr" eaLnBrk="1" hangingPunct="1">
              <a:defRPr/>
            </a:pPr>
            <a:endParaRPr lang="tr-TR">
              <a:latin typeface="+mn-lt"/>
            </a:endParaRPr>
          </a:p>
        </p:txBody>
      </p:sp>
      <p:sp>
        <p:nvSpPr>
          <p:cNvPr id="47113" name="17 Metin kutusu">
            <a:extLst>
              <a:ext uri="{FF2B5EF4-FFF2-40B4-BE49-F238E27FC236}">
                <a16:creationId xmlns:a16="http://schemas.microsoft.com/office/drawing/2014/main" id="{B1F5BD76-6AA9-A676-284A-056F379F7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013" y="4579938"/>
            <a:ext cx="22145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Ölçme Hatası</a:t>
            </a:r>
          </a:p>
        </p:txBody>
      </p:sp>
      <p:sp>
        <p:nvSpPr>
          <p:cNvPr id="47114" name="18 Metin kutusu">
            <a:extLst>
              <a:ext uri="{FF2B5EF4-FFF2-40B4-BE49-F238E27FC236}">
                <a16:creationId xmlns:a16="http://schemas.microsoft.com/office/drawing/2014/main" id="{8C6C6E9C-C1F3-FC48-C461-B76F2CD63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229225"/>
            <a:ext cx="85725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/>
              <a:t>olur. v</a:t>
            </a:r>
            <a:r>
              <a:rPr lang="tr-TR" altLang="tr-TR" sz="2400" baseline="-25000"/>
              <a:t>i</a:t>
            </a:r>
            <a:r>
              <a:rPr lang="tr-TR" altLang="tr-TR" sz="2400"/>
              <a:t>, temel varsayımları sağlamakta, e</a:t>
            </a:r>
            <a:r>
              <a:rPr lang="tr-TR" altLang="tr-TR" sz="2400" baseline="-25000"/>
              <a:t>i</a:t>
            </a:r>
            <a:r>
              <a:rPr lang="tr-TR" altLang="tr-TR" sz="2400"/>
              <a:t> ile v</a:t>
            </a:r>
            <a:r>
              <a:rPr lang="tr-TR" altLang="tr-TR" sz="2400" baseline="-25000"/>
              <a:t>i</a:t>
            </a:r>
            <a:r>
              <a:rPr lang="tr-TR" altLang="tr-TR" sz="2400"/>
              <a:t>’nin bağımsız olduğu varsayılsın.</a:t>
            </a:r>
            <a:r>
              <a:rPr lang="tr-TR" altLang="tr-TR" sz="2400" baseline="-25000"/>
              <a:t> </a:t>
            </a:r>
            <a:r>
              <a:rPr lang="tr-TR" altLang="tr-TR" sz="2400"/>
              <a:t>     </a:t>
            </a:r>
          </a:p>
        </p:txBody>
      </p:sp>
      <p:sp>
        <p:nvSpPr>
          <p:cNvPr id="157707" name="Text Box 12">
            <a:extLst>
              <a:ext uri="{FF2B5EF4-FFF2-40B4-BE49-F238E27FC236}">
                <a16:creationId xmlns:a16="http://schemas.microsoft.com/office/drawing/2014/main" id="{4F5EBA15-6AC1-2F73-31D9-76CAD1854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1628775"/>
            <a:ext cx="93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/>
              <a:t>(1)</a:t>
            </a:r>
          </a:p>
        </p:txBody>
      </p:sp>
      <p:sp>
        <p:nvSpPr>
          <p:cNvPr id="157708" name="Text Box 13">
            <a:extLst>
              <a:ext uri="{FF2B5EF4-FFF2-40B4-BE49-F238E27FC236}">
                <a16:creationId xmlns:a16="http://schemas.microsoft.com/office/drawing/2014/main" id="{51F4D669-6858-2CD8-59E6-40280FB02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3789363"/>
            <a:ext cx="93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/>
              <a:t>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nimBg="1" autoUpdateAnimBg="0"/>
      <p:bldP spid="17" grpId="0" animBg="1"/>
      <p:bldP spid="47113" grpId="0"/>
      <p:bldP spid="47114" grpId="0"/>
    </p:bld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546" name="3 Slayt Numarası Yer Tutucusu">
            <a:extLst>
              <a:ext uri="{FF2B5EF4-FFF2-40B4-BE49-F238E27FC236}">
                <a16:creationId xmlns:a16="http://schemas.microsoft.com/office/drawing/2014/main" id="{44B5EFAF-9302-99F4-5BDC-B498B2E4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6BE864-1FA2-479E-8033-00D90ADC2B53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36ECF24-0560-46AE-C034-66F67DA45C6A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142875"/>
            <a:ext cx="8077200" cy="9906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tr-TR" sz="2800" kern="0" dirty="0">
                <a:latin typeface="+mj-lt"/>
                <a:ea typeface="+mj-ea"/>
                <a:cs typeface="+mj-cs"/>
              </a:rPr>
              <a:t>Bağımsız Değişkendeki Ölçme Hatasının Sonucu</a:t>
            </a:r>
            <a:endParaRPr lang="en-US" sz="32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108547" name="TextBox 108546"/>
          <p:cNvSpPr txBox="1"/>
          <p:nvPr/>
        </p:nvSpPr>
        <p:spPr>
          <a:xfrm>
            <a:off x="274320" y="10972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(1) ve (2)’de X = X* − v yazılırsa: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48" name="Denklem"/>
              <p:cNvSpPr txBox="1"/>
              <p:nvPr/>
            </p:nvSpPr>
            <p:spPr>
              <a:xfrm>
                <a:off x="640080" y="1554480"/>
                <a:ext cx="5316321" cy="384048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sSubSup>
                        <m:e>
                          <m:r>
                            <a:rPr lang="en-US" sz="2200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sSubSup>
                        <m:e>
                          <m:r>
                            <a:rPr lang="en-US" sz="2200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108548" name="Picture 108547" descr="eq0029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40080" y="1554480"/>
                <a:ext cx="4922520" cy="365760"/>
              </a:xfrm>
              <a:prstGeom prst="rect">
                <a:avLst/>
              </a:prstGeom>
            </p:spPr>
          </p:pic>
        </mc:Fallback>
      </mc:AlternateContent>
      <p:sp>
        <p:nvSpPr>
          <p:cNvPr id="108549" name="TextBox 108548"/>
          <p:cNvSpPr txBox="1"/>
          <p:nvPr/>
        </p:nvSpPr>
        <p:spPr>
          <a:xfrm>
            <a:off x="274320" y="22402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Yeni hata terimi u, gözlenen X* ile ilişkilidir: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50" name="Denklem"/>
              <p:cNvSpPr txBox="1"/>
              <p:nvPr/>
            </p:nvSpPr>
            <p:spPr>
              <a:xfrm>
                <a:off x="640080" y="2697480"/>
                <a:ext cx="5908852" cy="38084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(</m:t>
                      </m:r>
                      <m:sSubSup>
                        <m:e>
                          <m:r>
                            <a:rPr lang="en-US" sz="2200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,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,</m:t>
                      </m:r>
                      <m:r>
                        <a:rPr lang="en-US" sz="2200"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sSubSup>
                        <m:e>
                          <m:r>
                            <a:rPr lang="en-US" sz="2200">
                              <a:latin typeface="Cambria Math"/>
                            </a:rPr>
                            <m:t>σ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v</m:t>
                          </m:r>
                        </m:sub>
                        <m:sup>
                          <m:r>
                            <a:rPr lang="en-US" sz="220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≠</m:t>
                      </m:r>
                      <m:r>
                        <a:rPr lang="en-US" sz="2200">
                          <a:latin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08550" name="Picture 108549" descr="eq0030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080" y="2697480"/>
                <a:ext cx="5471160" cy="362712"/>
              </a:xfrm>
              <a:prstGeom prst="rect">
                <a:avLst/>
              </a:prstGeom>
            </p:spPr>
          </p:pic>
        </mc:Fallback>
      </mc:AlternateContent>
      <p:sp>
        <p:nvSpPr>
          <p:cNvPr id="108551" name="TextBox 108550"/>
          <p:cNvSpPr txBox="1"/>
          <p:nvPr/>
        </p:nvSpPr>
        <p:spPr>
          <a:xfrm>
            <a:off x="274320" y="33832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EKK’nin temel varsayımı bozulur; örneklem büyüse de sapma kalkmaz: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52" name="Denklem"/>
              <p:cNvSpPr txBox="1"/>
              <p:nvPr/>
            </p:nvSpPr>
            <p:spPr>
              <a:xfrm>
                <a:off x="640080" y="3840480"/>
                <a:ext cx="4332061" cy="59527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m</m:t>
                      </m:r>
                      <m:r>
                        <a:rPr lang="en-US" sz="2200">
                          <a:latin typeface="Cambria Math"/>
                        </a:rPr>
                        <m:t> 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sSubSup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200">
                                  <a:latin typeface="Cambria Math"/>
                                </a:rPr>
                                <m:t>X</m:t>
                              </m:r>
                            </m:sub>
                            <m:sup>
                              <m:r>
                                <a:rPr lang="en-US" sz="220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200">
                                  <a:latin typeface="Cambria Math"/>
                                </a:rPr>
                                <m:t>X</m:t>
                              </m:r>
                            </m:sub>
                            <m:sup>
                              <m:r>
                                <a:rPr lang="en-US" sz="220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200">
                                  <a:latin typeface="Cambria Math"/>
                                </a:rPr>
                                <m:t>v</m:t>
                              </m:r>
                            </m:sub>
                            <m:sup>
                              <m:r>
                                <a:rPr lang="en-US" sz="220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,</m:t>
                      </m:r>
                      <m:r>
                        <a:rPr lang="en-US" sz="2200"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m</m:t>
                      </m:r>
                      <m:r>
                        <a:rPr lang="en-US" sz="2200">
                          <a:latin typeface="Cambria Math"/>
                        </a:rPr>
                        <m:t> 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|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|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108552" name="Picture 108551" descr="eq0031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0080" y="3840480"/>
                <a:ext cx="4011168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108553" name="TextBox 108552"/>
          <p:cNvSpPr txBox="1"/>
          <p:nvPr/>
        </p:nvSpPr>
        <p:spPr>
          <a:xfrm>
            <a:off x="274320" y="4892040"/>
            <a:ext cx="8595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Tahmin sıfıra doğru çekilir (zayıflama sapması, attenuation bias). Ölçme hatasının payı σ</a:t>
            </a:r>
            <a:r>
              <a:rPr sz="2000" lang="tr-TR" baseline="30000">
                <a:latin typeface="Times New Roman"/>
              </a:rPr>
              <a:t>2</a:t>
            </a:r>
            <a:r>
              <a:rPr sz="2000" lang="tr-TR" baseline="-25000">
                <a:latin typeface="Times New Roman"/>
              </a:rPr>
              <a:t>v</a:t>
            </a:r>
            <a:r>
              <a:rPr sz="2000" lang="tr-TR">
                <a:latin typeface="Times New Roman"/>
              </a:rPr>
              <a:t>/(σ</a:t>
            </a:r>
            <a:r>
              <a:rPr sz="2000" lang="tr-TR" baseline="30000">
                <a:latin typeface="Times New Roman"/>
              </a:rPr>
              <a:t>2</a:t>
            </a:r>
            <a:r>
              <a:rPr sz="2000" lang="tr-TR" baseline="-25000">
                <a:latin typeface="Times New Roman"/>
              </a:rPr>
              <a:t>X</a:t>
            </a:r>
            <a:r>
              <a:rPr sz="2000" lang="tr-TR">
                <a:latin typeface="Times New Roman"/>
              </a:rPr>
              <a:t> + σ</a:t>
            </a:r>
            <a:r>
              <a:rPr sz="2000" lang="tr-TR" baseline="30000">
                <a:latin typeface="Times New Roman"/>
              </a:rPr>
              <a:t>2</a:t>
            </a:r>
            <a:r>
              <a:rPr sz="2000" lang="tr-TR" baseline="-25000">
                <a:latin typeface="Times New Roman"/>
              </a:rPr>
              <a:t>v</a:t>
            </a:r>
            <a:r>
              <a:rPr sz="2000" lang="tr-TR">
                <a:latin typeface="Times New Roman"/>
              </a:rPr>
              <a:t>) büyüdükçe sapma artar.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3 Slayt Numarası Yer Tutucusu">
            <a:extLst>
              <a:ext uri="{FF2B5EF4-FFF2-40B4-BE49-F238E27FC236}">
                <a16:creationId xmlns:a16="http://schemas.microsoft.com/office/drawing/2014/main" id="{A88AF9CB-C30E-5DC3-9E45-DE304359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1052F9-58A9-4F0D-A860-6F6BBDE3D964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tr-TR" altLang="tr-TR" sz="1400"/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E377225D-32E9-E6FB-6178-09ACD55DC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1428750"/>
            <a:ext cx="2928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= </a:t>
            </a:r>
            <a:r>
              <a:rPr lang="en-US" altLang="tr-TR" sz="2400">
                <a:latin typeface="Symbol" panose="05050102010706020507" pitchFamily="18" charset="2"/>
              </a:rPr>
              <a:t>a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>
                <a:latin typeface="Times New Roman" panose="02020603050405020304" pitchFamily="18" charset="0"/>
              </a:rPr>
              <a:t>X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 +</a:t>
            </a:r>
            <a:r>
              <a:rPr lang="tr-TR" altLang="tr-TR" sz="2400">
                <a:latin typeface="Times New Roman" panose="02020603050405020304" pitchFamily="18" charset="0"/>
              </a:rPr>
              <a:t>e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endParaRPr lang="tr-TR" altLang="tr-TR" sz="2400" baseline="-25000">
              <a:latin typeface="Times New Roman" panose="02020603050405020304" pitchFamily="18" charset="0"/>
            </a:endParaRP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FD38A9E5-7880-53A3-2A7B-2C2EF6A18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276475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</a:t>
            </a:r>
            <a:r>
              <a:rPr lang="tr-TR" altLang="tr-TR" sz="2400" baseline="30000">
                <a:latin typeface="Times New Roman" panose="02020603050405020304" pitchFamily="18" charset="0"/>
              </a:rPr>
              <a:t>*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 = Y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tr-TR" altLang="tr-TR" sz="2400"/>
              <a:t>w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endParaRPr lang="tr-TR" altLang="tr-TR" sz="2400" baseline="-25000">
              <a:latin typeface="Times New Roman" panose="02020603050405020304" pitchFamily="18" charset="0"/>
            </a:endParaRPr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74F21A02-E357-6F50-B710-49B5D424D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34290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</a:t>
            </a:r>
            <a:r>
              <a:rPr lang="tr-TR" altLang="tr-TR" sz="2400" baseline="30000">
                <a:latin typeface="Times New Roman" panose="02020603050405020304" pitchFamily="18" charset="0"/>
              </a:rPr>
              <a:t>*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 = (</a:t>
            </a:r>
            <a:r>
              <a:rPr lang="en-US" altLang="tr-TR" sz="2400">
                <a:latin typeface="Symbol" panose="05050102010706020507" pitchFamily="18" charset="2"/>
              </a:rPr>
              <a:t>a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>
                <a:latin typeface="Times New Roman" panose="02020603050405020304" pitchFamily="18" charset="0"/>
              </a:rPr>
              <a:t>X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 +</a:t>
            </a:r>
            <a:r>
              <a:rPr lang="tr-TR" altLang="tr-TR" sz="2400">
                <a:latin typeface="Times New Roman" panose="02020603050405020304" pitchFamily="18" charset="0"/>
              </a:rPr>
              <a:t>e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) + </a:t>
            </a:r>
            <a:r>
              <a:rPr lang="tr-TR" altLang="tr-TR" sz="2400"/>
              <a:t>w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endParaRPr lang="tr-TR" altLang="tr-TR" sz="2400" baseline="-25000">
              <a:latin typeface="Times New Roman" panose="02020603050405020304" pitchFamily="18" charset="0"/>
            </a:endParaRPr>
          </a:p>
        </p:txBody>
      </p:sp>
      <p:sp>
        <p:nvSpPr>
          <p:cNvPr id="21510" name="Text Box 6">
            <a:extLst>
              <a:ext uri="{FF2B5EF4-FFF2-40B4-BE49-F238E27FC236}">
                <a16:creationId xmlns:a16="http://schemas.microsoft.com/office/drawing/2014/main" id="{1E236547-E93A-1AF4-BDED-D98CB78BD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428625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Y</a:t>
            </a:r>
            <a:r>
              <a:rPr lang="tr-TR" altLang="tr-TR" sz="2400" baseline="30000">
                <a:latin typeface="Times New Roman" panose="02020603050405020304" pitchFamily="18" charset="0"/>
              </a:rPr>
              <a:t>*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 = </a:t>
            </a:r>
            <a:r>
              <a:rPr lang="en-US" altLang="tr-TR" sz="2400">
                <a:latin typeface="Symbol" panose="05050102010706020507" pitchFamily="18" charset="2"/>
              </a:rPr>
              <a:t>a</a:t>
            </a:r>
            <a:r>
              <a:rPr lang="en-US" altLang="tr-TR" sz="2400">
                <a:latin typeface="Times New Roman" panose="02020603050405020304" pitchFamily="18" charset="0"/>
              </a:rPr>
              <a:t> + </a:t>
            </a:r>
            <a:r>
              <a:rPr lang="en-US" altLang="tr-TR" sz="2400">
                <a:latin typeface="Symbol" panose="05050102010706020507" pitchFamily="18" charset="2"/>
              </a:rPr>
              <a:t>b</a:t>
            </a:r>
            <a:r>
              <a:rPr lang="en-US" altLang="tr-TR" sz="2400">
                <a:latin typeface="Times New Roman" panose="02020603050405020304" pitchFamily="18" charset="0"/>
              </a:rPr>
              <a:t>X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 +v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endParaRPr lang="tr-TR" altLang="tr-TR" sz="2400" baseline="-25000">
              <a:latin typeface="Times New Roman" panose="02020603050405020304" pitchFamily="18" charset="0"/>
            </a:endParaRPr>
          </a:p>
        </p:txBody>
      </p:sp>
      <p:sp>
        <p:nvSpPr>
          <p:cNvPr id="21513" name="AutoShape 9">
            <a:extLst>
              <a:ext uri="{FF2B5EF4-FFF2-40B4-BE49-F238E27FC236}">
                <a16:creationId xmlns:a16="http://schemas.microsoft.com/office/drawing/2014/main" id="{A0E152F2-BB7D-E485-83EA-FB07B402B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1571625"/>
            <a:ext cx="1066800" cy="228600"/>
          </a:xfrm>
          <a:prstGeom prst="rightArrow">
            <a:avLst>
              <a:gd name="adj1" fmla="val 50000"/>
              <a:gd name="adj2" fmla="val 1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21514" name="AutoShape 10">
            <a:extLst>
              <a:ext uri="{FF2B5EF4-FFF2-40B4-BE49-F238E27FC236}">
                <a16:creationId xmlns:a16="http://schemas.microsoft.com/office/drawing/2014/main" id="{90BC0F1B-ABBF-E08F-0C05-32393C3F4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4429125"/>
            <a:ext cx="1066800" cy="228600"/>
          </a:xfrm>
          <a:prstGeom prst="rightArrow">
            <a:avLst>
              <a:gd name="adj1" fmla="val 50000"/>
              <a:gd name="adj2" fmla="val 1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202746A-349A-0E7E-6B17-6E0B9EBC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2875"/>
            <a:ext cx="8583613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tr-TR" altLang="tr-TR" sz="3600"/>
              <a:t>2.Bağımlı Değişkendeki Ölçme Hataları</a:t>
            </a:r>
            <a:endParaRPr lang="en-US" altLang="tr-TR" sz="3600"/>
          </a:p>
        </p:txBody>
      </p:sp>
      <p:sp>
        <p:nvSpPr>
          <p:cNvPr id="46093" name="Text Box 14">
            <a:extLst>
              <a:ext uri="{FF2B5EF4-FFF2-40B4-BE49-F238E27FC236}">
                <a16:creationId xmlns:a16="http://schemas.microsoft.com/office/drawing/2014/main" id="{CF4417F9-60CC-C838-8EE9-7986496F6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1341438"/>
            <a:ext cx="183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1800" b="1"/>
              <a:t>Doğru Model</a:t>
            </a:r>
          </a:p>
        </p:txBody>
      </p:sp>
      <p:sp>
        <p:nvSpPr>
          <p:cNvPr id="46094" name="Text Box 15">
            <a:extLst>
              <a:ext uri="{FF2B5EF4-FFF2-40B4-BE49-F238E27FC236}">
                <a16:creationId xmlns:a16="http://schemas.microsoft.com/office/drawing/2014/main" id="{4384B832-7B33-4639-7A93-1FEBFDB3C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797425"/>
            <a:ext cx="183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1800" b="1"/>
              <a:t>Yanlış Model</a:t>
            </a:r>
          </a:p>
        </p:txBody>
      </p:sp>
      <p:sp>
        <p:nvSpPr>
          <p:cNvPr id="181262" name="AutoShape 16">
            <a:extLst>
              <a:ext uri="{FF2B5EF4-FFF2-40B4-BE49-F238E27FC236}">
                <a16:creationId xmlns:a16="http://schemas.microsoft.com/office/drawing/2014/main" id="{97CEFB30-5386-63B0-8498-3DFCA5D51E8B}"/>
              </a:ext>
            </a:extLst>
          </p:cNvPr>
          <p:cNvSpPr>
            <a:spLocks/>
          </p:cNvSpPr>
          <p:nvPr/>
        </p:nvSpPr>
        <p:spPr bwMode="auto">
          <a:xfrm rot="16258997" flipH="1">
            <a:off x="1620043" y="2564607"/>
            <a:ext cx="360363" cy="647700"/>
          </a:xfrm>
          <a:prstGeom prst="rightBrace">
            <a:avLst>
              <a:gd name="adj1" fmla="val 1057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181263" name="Text Box 17">
            <a:extLst>
              <a:ext uri="{FF2B5EF4-FFF2-40B4-BE49-F238E27FC236}">
                <a16:creationId xmlns:a16="http://schemas.microsoft.com/office/drawing/2014/main" id="{96E86686-7BC7-9DE1-E970-EEB2D61A6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924175"/>
            <a:ext cx="1655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1800"/>
              <a:t>Ölçme Hatası</a:t>
            </a:r>
          </a:p>
        </p:txBody>
      </p:sp>
      <p:sp>
        <p:nvSpPr>
          <p:cNvPr id="181264" name="Line 18">
            <a:extLst>
              <a:ext uri="{FF2B5EF4-FFF2-40B4-BE49-F238E27FC236}">
                <a16:creationId xmlns:a16="http://schemas.microsoft.com/office/drawing/2014/main" id="{7CEC289C-2D77-49AF-C569-1276CC27EA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1413" y="2636838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181265" name="Text Box 19">
            <a:extLst>
              <a:ext uri="{FF2B5EF4-FFF2-40B4-BE49-F238E27FC236}">
                <a16:creationId xmlns:a16="http://schemas.microsoft.com/office/drawing/2014/main" id="{1EDB9A4E-71F9-D6FD-233E-90ED9FA84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2565400"/>
            <a:ext cx="43926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/>
              <a:t>w, temel varsayımlara sahip, e den bağımsız.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266" name="Denklem"/>
              <p:cNvSpPr txBox="1"/>
              <p:nvPr/>
            </p:nvSpPr>
            <p:spPr>
              <a:xfrm>
                <a:off x="5029200" y="1325880"/>
                <a:ext cx="1589958" cy="64328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(</m:t>
                      </m:r>
                      <m:acc>
                        <m:accPr>
                          <m:chr m:val="̂"/>
                        </m:accPr>
                        <m:e>
                          <m:r>
                            <a:rPr lang="en-US" sz="2400">
                              <a:latin typeface="Cambria Math"/>
                            </a:rPr>
                            <m:t>β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Sup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e</m:t>
                              </m:r>
                            </m:sub>
                            <m:sup>
                              <m:r>
                                <a:rPr lang="en-US" sz="240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∑</m:t>
                          </m:r>
                          <m:sSubSup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240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</a:p>
            </p:txBody>
          </p:sp>
        </mc:Choice>
        <mc:Fallback>
          <p:pic>
            <p:nvPicPr>
              <p:cNvPr id="181266" name="Picture 181265" descr="eq0032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29200" y="1325880"/>
                <a:ext cx="1472184" cy="612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267" name="Denklem"/>
              <p:cNvSpPr txBox="1"/>
              <p:nvPr/>
            </p:nvSpPr>
            <p:spPr>
              <a:xfrm>
                <a:off x="4206240" y="4023360"/>
                <a:ext cx="2626888" cy="64328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(</m:t>
                      </m:r>
                      <m:acc>
                        <m:accPr>
                          <m:chr m:val="̂"/>
                        </m:accPr>
                        <m:e>
                          <m:r>
                            <a:rPr lang="en-US" sz="2400">
                              <a:latin typeface="Cambria Math"/>
                            </a:rPr>
                            <m:t>β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Sup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v</m:t>
                              </m:r>
                            </m:sub>
                            <m:sup>
                              <m:r>
                                <a:rPr lang="en-US" sz="240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∑</m:t>
                          </m:r>
                          <m:sSubSup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240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Sup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e</m:t>
                              </m:r>
                            </m:sub>
                            <m:sup>
                              <m:r>
                                <a:rPr lang="en-US" sz="240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w</m:t>
                              </m:r>
                            </m:sub>
                            <m:sup>
                              <m:r>
                                <a:rPr lang="en-US" sz="240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∑</m:t>
                          </m:r>
                          <m:sSubSup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240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</a:p>
            </p:txBody>
          </p:sp>
        </mc:Choice>
        <mc:Fallback>
          <p:pic>
            <p:nvPicPr>
              <p:cNvPr id="181267" name="Picture 181266" descr="eq0033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06240" y="4023360"/>
                <a:ext cx="2432304" cy="61264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  <p:bldP spid="21508" grpId="0" autoUpdateAnimBg="0"/>
      <p:bldP spid="21509" grpId="0" autoUpdateAnimBg="0"/>
      <p:bldP spid="21510" grpId="0" autoUpdateAnimBg="0"/>
      <p:bldP spid="21513" grpId="0" animBg="1"/>
      <p:bldP spid="21514" grpId="0" animBg="1"/>
      <p:bldP spid="12" grpId="0" animBg="1" autoUpdateAnimBg="0"/>
      <p:bldP spid="46093" grpId="0"/>
      <p:bldP spid="4609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Text Box 4">
            <a:extLst>
              <a:ext uri="{FF2B5EF4-FFF2-40B4-BE49-F238E27FC236}">
                <a16:creationId xmlns:a16="http://schemas.microsoft.com/office/drawing/2014/main" id="{D72AB2F4-F723-7182-E55D-338E2334A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76250"/>
            <a:ext cx="7993062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tr-TR" altLang="tr-TR" sz="2400"/>
              <a:t>v = e + w, X’ten bağımsızdır ve e ile aynı temel varsayımları sağlar; yalnızca varyansı daha büyüktür. Bu nedenle en küçük kareler tahmincileri sapmasız ve tutarlıdır.  Yani istenen tüm özellikleri taşırlar. </a:t>
            </a:r>
          </a:p>
        </p:txBody>
      </p:sp>
      <p:sp>
        <p:nvSpPr>
          <p:cNvPr id="183299" name="Text Box 5">
            <a:extLst>
              <a:ext uri="{FF2B5EF4-FFF2-40B4-BE49-F238E27FC236}">
                <a16:creationId xmlns:a16="http://schemas.microsoft.com/office/drawing/2014/main" id="{9536C91E-5DB9-B1A7-0856-CD0C66818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357563"/>
            <a:ext cx="7345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tr-TR" altLang="tr-TR" sz="1800"/>
          </a:p>
        </p:txBody>
      </p:sp>
      <p:sp>
        <p:nvSpPr>
          <p:cNvPr id="183300" name="Text Box 6">
            <a:extLst>
              <a:ext uri="{FF2B5EF4-FFF2-40B4-BE49-F238E27FC236}">
                <a16:creationId xmlns:a16="http://schemas.microsoft.com/office/drawing/2014/main" id="{AE2C0B07-7B16-B467-041C-AFEB49BB1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924175"/>
            <a:ext cx="748823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tr-TR" altLang="tr-TR" sz="2400"/>
              <a:t>Bağımlı değişkende ölçme hatası olması durumunda modelin tahmini ile ilgili bir sorun yoktur</a:t>
            </a:r>
            <a:r>
              <a:rPr lang="tr-TR" altLang="tr-TR" sz="1800"/>
              <a:t>. </a:t>
            </a:r>
          </a:p>
        </p:txBody>
      </p:sp>
      <p:sp>
        <p:nvSpPr>
          <p:cNvPr id="46092" name="12 Metin kutusu">
            <a:extLst>
              <a:ext uri="{FF2B5EF4-FFF2-40B4-BE49-F238E27FC236}">
                <a16:creationId xmlns:a16="http://schemas.microsoft.com/office/drawing/2014/main" id="{FA40E87E-DD71-A79C-0248-FAAC23A2A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292600"/>
            <a:ext cx="8497888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Özetle;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tr-TR" altLang="tr-TR" sz="2400">
                <a:latin typeface="Times New Roman" panose="02020603050405020304" pitchFamily="18" charset="0"/>
              </a:rPr>
              <a:t>Katsayılar sapmasız ve tutarlıdır.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tr-TR" altLang="tr-TR" sz="2400">
                <a:latin typeface="Times New Roman" panose="02020603050405020304" pitchFamily="18" charset="0"/>
              </a:rPr>
              <a:t>Tahmin edilen varyanslar ölçme hatasının bulunmadığı duruma göre daha büyüktür.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D6191B80-227C-4FF3-2B07-611F48E33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3838"/>
            <a:ext cx="8078788" cy="973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tr-TR" altLang="tr-TR"/>
              <a:t>3.Bağımlı ve Bağımsız Değişkendeki Ölçme Hataları</a:t>
            </a:r>
            <a:endParaRPr lang="en-US" altLang="tr-TR"/>
          </a:p>
        </p:txBody>
      </p:sp>
      <p:graphicFrame>
        <p:nvGraphicFramePr>
          <p:cNvPr id="184323" name="Object 16">
            <a:extLst>
              <a:ext uri="{FF2B5EF4-FFF2-40B4-BE49-F238E27FC236}">
                <a16:creationId xmlns:a16="http://schemas.microsoft.com/office/drawing/2014/main" id="{51998188-B1F6-253E-5E9D-E2C8EACBC1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700" y="4221163"/>
          <a:ext cx="18351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4" imgH="241195" progId="Equation.DSMT4">
                  <p:embed/>
                </p:oleObj>
              </mc:Choice>
              <mc:Fallback>
                <p:oleObj name="Equation" r:id="rId3" imgW="774364" imgH="241195" progId="Equation.DSMT4">
                  <p:embed/>
                  <p:pic>
                    <p:nvPicPr>
                      <p:cNvPr id="184323" name="Object 16">
                        <a:extLst>
                          <a:ext uri="{FF2B5EF4-FFF2-40B4-BE49-F238E27FC236}">
                            <a16:creationId xmlns:a16="http://schemas.microsoft.com/office/drawing/2014/main" id="{51998188-B1F6-253E-5E9D-E2C8EACBC1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4221163"/>
                        <a:ext cx="18351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AutoShape 7">
            <a:extLst>
              <a:ext uri="{FF2B5EF4-FFF2-40B4-BE49-F238E27FC236}">
                <a16:creationId xmlns:a16="http://schemas.microsoft.com/office/drawing/2014/main" id="{AF47BDCB-47DA-689B-CE87-44BF6BAEB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3284538"/>
            <a:ext cx="936625" cy="719137"/>
          </a:xfrm>
          <a:prstGeom prst="rightArrow">
            <a:avLst>
              <a:gd name="adj1" fmla="val 50000"/>
              <a:gd name="adj2" fmla="val 3256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1800"/>
          </a:p>
        </p:txBody>
      </p:sp>
      <p:sp>
        <p:nvSpPr>
          <p:cNvPr id="58374" name="Text Box 8">
            <a:extLst>
              <a:ext uri="{FF2B5EF4-FFF2-40B4-BE49-F238E27FC236}">
                <a16:creationId xmlns:a16="http://schemas.microsoft.com/office/drawing/2014/main" id="{09739A40-99F5-9A95-D87B-8E1FF218F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2420938"/>
            <a:ext cx="5364163" cy="25479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AutoNum type="arabicPeriod"/>
            </a:pPr>
            <a:r>
              <a:rPr lang="tr-TR" altLang="tr-TR" sz="2400" b="1"/>
              <a:t> </a:t>
            </a:r>
            <a:r>
              <a:rPr lang="tr-TR" altLang="tr-TR" sz="2400"/>
              <a:t>w</a:t>
            </a:r>
            <a:r>
              <a:rPr lang="tr-TR" altLang="tr-TR" sz="2400" baseline="-25000"/>
              <a:t>i</a:t>
            </a:r>
            <a:r>
              <a:rPr lang="tr-TR" altLang="tr-TR" sz="2400"/>
              <a:t> ve v</a:t>
            </a:r>
            <a:r>
              <a:rPr lang="tr-TR" altLang="tr-TR" sz="2400" baseline="-25000"/>
              <a:t>i </a:t>
            </a:r>
            <a:r>
              <a:rPr lang="tr-TR" altLang="tr-TR" sz="2400"/>
              <a:t>temel varsayımlara sahip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AutoNum type="arabicPeriod"/>
            </a:pPr>
            <a:endParaRPr lang="tr-TR" altLang="tr-TR" sz="2400" b="1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AutoNum type="arabicPeriod"/>
            </a:pPr>
            <a:endParaRPr lang="tr-TR" altLang="tr-TR" sz="2400" b="1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AutoNum type="arabicPeriod"/>
            </a:pPr>
            <a:r>
              <a:rPr lang="tr-TR" altLang="tr-TR" sz="2400" b="1"/>
              <a:t> </a:t>
            </a:r>
            <a:r>
              <a:rPr lang="tr-TR" altLang="tr-TR" sz="2400"/>
              <a:t>e</a:t>
            </a:r>
            <a:r>
              <a:rPr lang="tr-TR" altLang="tr-TR" sz="2400" baseline="-25000"/>
              <a:t>i</a:t>
            </a:r>
            <a:r>
              <a:rPr lang="tr-TR" altLang="tr-TR" sz="2400"/>
              <a:t>, v</a:t>
            </a:r>
            <a:r>
              <a:rPr lang="tr-TR" altLang="tr-TR" sz="2400" baseline="-25000"/>
              <a:t>i</a:t>
            </a:r>
            <a:r>
              <a:rPr lang="tr-TR" altLang="tr-TR" sz="2400"/>
              <a:t> ve w</a:t>
            </a:r>
            <a:r>
              <a:rPr lang="tr-TR" altLang="tr-TR" sz="2400" baseline="-25000"/>
              <a:t>i</a:t>
            </a:r>
            <a:r>
              <a:rPr lang="tr-TR" altLang="tr-TR" sz="2400"/>
              <a:t> birbirinden bağımsızdır.</a:t>
            </a:r>
            <a:endParaRPr lang="tr-TR" altLang="tr-TR" sz="2400" b="1"/>
          </a:p>
        </p:txBody>
      </p:sp>
      <p:graphicFrame>
        <p:nvGraphicFramePr>
          <p:cNvPr id="184326" name="Object 3">
            <a:extLst>
              <a:ext uri="{FF2B5EF4-FFF2-40B4-BE49-F238E27FC236}">
                <a16:creationId xmlns:a16="http://schemas.microsoft.com/office/drawing/2014/main" id="{AB892C4E-C05F-CA38-C043-479409D278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2420938"/>
          <a:ext cx="18954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99753" imgH="241195" progId="Equation.DSMT4">
                  <p:embed/>
                </p:oleObj>
              </mc:Choice>
              <mc:Fallback>
                <p:oleObj name="Equation" r:id="rId5" imgW="799753" imgH="241195" progId="Equation.DSMT4">
                  <p:embed/>
                  <p:pic>
                    <p:nvPicPr>
                      <p:cNvPr id="184326" name="Object 3">
                        <a:extLst>
                          <a:ext uri="{FF2B5EF4-FFF2-40B4-BE49-F238E27FC236}">
                            <a16:creationId xmlns:a16="http://schemas.microsoft.com/office/drawing/2014/main" id="{AB892C4E-C05F-CA38-C043-479409D278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420938"/>
                        <a:ext cx="18954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7" name="Text Box 8">
            <a:extLst>
              <a:ext uri="{FF2B5EF4-FFF2-40B4-BE49-F238E27FC236}">
                <a16:creationId xmlns:a16="http://schemas.microsoft.com/office/drawing/2014/main" id="{4691F452-7F33-C395-5CEC-28260EE42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2492375"/>
            <a:ext cx="93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/>
              <a:t>(3)</a:t>
            </a:r>
          </a:p>
        </p:txBody>
      </p:sp>
      <p:sp>
        <p:nvSpPr>
          <p:cNvPr id="184328" name="Text Box 9">
            <a:extLst>
              <a:ext uri="{FF2B5EF4-FFF2-40B4-BE49-F238E27FC236}">
                <a16:creationId xmlns:a16="http://schemas.microsoft.com/office/drawing/2014/main" id="{4AB526FE-B121-344D-B310-674AD50EA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4292600"/>
            <a:ext cx="93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/>
              <a:t>(4)</a:t>
            </a:r>
          </a:p>
        </p:txBody>
      </p:sp>
      <p:sp>
        <p:nvSpPr>
          <p:cNvPr id="184329" name="3 Slayt Numarası Yer Tutucusu">
            <a:extLst>
              <a:ext uri="{FF2B5EF4-FFF2-40B4-BE49-F238E27FC236}">
                <a16:creationId xmlns:a16="http://schemas.microsoft.com/office/drawing/2014/main" id="{E4AF2733-04F8-15E9-C4D8-A42D0E51EAD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6E2C75E-E5C4-41B3-9E78-971FD4CB4290}" type="slidenum">
              <a:rPr lang="tr-TR" altLang="tr-TR" sz="1400"/>
              <a:pPr algn="r" eaLnBrk="1" hangingPunct="1">
                <a:spcBef>
                  <a:spcPct val="0"/>
                </a:spcBef>
                <a:buFontTx/>
                <a:buNone/>
              </a:pPr>
              <a:t>54</a:t>
            </a:fld>
            <a:endParaRPr lang="tr-TR" altLang="tr-TR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8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8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EDBC0A-B883-2922-0F6A-CD86FB0CA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3838"/>
            <a:ext cx="8078788" cy="973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tr-TR" altLang="tr-TR"/>
              <a:t>3.Bağımlı ve Bağımsız Değişkendeki Ölçme Hataları</a:t>
            </a:r>
            <a:endParaRPr lang="en-US" altLang="tr-TR"/>
          </a:p>
        </p:txBody>
      </p:sp>
      <p:sp>
        <p:nvSpPr>
          <p:cNvPr id="192515" name="Text Box 3">
            <a:extLst>
              <a:ext uri="{FF2B5EF4-FFF2-40B4-BE49-F238E27FC236}">
                <a16:creationId xmlns:a16="http://schemas.microsoft.com/office/drawing/2014/main" id="{7F64E7DA-5039-9F52-1A2B-0F0A6F7BF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847975"/>
            <a:ext cx="7993063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A50021"/>
              </a:buClr>
              <a:buFont typeface="Wingdings" panose="05000000000000000000" pitchFamily="2" charset="2"/>
              <a:buChar char="q"/>
            </a:pPr>
            <a:r>
              <a:rPr lang="tr-TR" altLang="tr-TR" sz="2800" b="1"/>
              <a:t> Sapmalı</a:t>
            </a:r>
          </a:p>
          <a:p>
            <a:pPr eaLnBrk="1" hangingPunct="1">
              <a:spcBef>
                <a:spcPct val="50000"/>
              </a:spcBef>
              <a:buClr>
                <a:srgbClr val="A50021"/>
              </a:buClr>
              <a:buFont typeface="Wingdings" panose="05000000000000000000" pitchFamily="2" charset="2"/>
              <a:buChar char="q"/>
            </a:pPr>
            <a:r>
              <a:rPr lang="tr-TR" altLang="tr-TR" sz="2800" b="1"/>
              <a:t> Tutarsız olacaktır.</a:t>
            </a:r>
          </a:p>
        </p:txBody>
      </p:sp>
      <p:sp>
        <p:nvSpPr>
          <p:cNvPr id="192516" name="Text Box 4">
            <a:extLst>
              <a:ext uri="{FF2B5EF4-FFF2-40B4-BE49-F238E27FC236}">
                <a16:creationId xmlns:a16="http://schemas.microsoft.com/office/drawing/2014/main" id="{B271C091-2716-9557-E95B-A57B13AC7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89138"/>
            <a:ext cx="698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800" b="1"/>
              <a:t>Parametre tahmincileri</a:t>
            </a:r>
          </a:p>
        </p:txBody>
      </p:sp>
      <p:sp>
        <p:nvSpPr>
          <p:cNvPr id="192517" name="Text Box 6">
            <a:extLst>
              <a:ext uri="{FF2B5EF4-FFF2-40B4-BE49-F238E27FC236}">
                <a16:creationId xmlns:a16="http://schemas.microsoft.com/office/drawing/2014/main" id="{73E558A5-3D93-D4D2-F471-B2687690D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157788"/>
            <a:ext cx="84248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tr-TR" altLang="tr-TR" sz="1800"/>
          </a:p>
        </p:txBody>
      </p:sp>
      <p:sp>
        <p:nvSpPr>
          <p:cNvPr id="192518" name="Text Box 7">
            <a:extLst>
              <a:ext uri="{FF2B5EF4-FFF2-40B4-BE49-F238E27FC236}">
                <a16:creationId xmlns:a16="http://schemas.microsoft.com/office/drawing/2014/main" id="{1D0A8DEF-3E4A-745B-7561-3408EEB5F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292600"/>
            <a:ext cx="8424862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tr-TR" altLang="tr-TR" sz="2200"/>
              <a:t> </a:t>
            </a:r>
            <a:r>
              <a:rPr lang="tr-TR" altLang="tr-TR" sz="2400"/>
              <a:t>Eğer ölçme hataları sadece bağımlı değişkende ise, EKK tahmin edicileri sapmasız, tutarlı ama daha az etkindir.</a:t>
            </a:r>
          </a:p>
          <a:p>
            <a:pPr algn="just" eaLnBrk="1" hangingPunct="1">
              <a:spcBef>
                <a:spcPct val="50000"/>
              </a:spcBef>
            </a:pPr>
            <a:r>
              <a:rPr lang="tr-TR" altLang="tr-TR" sz="2400"/>
              <a:t> Eğer ölçme hataları bağımsız değişkende ise, EKK tahmincileri hem sapmalı, hem tutarsızdır. </a:t>
            </a:r>
          </a:p>
        </p:txBody>
      </p:sp>
      <p:sp>
        <p:nvSpPr>
          <p:cNvPr id="192519" name="3 Slayt Numarası Yer Tutucusu">
            <a:extLst>
              <a:ext uri="{FF2B5EF4-FFF2-40B4-BE49-F238E27FC236}">
                <a16:creationId xmlns:a16="http://schemas.microsoft.com/office/drawing/2014/main" id="{A1A90587-4CAB-5C85-E32D-7C2A69A7413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D32B5BC-991E-4C84-AE66-DA1CCCB49717}" type="slidenum">
              <a:rPr lang="tr-TR" altLang="tr-TR" sz="1400"/>
              <a:pPr algn="r" eaLnBrk="1" hangingPunct="1">
                <a:spcBef>
                  <a:spcPct val="0"/>
                </a:spcBef>
                <a:buFontTx/>
                <a:buNone/>
              </a:pPr>
              <a:t>55</a:t>
            </a:fld>
            <a:endParaRPr lang="tr-TR" altLang="tr-TR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3 Slayt Numarası Yer Tutucusu">
            <a:extLst>
              <a:ext uri="{FF2B5EF4-FFF2-40B4-BE49-F238E27FC236}">
                <a16:creationId xmlns:a16="http://schemas.microsoft.com/office/drawing/2014/main" id="{9ECE9878-3761-1067-1ABC-747EAB3D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D0C196-023C-4245-8229-511B62307A35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36ECF24-0560-46AE-C034-66F67DA45C6A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142875"/>
            <a:ext cx="8077200" cy="9906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tr-TR" sz="3200" kern="0" dirty="0">
                <a:latin typeface="+mj-lt"/>
                <a:ea typeface="+mj-ea"/>
                <a:cs typeface="+mj-cs"/>
              </a:rPr>
              <a:t>Bağımsız Değişkenlerin Ölçme Hatalı Olması Durumunda Çözüm Yolları</a:t>
            </a:r>
            <a:endParaRPr lang="en-US" sz="32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194564" name="2 Metin kutusu">
            <a:extLst>
              <a:ext uri="{FF2B5EF4-FFF2-40B4-BE49-F238E27FC236}">
                <a16:creationId xmlns:a16="http://schemas.microsoft.com/office/drawing/2014/main" id="{A0718060-B153-3C73-DBD4-801572915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1785938"/>
            <a:ext cx="500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Times New Roman" panose="02020603050405020304" pitchFamily="18" charset="0"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" name="4 Sağ Ok">
            <a:extLst>
              <a:ext uri="{FF2B5EF4-FFF2-40B4-BE49-F238E27FC236}">
                <a16:creationId xmlns:a16="http://schemas.microsoft.com/office/drawing/2014/main" id="{3DEFB585-D7F0-F0FD-8B41-6A0B6D958191}"/>
              </a:ext>
            </a:extLst>
          </p:cNvPr>
          <p:cNvSpPr/>
          <p:nvPr/>
        </p:nvSpPr>
        <p:spPr>
          <a:xfrm>
            <a:off x="2428875" y="1857375"/>
            <a:ext cx="1143000" cy="3571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 sz="2400"/>
          </a:p>
        </p:txBody>
      </p:sp>
      <p:sp>
        <p:nvSpPr>
          <p:cNvPr id="194567" name="5 Metin kutusu">
            <a:extLst>
              <a:ext uri="{FF2B5EF4-FFF2-40B4-BE49-F238E27FC236}">
                <a16:creationId xmlns:a16="http://schemas.microsoft.com/office/drawing/2014/main" id="{56F9D03A-724D-7FBD-604A-8A968B9B4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63" y="1752600"/>
            <a:ext cx="2857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EKK uygulanabilir.</a:t>
            </a:r>
          </a:p>
        </p:txBody>
      </p:sp>
      <p:sp>
        <p:nvSpPr>
          <p:cNvPr id="194568" name="6 Metin kutusu">
            <a:extLst>
              <a:ext uri="{FF2B5EF4-FFF2-40B4-BE49-F238E27FC236}">
                <a16:creationId xmlns:a16="http://schemas.microsoft.com/office/drawing/2014/main" id="{8560015E-57A0-ADAE-0E37-5A55FE7D9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114800"/>
            <a:ext cx="6157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Times New Roman" panose="02020603050405020304" pitchFamily="18" charset="0"/>
              <a:buAutoNum type="arabicPeriod" startAt="2"/>
            </a:pPr>
            <a:r>
              <a:rPr lang="tr-TR" altLang="tr-TR" sz="2800">
                <a:latin typeface="Times New Roman" panose="02020603050405020304" pitchFamily="18" charset="0"/>
              </a:rPr>
              <a:t>Araç Değişken (IV) Yöntemi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569" name="Denklem"/>
              <p:cNvSpPr txBox="1"/>
              <p:nvPr/>
            </p:nvSpPr>
            <p:spPr>
              <a:xfrm>
                <a:off x="777240" y="1783080"/>
                <a:ext cx="1073139" cy="40965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e>
                          <m:r>
                            <a:rPr lang="en-US" sz="2400">
                              <a:latin typeface="Cambria Math"/>
                            </a:rPr>
                            <m:t>σ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v</m:t>
                          </m:r>
                        </m:sub>
                        <m:sup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≪</m:t>
                      </m:r>
                      <m:sSubSup>
                        <m:e>
                          <m:r>
                            <a:rPr lang="en-US" sz="2400">
                              <a:latin typeface="Cambria Math"/>
                            </a:rPr>
                            <m:t>σ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X</m:t>
                          </m:r>
                        </m:sub>
                        <m:sup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pic>
            <p:nvPicPr>
              <p:cNvPr id="194569" name="Picture 194568" descr="eq0034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7240" y="1783080"/>
                <a:ext cx="993648" cy="390144"/>
              </a:xfrm>
              <a:prstGeom prst="rect">
                <a:avLst/>
              </a:prstGeom>
            </p:spPr>
          </p:pic>
        </mc:Fallback>
      </mc:AlternateContent>
      <p:sp>
        <p:nvSpPr>
          <p:cNvPr id="194570" name="TextBox 194569"/>
          <p:cNvSpPr txBox="1"/>
          <p:nvPr/>
        </p:nvSpPr>
        <p:spPr>
          <a:xfrm>
            <a:off x="365760" y="2468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Sapma çarpanı 1’e yakın olduğundan EKK’nin sapması ihmal edilebilir: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571" name="Denklem"/>
              <p:cNvSpPr txBox="1"/>
              <p:nvPr/>
            </p:nvSpPr>
            <p:spPr>
              <a:xfrm>
                <a:off x="777240" y="2926080"/>
                <a:ext cx="2656514" cy="59527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m</m:t>
                      </m:r>
                      <m:r>
                        <a:rPr lang="en-US" sz="2200">
                          <a:latin typeface="Cambria Math"/>
                        </a:rPr>
                        <m:t> 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sSubSup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200">
                                  <a:latin typeface="Cambria Math"/>
                                </a:rPr>
                                <m:t>X</m:t>
                              </m:r>
                            </m:sub>
                            <m:sup>
                              <m:r>
                                <a:rPr lang="en-US" sz="220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200">
                                  <a:latin typeface="Cambria Math"/>
                                </a:rPr>
                                <m:t>X</m:t>
                              </m:r>
                            </m:sub>
                            <m:sup>
                              <m:r>
                                <a:rPr lang="en-US" sz="220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en-US" sz="2200">
                                  <a:latin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200">
                                  <a:latin typeface="Cambria Math"/>
                                </a:rPr>
                                <m:t>v</m:t>
                              </m:r>
                            </m:sub>
                            <m:sup>
                              <m:r>
                                <a:rPr lang="en-US" sz="220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≈</m:t>
                      </m:r>
                      <m:sSub>
                        <m:e>
                          <m:r>
                            <a:rPr lang="en-US" sz="22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20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194571" name="Picture 194570" descr="eq0035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7240" y="2926080"/>
                <a:ext cx="2459736" cy="566928"/>
              </a:xfrm>
              <a:prstGeom prst="rect">
                <a:avLst/>
              </a:prstGeom>
            </p:spPr>
          </p:pic>
        </mc:Fallback>
      </mc:AlternateContent>
      <p:sp>
        <p:nvSpPr>
          <p:cNvPr id="194572" name="TextBox 194571"/>
          <p:cNvSpPr txBox="1"/>
          <p:nvPr/>
        </p:nvSpPr>
        <p:spPr>
          <a:xfrm>
            <a:off x="548640" y="4709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X* ile ilişkili, ölçme hatası v ile ilişkisiz bir araç Z bulunursa β̂</a:t>
            </a:r>
            <a:r>
              <a:rPr sz="2000" lang="tr-TR" baseline="-25000">
                <a:latin typeface="Times New Roman"/>
              </a:rPr>
              <a:t>IV</a:t>
            </a:r>
            <a:r>
              <a:rPr sz="2000" lang="tr-TR">
                <a:latin typeface="Times New Roman"/>
              </a:rPr>
              <a:t> = Σyz / Σx*z tutarlıdır (bkz. Hausman bölümü).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3 Slayt Numarası Yer Tutucusu">
            <a:extLst>
              <a:ext uri="{FF2B5EF4-FFF2-40B4-BE49-F238E27FC236}">
                <a16:creationId xmlns:a16="http://schemas.microsoft.com/office/drawing/2014/main" id="{BB8BD036-29EB-61C1-E26F-F811E5E6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9EB7C6-C80D-499D-9E3A-576787119D69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tr-TR" altLang="tr-TR" sz="1400"/>
          </a:p>
        </p:txBody>
      </p:sp>
      <p:sp>
        <p:nvSpPr>
          <p:cNvPr id="196611" name="Rectangle 2">
            <a:extLst>
              <a:ext uri="{FF2B5EF4-FFF2-40B4-BE49-F238E27FC236}">
                <a16:creationId xmlns:a16="http://schemas.microsoft.com/office/drawing/2014/main" id="{7FA7894B-271C-3E1B-CC89-5ACB11D0A74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46100" y="384175"/>
            <a:ext cx="7759700" cy="661988"/>
          </a:xfrm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tr-TR" sz="3600"/>
              <a:t>Leamer’</a:t>
            </a:r>
            <a:r>
              <a:rPr lang="tr-TR" altLang="tr-TR" sz="3600"/>
              <a:t>in Model Seçim Yaklaşımı</a:t>
            </a: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4E6ED819-F4EF-BCDE-4486-953EB5BAD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86000"/>
            <a:ext cx="8248650" cy="323215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r-TR" altLang="tr-TR" sz="2400" dirty="0">
                <a:latin typeface="Times New Roman" panose="02020603050405020304" pitchFamily="18" charset="0"/>
              </a:rPr>
              <a:t>Hipotez Testi</a:t>
            </a:r>
            <a:endParaRPr lang="en-US" altLang="tr-TR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tr-TR" altLang="tr-TR" sz="2400" dirty="0">
                <a:latin typeface="Times New Roman" panose="02020603050405020304" pitchFamily="18" charset="0"/>
              </a:rPr>
              <a:t>Yorumlama</a:t>
            </a:r>
            <a:endParaRPr lang="en-US" altLang="tr-TR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tr-TR" altLang="tr-TR" sz="2400" dirty="0">
                <a:latin typeface="Times New Roman" panose="02020603050405020304" pitchFamily="18" charset="0"/>
              </a:rPr>
              <a:t>Basitleştirme</a:t>
            </a:r>
            <a:endParaRPr lang="en-US" altLang="tr-TR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tr-TR" altLang="tr-TR" sz="2400" dirty="0">
                <a:latin typeface="Times New Roman" panose="02020603050405020304" pitchFamily="18" charset="0"/>
              </a:rPr>
              <a:t>Vekil Değişken (proxy) arama</a:t>
            </a:r>
            <a:endParaRPr lang="en-US" altLang="tr-TR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tr-TR" altLang="tr-TR" sz="2400" dirty="0">
                <a:latin typeface="Times New Roman" panose="02020603050405020304" pitchFamily="18" charset="0"/>
              </a:rPr>
              <a:t>Veri seçme</a:t>
            </a:r>
            <a:endParaRPr lang="en-US" altLang="tr-TR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tr-TR" altLang="tr-TR" sz="2400" dirty="0">
                <a:latin typeface="Times New Roman" panose="02020603050405020304" pitchFamily="18" charset="0"/>
              </a:rPr>
              <a:t>Veri sonrası model kurma.</a:t>
            </a:r>
          </a:p>
        </p:txBody>
      </p:sp>
      <p:sp>
        <p:nvSpPr>
          <p:cNvPr id="196613" name="4 Dikdörtgen">
            <a:extLst>
              <a:ext uri="{FF2B5EF4-FFF2-40B4-BE49-F238E27FC236}">
                <a16:creationId xmlns:a16="http://schemas.microsoft.com/office/drawing/2014/main" id="{8D7EF685-00E6-A214-0C3C-01F7DABF5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395413"/>
            <a:ext cx="8358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tr-TR" altLang="tr-TR" sz="2400" u="sng">
                <a:latin typeface="Times New Roman" panose="02020603050405020304" pitchFamily="18" charset="0"/>
              </a:rPr>
              <a:t>Leamer’e göre, model kurma arayışına girmek için 6 neden vardır:</a:t>
            </a:r>
            <a:endParaRPr lang="en-US" altLang="tr-TR" sz="2400" u="sng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nimBg="1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3 Slayt Numarası Yer Tutucusu">
            <a:extLst>
              <a:ext uri="{FF2B5EF4-FFF2-40B4-BE49-F238E27FC236}">
                <a16:creationId xmlns:a16="http://schemas.microsoft.com/office/drawing/2014/main" id="{411C8607-0E94-7C6A-7293-BBA5BDA3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50C990-06B2-4EAD-A09B-1A3C7F8F89C7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tr-TR" altLang="tr-TR" sz="1400"/>
          </a:p>
        </p:txBody>
      </p:sp>
      <p:sp>
        <p:nvSpPr>
          <p:cNvPr id="198659" name="Rectangle 2">
            <a:extLst>
              <a:ext uri="{FF2B5EF4-FFF2-40B4-BE49-F238E27FC236}">
                <a16:creationId xmlns:a16="http://schemas.microsoft.com/office/drawing/2014/main" id="{BD9C7183-E21E-25C3-2A08-2398079845D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46100" y="384175"/>
            <a:ext cx="7759700" cy="661988"/>
          </a:xfrm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tr-TR" sz="3600"/>
              <a:t>Leamer’</a:t>
            </a:r>
            <a:r>
              <a:rPr lang="tr-TR" altLang="tr-TR" sz="3600"/>
              <a:t>in Model Seçim Yaklaşımı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D45FC149-F0E8-484E-A45F-F0EE24531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581525"/>
            <a:ext cx="7696200" cy="1042988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logY = 6.2 + 0.85 logI – 0.67 logP		R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=0.15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s</a:t>
            </a:r>
            <a:r>
              <a:rPr lang="en-US" altLang="tr-TR" sz="2400">
                <a:latin typeface="Times New Roman" panose="02020603050405020304" pitchFamily="18" charset="0"/>
              </a:rPr>
              <a:t>(b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)	(1.1)  (0.21)         (0.13)              	n=150      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98661" name="8 Metin kutusu">
            <a:extLst>
              <a:ext uri="{FF2B5EF4-FFF2-40B4-BE49-F238E27FC236}">
                <a16:creationId xmlns:a16="http://schemas.microsoft.com/office/drawing/2014/main" id="{0FDC3E65-8C06-D769-76B0-D3CEDC6DD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357313"/>
            <a:ext cx="8501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Bir malın talebinin belirlenmesi;</a:t>
            </a:r>
          </a:p>
        </p:txBody>
      </p:sp>
      <p:sp>
        <p:nvSpPr>
          <p:cNvPr id="92166" name="9 Metin kutusu">
            <a:extLst>
              <a:ext uri="{FF2B5EF4-FFF2-40B4-BE49-F238E27FC236}">
                <a16:creationId xmlns:a16="http://schemas.microsoft.com/office/drawing/2014/main" id="{00C5B955-DD4D-EF8E-E2E4-19342026F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143250"/>
            <a:ext cx="8429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Y: Talep edilen miktar (Portakal),    I: Gelir;     P: Fiyat</a:t>
            </a:r>
          </a:p>
        </p:txBody>
      </p:sp>
      <p:sp>
        <p:nvSpPr>
          <p:cNvPr id="92167" name="10 Metin kutusu">
            <a:extLst>
              <a:ext uri="{FF2B5EF4-FFF2-40B4-BE49-F238E27FC236}">
                <a16:creationId xmlns:a16="http://schemas.microsoft.com/office/drawing/2014/main" id="{CD3405ED-E4FD-A4F3-F864-85B223F1F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860800"/>
            <a:ext cx="814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İlk olarak Log-log model ile başlandığı varsayılsın;</a:t>
            </a:r>
          </a:p>
        </p:txBody>
      </p:sp>
      <p:sp>
        <p:nvSpPr>
          <p:cNvPr id="92168" name="9 Metin kutusu">
            <a:extLst>
              <a:ext uri="{FF2B5EF4-FFF2-40B4-BE49-F238E27FC236}">
                <a16:creationId xmlns:a16="http://schemas.microsoft.com/office/drawing/2014/main" id="{216ABEA9-57DE-7CB1-159D-0F57DDDD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1928813"/>
            <a:ext cx="86439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 basit şekilde talep kuramına göre; her şey aynı iken, bir malın talep edilen miktarı tüketicinin geliri ile o malın fiyatına bağlıdır.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nimBg="1" autoUpdateAnimBg="0"/>
      <p:bldP spid="92166" grpId="0"/>
      <p:bldP spid="92167" grpId="0"/>
      <p:bldP spid="9216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1 Slayt Numarası Yer Tutucusu">
            <a:extLst>
              <a:ext uri="{FF2B5EF4-FFF2-40B4-BE49-F238E27FC236}">
                <a16:creationId xmlns:a16="http://schemas.microsoft.com/office/drawing/2014/main" id="{FB63B647-98F0-5DF5-3958-FFC1EECBA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174272-E458-4715-80A4-F00CF0907486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tr-TR" altLang="tr-TR" sz="1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B023C78E-1F66-BFD6-A9F6-7D742E540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292600"/>
            <a:ext cx="7696200" cy="1590675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logY + logP = 7.2 + 0.96 logI 		R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=0.14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s</a:t>
            </a:r>
            <a:r>
              <a:rPr lang="en-US" altLang="tr-TR" sz="2400">
                <a:latin typeface="Times New Roman" panose="02020603050405020304" pitchFamily="18" charset="0"/>
              </a:rPr>
              <a:t>(b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)	 	(1.0)  (0.20)</a:t>
            </a:r>
            <a:endParaRPr lang="tr-TR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t		          (4.8)</a:t>
            </a:r>
            <a:r>
              <a:rPr lang="en-US" altLang="tr-TR" sz="2400">
                <a:latin typeface="Times New Roman" panose="02020603050405020304" pitchFamily="18" charset="0"/>
              </a:rPr>
              <a:t>                    	 n=150 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93188" name="11 Metin kutusu">
            <a:extLst>
              <a:ext uri="{FF2B5EF4-FFF2-40B4-BE49-F238E27FC236}">
                <a16:creationId xmlns:a16="http://schemas.microsoft.com/office/drawing/2014/main" id="{01E4D0F0-C049-4953-234A-1C6DFA30F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1500188"/>
            <a:ext cx="9144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Hipotez test ile arayışta fiyat esnekliği katsayısınının -1 olduğu varsayımı;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73063B-1FEA-48F0-E773-64739C635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913"/>
            <a:ext cx="7759700" cy="661987"/>
          </a:xfrm>
          <a:prstGeom prst="rect">
            <a:avLst/>
          </a:prstGeom>
          <a:noFill/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sz="36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Leamer’</a:t>
            </a:r>
            <a:r>
              <a:rPr lang="tr-TR" sz="36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 Model Seçim Yaklaşımı</a:t>
            </a:r>
            <a:endParaRPr lang="tr-TR" sz="36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46C3866-3620-C729-0569-D4B1A9DF5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571750"/>
            <a:ext cx="7696200" cy="1042988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logY = 6.2 + 0.85 logI – 0.67 logP		R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=0.15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s</a:t>
            </a:r>
            <a:r>
              <a:rPr lang="en-US" altLang="tr-TR" sz="2400">
                <a:latin typeface="Times New Roman" panose="02020603050405020304" pitchFamily="18" charset="0"/>
              </a:rPr>
              <a:t>(b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)	(1.1)  (0.21)         (0.13)              	n=150      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7" name="6 Aşağı Ok">
            <a:extLst>
              <a:ext uri="{FF2B5EF4-FFF2-40B4-BE49-F238E27FC236}">
                <a16:creationId xmlns:a16="http://schemas.microsoft.com/office/drawing/2014/main" id="{AFB2446F-AA07-DFD4-7B3D-B7CB7C4F27D1}"/>
              </a:ext>
            </a:extLst>
          </p:cNvPr>
          <p:cNvSpPr/>
          <p:nvPr/>
        </p:nvSpPr>
        <p:spPr>
          <a:xfrm>
            <a:off x="3348038" y="3716338"/>
            <a:ext cx="642937" cy="5048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/>
          </a:p>
        </p:txBody>
      </p:sp>
      <p:sp>
        <p:nvSpPr>
          <p:cNvPr id="93192" name="7 Metin kutusu">
            <a:extLst>
              <a:ext uri="{FF2B5EF4-FFF2-40B4-BE49-F238E27FC236}">
                <a16:creationId xmlns:a16="http://schemas.microsoft.com/office/drawing/2014/main" id="{88DC72D3-8505-7D56-FD7C-5E37998FE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860800"/>
            <a:ext cx="4071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/>
              <a:t>(Sınırlı regresyon tahmini)</a:t>
            </a:r>
          </a:p>
        </p:txBody>
      </p:sp>
      <p:sp>
        <p:nvSpPr>
          <p:cNvPr id="93193" name="8 Metin kutusu">
            <a:extLst>
              <a:ext uri="{FF2B5EF4-FFF2-40B4-BE49-F238E27FC236}">
                <a16:creationId xmlns:a16="http://schemas.microsoft.com/office/drawing/2014/main" id="{86851132-0090-AA86-5772-A29420BB5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6035675"/>
            <a:ext cx="80724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/>
              <a:t>F testi sonucu fiyat esnekliği katsayısının -1 olduğu hipotezi reddedilir. H</a:t>
            </a:r>
            <a:r>
              <a:rPr lang="tr-TR" altLang="tr-TR" sz="2400" baseline="-25000"/>
              <a:t>0</a:t>
            </a:r>
            <a:r>
              <a:rPr lang="tr-TR" altLang="tr-TR" sz="2400"/>
              <a:t>:b</a:t>
            </a:r>
            <a:r>
              <a:rPr lang="tr-TR" altLang="tr-TR" sz="2400" baseline="-25000"/>
              <a:t>3</a:t>
            </a:r>
            <a:r>
              <a:rPr lang="tr-TR" altLang="tr-TR" sz="2400"/>
              <a:t>=-1</a:t>
            </a:r>
          </a:p>
        </p:txBody>
      </p:sp>
      <p:sp>
        <p:nvSpPr>
          <p:cNvPr id="92166" name="9 Metin kutusu">
            <a:extLst>
              <a:ext uri="{FF2B5EF4-FFF2-40B4-BE49-F238E27FC236}">
                <a16:creationId xmlns:a16="http://schemas.microsoft.com/office/drawing/2014/main" id="{337C20D4-157F-AF3E-33BA-3D539CD09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81075"/>
            <a:ext cx="8429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Y: Talep edilen miktar (Portakal),    I: Gelir;     P: Fiyat</a:t>
            </a:r>
          </a:p>
        </p:txBody>
      </p:sp>
      <p:graphicFrame>
        <p:nvGraphicFramePr>
          <p:cNvPr id="200715" name="Object 12">
            <a:extLst>
              <a:ext uri="{FF2B5EF4-FFF2-40B4-BE49-F238E27FC236}">
                <a16:creationId xmlns:a16="http://schemas.microsoft.com/office/drawing/2014/main" id="{7B9E721E-AE30-2DF3-366E-953F07D789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6332538"/>
          <a:ext cx="16573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3" imgW="723586" imgH="228501" progId="Equation.3">
                  <p:embed/>
                </p:oleObj>
              </mc:Choice>
              <mc:Fallback>
                <p:oleObj name="Denklem" r:id="rId3" imgW="723586" imgH="228501" progId="Equation.3">
                  <p:embed/>
                  <p:pic>
                    <p:nvPicPr>
                      <p:cNvPr id="200715" name="Object 12">
                        <a:extLst>
                          <a:ext uri="{FF2B5EF4-FFF2-40B4-BE49-F238E27FC236}">
                            <a16:creationId xmlns:a16="http://schemas.microsoft.com/office/drawing/2014/main" id="{7B9E721E-AE30-2DF3-366E-953F07D789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6332538"/>
                        <a:ext cx="165735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3188" grpId="0"/>
      <p:bldP spid="5" grpId="0" animBg="1" autoUpdateAnimBg="0"/>
      <p:bldP spid="6" grpId="0" animBg="1" autoUpdateAnimBg="0"/>
      <p:bldP spid="7" grpId="0" animBg="1"/>
      <p:bldP spid="93192" grpId="0"/>
      <p:bldP spid="93193" grpId="0"/>
      <p:bldP spid="9216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3 Slayt Numarası Yer Tutucusu">
            <a:extLst>
              <a:ext uri="{FF2B5EF4-FFF2-40B4-BE49-F238E27FC236}">
                <a16:creationId xmlns:a16="http://schemas.microsoft.com/office/drawing/2014/main" id="{726F55EC-EC52-8B49-605C-6DB623B1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3D80B2-5F60-4352-BCCC-B6E88DDECB79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26F5149-4E70-BA33-AD24-98394AFD5A65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6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Leamer’</a:t>
            </a:r>
            <a:r>
              <a:rPr lang="tr-TR" sz="36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 Model Seçim Yaklaşımı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E7474737-11F9-3E25-0270-CFA2F9E7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714625"/>
            <a:ext cx="72866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logY</a:t>
            </a:r>
            <a:r>
              <a:rPr lang="en-US" altLang="tr-TR" sz="2400" baseline="30000">
                <a:latin typeface="Times New Roman" panose="02020603050405020304" pitchFamily="18" charset="0"/>
              </a:rPr>
              <a:t>N</a:t>
            </a:r>
            <a:r>
              <a:rPr lang="en-US" altLang="tr-TR" sz="2400">
                <a:latin typeface="Times New Roman" panose="02020603050405020304" pitchFamily="18" charset="0"/>
              </a:rPr>
              <a:t> = 7.3 + 0.89 logI</a:t>
            </a:r>
            <a:r>
              <a:rPr lang="en-US" altLang="tr-TR" sz="2400" baseline="30000">
                <a:latin typeface="Times New Roman" panose="02020603050405020304" pitchFamily="18" charset="0"/>
              </a:rPr>
              <a:t>N</a:t>
            </a:r>
            <a:r>
              <a:rPr lang="en-US" altLang="tr-TR" sz="2400">
                <a:latin typeface="Times New Roman" panose="02020603050405020304" pitchFamily="18" charset="0"/>
              </a:rPr>
              <a:t> – 0.60 logP</a:t>
            </a:r>
            <a:r>
              <a:rPr lang="en-US" altLang="tr-TR" sz="2400" baseline="30000">
                <a:latin typeface="Times New Roman" panose="02020603050405020304" pitchFamily="18" charset="0"/>
              </a:rPr>
              <a:t>N</a:t>
            </a:r>
            <a:r>
              <a:rPr lang="en-US" altLang="tr-TR" sz="2400">
                <a:latin typeface="Times New Roman" panose="02020603050405020304" pitchFamily="18" charset="0"/>
              </a:rPr>
              <a:t>	R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=0.18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s</a:t>
            </a:r>
            <a:r>
              <a:rPr lang="en-US" altLang="tr-TR" sz="2400">
                <a:latin typeface="Times New Roman" panose="02020603050405020304" pitchFamily="18" charset="0"/>
              </a:rPr>
              <a:t>(b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)	(1.9)  (0.41)         </a:t>
            </a:r>
            <a:r>
              <a:rPr lang="tr-TR" altLang="tr-TR" sz="2400">
                <a:latin typeface="Times New Roman" panose="02020603050405020304" pitchFamily="18" charset="0"/>
              </a:rPr>
              <a:t>  </a:t>
            </a:r>
            <a:r>
              <a:rPr lang="en-US" altLang="tr-TR" sz="2400">
                <a:latin typeface="Times New Roman" panose="02020603050405020304" pitchFamily="18" charset="0"/>
              </a:rPr>
              <a:t>(0.25)</a:t>
            </a:r>
            <a:endParaRPr lang="tr-TR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t                     (2.17)           (2.4)</a:t>
            </a:r>
            <a:r>
              <a:rPr lang="en-US" altLang="tr-TR" sz="2400">
                <a:latin typeface="Times New Roman" panose="02020603050405020304" pitchFamily="18" charset="0"/>
              </a:rPr>
              <a:t>                    	 n=65 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D5206673-54A9-2DD1-5FB7-139BD3614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4213225"/>
            <a:ext cx="76962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logY</a:t>
            </a:r>
            <a:r>
              <a:rPr lang="en-US" altLang="tr-TR" sz="2400" baseline="30000">
                <a:latin typeface="Times New Roman" panose="02020603050405020304" pitchFamily="18" charset="0"/>
              </a:rPr>
              <a:t>S</a:t>
            </a:r>
            <a:r>
              <a:rPr lang="en-US" altLang="tr-TR" sz="2400">
                <a:latin typeface="Times New Roman" panose="02020603050405020304" pitchFamily="18" charset="0"/>
              </a:rPr>
              <a:t> = 7.0 + 0.82 logI</a:t>
            </a:r>
            <a:r>
              <a:rPr lang="en-US" altLang="tr-TR" sz="2400" baseline="30000">
                <a:latin typeface="Times New Roman" panose="02020603050405020304" pitchFamily="18" charset="0"/>
              </a:rPr>
              <a:t>S</a:t>
            </a:r>
            <a:r>
              <a:rPr lang="en-US" altLang="tr-TR" sz="2400">
                <a:latin typeface="Times New Roman" panose="02020603050405020304" pitchFamily="18" charset="0"/>
              </a:rPr>
              <a:t> – 1.10 logP</a:t>
            </a:r>
            <a:r>
              <a:rPr lang="en-US" altLang="tr-TR" sz="2400" baseline="30000">
                <a:latin typeface="Times New Roman" panose="02020603050405020304" pitchFamily="18" charset="0"/>
              </a:rPr>
              <a:t>S</a:t>
            </a:r>
            <a:r>
              <a:rPr lang="en-US" altLang="tr-TR" sz="2400">
                <a:latin typeface="Times New Roman" panose="02020603050405020304" pitchFamily="18" charset="0"/>
              </a:rPr>
              <a:t>		R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=0.19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s</a:t>
            </a:r>
            <a:r>
              <a:rPr lang="en-US" altLang="tr-TR" sz="2400">
                <a:latin typeface="Times New Roman" panose="02020603050405020304" pitchFamily="18" charset="0"/>
              </a:rPr>
              <a:t>(b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)	(2.2)  </a:t>
            </a:r>
            <a:r>
              <a:rPr lang="tr-TR" altLang="tr-TR" sz="2400">
                <a:latin typeface="Times New Roman" panose="02020603050405020304" pitchFamily="18" charset="0"/>
              </a:rPr>
              <a:t>  </a:t>
            </a:r>
            <a:r>
              <a:rPr lang="en-US" altLang="tr-TR" sz="2400">
                <a:latin typeface="Times New Roman" panose="02020603050405020304" pitchFamily="18" charset="0"/>
              </a:rPr>
              <a:t>(0.31)         (0.26)   </a:t>
            </a:r>
            <a:endParaRPr lang="tr-TR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t                       (2.64)         (4.23)</a:t>
            </a:r>
            <a:r>
              <a:rPr lang="en-US" altLang="tr-TR" sz="2400">
                <a:latin typeface="Times New Roman" panose="02020603050405020304" pitchFamily="18" charset="0"/>
              </a:rPr>
              <a:t>                  n= 85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DBE14DC9-449A-4765-4687-5735CC7EDD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5211763"/>
            <a:ext cx="6748463" cy="46037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E5C8A15-4C9C-03A1-4C50-20D0181A8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2571750"/>
            <a:ext cx="7094538" cy="3089275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94216" name="6 Metin kutusu">
            <a:extLst>
              <a:ext uri="{FF2B5EF4-FFF2-40B4-BE49-F238E27FC236}">
                <a16:creationId xmlns:a16="http://schemas.microsoft.com/office/drawing/2014/main" id="{B1284B6F-1862-5346-A88D-16678270B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557338"/>
            <a:ext cx="85010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Veri seçme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veri setinin Kuzey (N) ve Güney (S) bölgeler olarak ayrılması;</a:t>
            </a:r>
          </a:p>
        </p:txBody>
      </p:sp>
      <p:sp>
        <p:nvSpPr>
          <p:cNvPr id="94217" name="8 Metin kutusu">
            <a:extLst>
              <a:ext uri="{FF2B5EF4-FFF2-40B4-BE49-F238E27FC236}">
                <a16:creationId xmlns:a16="http://schemas.microsoft.com/office/drawing/2014/main" id="{65B097DC-9EF1-3F70-28B7-DDCFE31F0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75" y="2643188"/>
            <a:ext cx="1392238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N: Kuzey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S:Güney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P:Fiyat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I:Gelir</a:t>
            </a:r>
          </a:p>
        </p:txBody>
      </p:sp>
      <p:sp>
        <p:nvSpPr>
          <p:cNvPr id="94218" name="9 Metin kutusu">
            <a:extLst>
              <a:ext uri="{FF2B5EF4-FFF2-40B4-BE49-F238E27FC236}">
                <a16:creationId xmlns:a16="http://schemas.microsoft.com/office/drawing/2014/main" id="{4AF7E15D-14E1-2046-5A08-C1EA9C8C5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806440"/>
            <a:ext cx="85693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/>
              <a:t>Gelir ve fiyat değişkenlerinin bölgesel katsayıları aynıdır hipotezi  ile veri seçme arayışı gerçekleştirilebilir. </a:t>
            </a:r>
          </a:p>
        </p:txBody>
      </p:sp>
      <p:sp>
        <p:nvSpPr>
          <p:cNvPr id="92166" name="9 Metin kutusu">
            <a:extLst>
              <a:ext uri="{FF2B5EF4-FFF2-40B4-BE49-F238E27FC236}">
                <a16:creationId xmlns:a16="http://schemas.microsoft.com/office/drawing/2014/main" id="{B839F12D-9D8B-ADA4-8288-0ADB94C6B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25538"/>
            <a:ext cx="8429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Y: Talep edilen miktar (Portakal),    I: Gelir;     P: Fiyat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autoUpdateAnimBg="0"/>
      <p:bldP spid="4" grpId="0" autoUpdateAnimBg="0"/>
      <p:bldP spid="6" grpId="0" animBg="1"/>
      <p:bldP spid="94216" grpId="0"/>
      <p:bldP spid="94217" grpId="0"/>
      <p:bldP spid="94218" grpId="0"/>
      <p:bldP spid="9216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3 Slayt Numarası Yer Tutucusu">
            <a:extLst>
              <a:ext uri="{FF2B5EF4-FFF2-40B4-BE49-F238E27FC236}">
                <a16:creationId xmlns:a16="http://schemas.microsoft.com/office/drawing/2014/main" id="{EBFC93BD-F89F-3AA7-1513-822860DB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4AA275-C987-4443-8868-ACA627086557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tr-TR" altLang="tr-TR" sz="14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3327C-EA4B-1E6B-BDAD-C15F8C8621D2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6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Leamer’</a:t>
            </a:r>
            <a:r>
              <a:rPr lang="tr-TR" sz="36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 Model Seçim Yaklaşımı</a:t>
            </a:r>
          </a:p>
        </p:txBody>
      </p:sp>
      <p:sp>
        <p:nvSpPr>
          <p:cNvPr id="95236" name="4 Metin kutusu">
            <a:extLst>
              <a:ext uri="{FF2B5EF4-FFF2-40B4-BE49-F238E27FC236}">
                <a16:creationId xmlns:a16="http://schemas.microsoft.com/office/drawing/2014/main" id="{ECA2CFA7-504F-1853-00DD-1CE2EC821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1052513"/>
            <a:ext cx="89296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Vekil değişken arama; Gelir (I) yerine Harcama ( E) değişkeninin kullanılması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83571C0-16E4-4F5A-C243-53E54FC9A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643188"/>
            <a:ext cx="8153400" cy="1042987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logY = 5.2 + 1.1 logE – 0.45 logP			</a:t>
            </a:r>
            <a:r>
              <a:rPr lang="en-US" altLang="tr-TR" sz="2400" b="1">
                <a:latin typeface="Times New Roman" panose="02020603050405020304" pitchFamily="18" charset="0"/>
              </a:rPr>
              <a:t>R</a:t>
            </a:r>
            <a:r>
              <a:rPr lang="en-US" altLang="tr-TR" sz="2400" b="1" baseline="30000">
                <a:latin typeface="Times New Roman" panose="02020603050405020304" pitchFamily="18" charset="0"/>
              </a:rPr>
              <a:t>2</a:t>
            </a:r>
            <a:r>
              <a:rPr lang="en-US" altLang="tr-TR" sz="2400" b="1">
                <a:latin typeface="Times New Roman" panose="02020603050405020304" pitchFamily="18" charset="0"/>
              </a:rPr>
              <a:t>=0.18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S(b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)	(1.0)  (0.18)         (0.16)              		n=150      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95238" name="6 Metin kutusu">
            <a:extLst>
              <a:ext uri="{FF2B5EF4-FFF2-40B4-BE49-F238E27FC236}">
                <a16:creationId xmlns:a16="http://schemas.microsoft.com/office/drawing/2014/main" id="{91E338B0-59DD-3A66-2407-E0D0261A7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292600"/>
            <a:ext cx="8501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Veri sonrası model kurma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B643805-A183-0A07-31DC-741BFE3D5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5072063"/>
            <a:ext cx="8153400" cy="1042987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logY = 3.1 + 0.83 logE + 0.01 logP – 0.56 logGP	R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=0.20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S(b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)	(1.0)  (0.83)         (0.13)          (0.60)         	n=150      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95240" name="8 Metin kutusu">
            <a:extLst>
              <a:ext uri="{FF2B5EF4-FFF2-40B4-BE49-F238E27FC236}">
                <a16:creationId xmlns:a16="http://schemas.microsoft.com/office/drawing/2014/main" id="{EFFB23C7-9D68-9AE2-8A73-CBC706C15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6286500"/>
            <a:ext cx="5143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GP: İkame mal fiyatı (Mandalina Fiyatı)</a:t>
            </a:r>
          </a:p>
        </p:txBody>
      </p:sp>
      <p:sp>
        <p:nvSpPr>
          <p:cNvPr id="9" name="8 Oval">
            <a:extLst>
              <a:ext uri="{FF2B5EF4-FFF2-40B4-BE49-F238E27FC236}">
                <a16:creationId xmlns:a16="http://schemas.microsoft.com/office/drawing/2014/main" id="{379F8694-3EC1-A903-6D56-6C45E692A09F}"/>
              </a:ext>
            </a:extLst>
          </p:cNvPr>
          <p:cNvSpPr/>
          <p:nvPr/>
        </p:nvSpPr>
        <p:spPr>
          <a:xfrm>
            <a:off x="6643688" y="2571750"/>
            <a:ext cx="1428750" cy="500063"/>
          </a:xfrm>
          <a:prstGeom prst="ellipse">
            <a:avLst/>
          </a:prstGeom>
          <a:noFill/>
          <a:ln w="38100" cmpd="thickThin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/>
          </a:p>
        </p:txBody>
      </p:sp>
      <p:grpSp>
        <p:nvGrpSpPr>
          <p:cNvPr id="2" name="16 Grup">
            <a:extLst>
              <a:ext uri="{FF2B5EF4-FFF2-40B4-BE49-F238E27FC236}">
                <a16:creationId xmlns:a16="http://schemas.microsoft.com/office/drawing/2014/main" id="{5849232A-8908-1A05-9240-4C09EE391A44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4005263"/>
            <a:ext cx="2714625" cy="1714500"/>
            <a:chOff x="3214678" y="4000504"/>
            <a:chExt cx="2714644" cy="1714512"/>
          </a:xfrm>
        </p:grpSpPr>
        <p:sp>
          <p:nvSpPr>
            <p:cNvPr id="10" name="9 Oval">
              <a:extLst>
                <a:ext uri="{FF2B5EF4-FFF2-40B4-BE49-F238E27FC236}">
                  <a16:creationId xmlns:a16="http://schemas.microsoft.com/office/drawing/2014/main" id="{9DBEE10E-2036-0576-20EB-17ED82CA1B95}"/>
                </a:ext>
              </a:extLst>
            </p:cNvPr>
            <p:cNvSpPr/>
            <p:nvPr/>
          </p:nvSpPr>
          <p:spPr>
            <a:xfrm>
              <a:off x="3214678" y="4929197"/>
              <a:ext cx="285752" cy="785819"/>
            </a:xfrm>
            <a:prstGeom prst="ellipse">
              <a:avLst/>
            </a:prstGeom>
            <a:noFill/>
            <a:ln w="38100">
              <a:solidFill>
                <a:srgbClr val="A5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tr-TR"/>
            </a:p>
          </p:txBody>
        </p:sp>
        <p:sp>
          <p:nvSpPr>
            <p:cNvPr id="11" name="10 Oval">
              <a:extLst>
                <a:ext uri="{FF2B5EF4-FFF2-40B4-BE49-F238E27FC236}">
                  <a16:creationId xmlns:a16="http://schemas.microsoft.com/office/drawing/2014/main" id="{64425750-FC84-4999-6FAB-01FE74D700C6}"/>
                </a:ext>
              </a:extLst>
            </p:cNvPr>
            <p:cNvSpPr/>
            <p:nvPr/>
          </p:nvSpPr>
          <p:spPr>
            <a:xfrm>
              <a:off x="4643438" y="4929197"/>
              <a:ext cx="285752" cy="785819"/>
            </a:xfrm>
            <a:prstGeom prst="ellipse">
              <a:avLst/>
            </a:prstGeom>
            <a:noFill/>
            <a:ln w="38100">
              <a:solidFill>
                <a:srgbClr val="A5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tr-TR"/>
            </a:p>
          </p:txBody>
        </p:sp>
        <p:cxnSp>
          <p:nvCxnSpPr>
            <p:cNvPr id="13" name="12 Düz Ok Bağlayıcısı">
              <a:extLst>
                <a:ext uri="{FF2B5EF4-FFF2-40B4-BE49-F238E27FC236}">
                  <a16:creationId xmlns:a16="http://schemas.microsoft.com/office/drawing/2014/main" id="{4EA5440C-EF8E-11AB-5A25-337BA2FBFDFD}"/>
                </a:ext>
              </a:extLst>
            </p:cNvPr>
            <p:cNvCxnSpPr>
              <a:stCxn id="10" idx="0"/>
            </p:cNvCxnSpPr>
            <p:nvPr/>
          </p:nvCxnSpPr>
          <p:spPr>
            <a:xfrm rot="5400000" flipH="1" flipV="1">
              <a:off x="3393273" y="4321974"/>
              <a:ext cx="571504" cy="642943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Düz Ok Bağlayıcısı">
              <a:extLst>
                <a:ext uri="{FF2B5EF4-FFF2-40B4-BE49-F238E27FC236}">
                  <a16:creationId xmlns:a16="http://schemas.microsoft.com/office/drawing/2014/main" id="{D5C6455F-835A-4CC8-BBC0-F391EA968C0A}"/>
                </a:ext>
              </a:extLst>
            </p:cNvPr>
            <p:cNvCxnSpPr>
              <a:stCxn id="11" idx="0"/>
            </p:cNvCxnSpPr>
            <p:nvPr/>
          </p:nvCxnSpPr>
          <p:spPr>
            <a:xfrm rot="16200000" flipV="1">
              <a:off x="4143373" y="4286255"/>
              <a:ext cx="571504" cy="71438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816" name="15 Metin kutusu">
              <a:extLst>
                <a:ext uri="{FF2B5EF4-FFF2-40B4-BE49-F238E27FC236}">
                  <a16:creationId xmlns:a16="http://schemas.microsoft.com/office/drawing/2014/main" id="{F77BF56A-5DD4-D349-1388-3E7F0E5DC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68" y="4000504"/>
              <a:ext cx="2357454" cy="366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1800"/>
                <a:t>İşaretleri yanlış</a:t>
              </a:r>
            </a:p>
          </p:txBody>
        </p:sp>
      </p:grpSp>
      <p:sp>
        <p:nvSpPr>
          <p:cNvPr id="92166" name="9 Metin kutusu">
            <a:extLst>
              <a:ext uri="{FF2B5EF4-FFF2-40B4-BE49-F238E27FC236}">
                <a16:creationId xmlns:a16="http://schemas.microsoft.com/office/drawing/2014/main" id="{938780B6-B7AE-91B4-CF15-F75E1CF5E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989138"/>
            <a:ext cx="8429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Y: Talep edilen miktar (Portakal),    I: Gelir;     P: Fiyat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/>
      <p:bldP spid="6" grpId="0" animBg="1" autoUpdateAnimBg="0"/>
      <p:bldP spid="95238" grpId="0"/>
      <p:bldP spid="8" grpId="0" animBg="1"/>
      <p:bldP spid="95240" grpId="0"/>
      <p:bldP spid="9" grpId="0" animBg="1"/>
      <p:bldP spid="9216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3 Slayt Numarası Yer Tutucusu">
            <a:extLst>
              <a:ext uri="{FF2B5EF4-FFF2-40B4-BE49-F238E27FC236}">
                <a16:creationId xmlns:a16="http://schemas.microsoft.com/office/drawing/2014/main" id="{093DD875-D019-73C8-B579-A6D605DA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BC52DE-838A-4565-9A7A-656D39525E46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tr-TR" altLang="tr-TR" sz="1400"/>
          </a:p>
        </p:txBody>
      </p:sp>
      <p:sp>
        <p:nvSpPr>
          <p:cNvPr id="206851" name="Rectangle 2">
            <a:extLst>
              <a:ext uri="{FF2B5EF4-FFF2-40B4-BE49-F238E27FC236}">
                <a16:creationId xmlns:a16="http://schemas.microsoft.com/office/drawing/2014/main" id="{1B114D26-5737-0CC5-0C0B-210421989B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0"/>
            <a:ext cx="7759700" cy="661988"/>
          </a:xfrm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tr-TR" sz="3600"/>
              <a:t>Leamer’</a:t>
            </a:r>
            <a:r>
              <a:rPr lang="tr-TR" altLang="tr-TR" sz="3600"/>
              <a:t>in Model Seçim Yaklaşımı</a:t>
            </a:r>
          </a:p>
        </p:txBody>
      </p:sp>
      <p:sp>
        <p:nvSpPr>
          <p:cNvPr id="27653" name="Text Box 5">
            <a:extLst>
              <a:ext uri="{FF2B5EF4-FFF2-40B4-BE49-F238E27FC236}">
                <a16:creationId xmlns:a16="http://schemas.microsoft.com/office/drawing/2014/main" id="{16F9A26C-0E5A-8E0D-2469-8BC9A7D2C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743200"/>
            <a:ext cx="8153400" cy="1042988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logY = 4.2 + 0.52 log</a:t>
            </a:r>
            <a:r>
              <a:rPr lang="tr-TR" altLang="tr-TR" sz="24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 - 0.61 logP + 0.09 logGP	R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=0.19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S(b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)	(0.9)  (0.19)         (0.14)          (0.31)         	n=150      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27654" name="Text Box 6">
            <a:extLst>
              <a:ext uri="{FF2B5EF4-FFF2-40B4-BE49-F238E27FC236}">
                <a16:creationId xmlns:a16="http://schemas.microsoft.com/office/drawing/2014/main" id="{38CEF0A4-04BB-A54B-E422-84E046D17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4857750"/>
            <a:ext cx="8077200" cy="1042988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logY = 3.7 + 0.58 log(E/P)				R</a:t>
            </a:r>
            <a:r>
              <a:rPr lang="en-US" altLang="tr-TR" sz="2400" baseline="30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=0.19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S(b</a:t>
            </a:r>
            <a:r>
              <a:rPr lang="en-US" altLang="tr-TR" sz="2400" baseline="-25000">
                <a:latin typeface="Times New Roman" panose="02020603050405020304" pitchFamily="18" charset="0"/>
              </a:rPr>
              <a:t>i</a:t>
            </a:r>
            <a:r>
              <a:rPr lang="en-US" altLang="tr-TR" sz="2400">
                <a:latin typeface="Times New Roman" panose="02020603050405020304" pitchFamily="18" charset="0"/>
              </a:rPr>
              <a:t>)	(0.8)  (0.18)        			         	n=150      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96262" name="6 Metin kutusu">
            <a:extLst>
              <a:ext uri="{FF2B5EF4-FFF2-40B4-BE49-F238E27FC236}">
                <a16:creationId xmlns:a16="http://schemas.microsoft.com/office/drawing/2014/main" id="{C36FCD02-FCCA-E4F9-DCF4-210238C2D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628775"/>
            <a:ext cx="8358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Yorumlama</a:t>
            </a:r>
          </a:p>
        </p:txBody>
      </p:sp>
      <p:sp>
        <p:nvSpPr>
          <p:cNvPr id="96263" name="7 Metin kutusu">
            <a:extLst>
              <a:ext uri="{FF2B5EF4-FFF2-40B4-BE49-F238E27FC236}">
                <a16:creationId xmlns:a16="http://schemas.microsoft.com/office/drawing/2014/main" id="{719014B2-7A53-FE2A-1302-01C3480B0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4038600"/>
            <a:ext cx="5429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Basitleştirme</a:t>
            </a:r>
          </a:p>
        </p:txBody>
      </p:sp>
      <p:grpSp>
        <p:nvGrpSpPr>
          <p:cNvPr id="2" name="8 Grup">
            <a:extLst>
              <a:ext uri="{FF2B5EF4-FFF2-40B4-BE49-F238E27FC236}">
                <a16:creationId xmlns:a16="http://schemas.microsoft.com/office/drawing/2014/main" id="{85912413-1129-0C03-DACA-9CE1328A7D34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773238"/>
            <a:ext cx="2714625" cy="1714500"/>
            <a:chOff x="3214678" y="4000504"/>
            <a:chExt cx="2714644" cy="1714512"/>
          </a:xfrm>
        </p:grpSpPr>
        <p:sp>
          <p:nvSpPr>
            <p:cNvPr id="10" name="9 Oval">
              <a:extLst>
                <a:ext uri="{FF2B5EF4-FFF2-40B4-BE49-F238E27FC236}">
                  <a16:creationId xmlns:a16="http://schemas.microsoft.com/office/drawing/2014/main" id="{416780A9-1D77-CD36-DC15-4F035AB2C2C6}"/>
                </a:ext>
              </a:extLst>
            </p:cNvPr>
            <p:cNvSpPr/>
            <p:nvPr/>
          </p:nvSpPr>
          <p:spPr>
            <a:xfrm>
              <a:off x="3214678" y="4929197"/>
              <a:ext cx="285752" cy="785819"/>
            </a:xfrm>
            <a:prstGeom prst="ellipse">
              <a:avLst/>
            </a:prstGeom>
            <a:noFill/>
            <a:ln w="38100">
              <a:solidFill>
                <a:srgbClr val="A5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tr-TR"/>
            </a:p>
          </p:txBody>
        </p:sp>
        <p:sp>
          <p:nvSpPr>
            <p:cNvPr id="11" name="10 Oval">
              <a:extLst>
                <a:ext uri="{FF2B5EF4-FFF2-40B4-BE49-F238E27FC236}">
                  <a16:creationId xmlns:a16="http://schemas.microsoft.com/office/drawing/2014/main" id="{E5CDAE02-1FCD-3B26-ED2E-E535F9B1C970}"/>
                </a:ext>
              </a:extLst>
            </p:cNvPr>
            <p:cNvSpPr/>
            <p:nvPr/>
          </p:nvSpPr>
          <p:spPr>
            <a:xfrm>
              <a:off x="4643438" y="4929197"/>
              <a:ext cx="285752" cy="785819"/>
            </a:xfrm>
            <a:prstGeom prst="ellipse">
              <a:avLst/>
            </a:prstGeom>
            <a:noFill/>
            <a:ln w="38100">
              <a:solidFill>
                <a:srgbClr val="A5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tr-TR"/>
            </a:p>
          </p:txBody>
        </p:sp>
        <p:cxnSp>
          <p:nvCxnSpPr>
            <p:cNvPr id="12" name="11 Düz Ok Bağlayıcısı">
              <a:extLst>
                <a:ext uri="{FF2B5EF4-FFF2-40B4-BE49-F238E27FC236}">
                  <a16:creationId xmlns:a16="http://schemas.microsoft.com/office/drawing/2014/main" id="{88C7C7C6-A2DC-4D3F-82A0-EE4FB4AEAAD6}"/>
                </a:ext>
              </a:extLst>
            </p:cNvPr>
            <p:cNvCxnSpPr>
              <a:stCxn id="10" idx="0"/>
            </p:cNvCxnSpPr>
            <p:nvPr/>
          </p:nvCxnSpPr>
          <p:spPr>
            <a:xfrm rot="5400000" flipH="1" flipV="1">
              <a:off x="3393273" y="4321974"/>
              <a:ext cx="571504" cy="642943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Düz Ok Bağlayıcısı">
              <a:extLst>
                <a:ext uri="{FF2B5EF4-FFF2-40B4-BE49-F238E27FC236}">
                  <a16:creationId xmlns:a16="http://schemas.microsoft.com/office/drawing/2014/main" id="{A3DB551D-8F54-10F5-4594-214DA72762DC}"/>
                </a:ext>
              </a:extLst>
            </p:cNvPr>
            <p:cNvCxnSpPr>
              <a:stCxn id="11" idx="0"/>
            </p:cNvCxnSpPr>
            <p:nvPr/>
          </p:nvCxnSpPr>
          <p:spPr>
            <a:xfrm rot="16200000" flipV="1">
              <a:off x="4143373" y="4286255"/>
              <a:ext cx="571504" cy="71438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864" name="13 Metin kutusu">
              <a:extLst>
                <a:ext uri="{FF2B5EF4-FFF2-40B4-BE49-F238E27FC236}">
                  <a16:creationId xmlns:a16="http://schemas.microsoft.com/office/drawing/2014/main" id="{466CE7F5-7E1E-E1A7-2AA4-14B71E542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68" y="4000504"/>
              <a:ext cx="2357454" cy="366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1800"/>
                <a:t>İşaretleri doğru</a:t>
              </a:r>
            </a:p>
          </p:txBody>
        </p:sp>
      </p:grpSp>
      <p:sp>
        <p:nvSpPr>
          <p:cNvPr id="92166" name="9 Metin kutusu">
            <a:extLst>
              <a:ext uri="{FF2B5EF4-FFF2-40B4-BE49-F238E27FC236}">
                <a16:creationId xmlns:a16="http://schemas.microsoft.com/office/drawing/2014/main" id="{D3EA67B7-2B76-25FF-DEB1-FBEDFFB93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36613"/>
            <a:ext cx="8429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Y: Talep edilen miktar (Portakal),    I: Gelir;   P: Fiyat   E:Harcama</a:t>
            </a:r>
          </a:p>
        </p:txBody>
      </p:sp>
      <p:sp>
        <p:nvSpPr>
          <p:cNvPr id="95240" name="8 Metin kutusu">
            <a:extLst>
              <a:ext uri="{FF2B5EF4-FFF2-40B4-BE49-F238E27FC236}">
                <a16:creationId xmlns:a16="http://schemas.microsoft.com/office/drawing/2014/main" id="{A0D6A974-412E-739B-6974-19BFDABCB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341438"/>
            <a:ext cx="5143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GP: İkame mal fiyatı (Mandalina Fiyatı)</a:t>
            </a:r>
          </a:p>
        </p:txBody>
      </p:sp>
      <p:sp>
        <p:nvSpPr>
          <p:cNvPr id="206859" name="Text Box 18">
            <a:extLst>
              <a:ext uri="{FF2B5EF4-FFF2-40B4-BE49-F238E27FC236}">
                <a16:creationId xmlns:a16="http://schemas.microsoft.com/office/drawing/2014/main" id="{D27E0385-C195-84B9-D762-55975259D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916113"/>
            <a:ext cx="28082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1800"/>
              <a:t>Harcama yerine gelir değişkeni alınırsa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nimBg="1" autoUpdateAnimBg="0"/>
      <p:bldP spid="27654" grpId="0" animBg="1" autoUpdateAnimBg="0"/>
      <p:bldP spid="96262" grpId="0"/>
      <p:bldP spid="96263" grpId="0"/>
      <p:bldP spid="92166" grpId="0"/>
      <p:bldP spid="9524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3 Slayt Numarası Yer Tutucusu">
            <a:extLst>
              <a:ext uri="{FF2B5EF4-FFF2-40B4-BE49-F238E27FC236}">
                <a16:creationId xmlns:a16="http://schemas.microsoft.com/office/drawing/2014/main" id="{EB77A0D3-7271-4201-ADF1-5A47292A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B0ECE8-37E9-402B-B998-938934CB68BB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tr-TR" altLang="tr-TR" sz="1400"/>
          </a:p>
        </p:txBody>
      </p:sp>
      <p:sp>
        <p:nvSpPr>
          <p:cNvPr id="208899" name="Rectangle 2">
            <a:extLst>
              <a:ext uri="{FF2B5EF4-FFF2-40B4-BE49-F238E27FC236}">
                <a16:creationId xmlns:a16="http://schemas.microsoft.com/office/drawing/2014/main" id="{2B518E47-4784-2BA6-66F4-AC25D5736C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46100" y="384175"/>
            <a:ext cx="7759700" cy="661988"/>
          </a:xfrm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tr-TR" sz="3600"/>
              <a:t>Hendry’</a:t>
            </a:r>
            <a:r>
              <a:rPr lang="tr-TR" altLang="tr-TR" sz="3600"/>
              <a:t>in Model Seçim Yaklaşımı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211B56C8-D7D9-ADF8-2EF4-E437D251D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700213"/>
            <a:ext cx="7772400" cy="3233737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Veriyle uyumlu olmalı (data admissible),</a:t>
            </a:r>
            <a:endParaRPr lang="en-US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Teoriye uygun olmalı,</a:t>
            </a:r>
            <a:endParaRPr lang="en-US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Açıklayıcı değişkenler (en azından) zayıf dışsal olmalı,</a:t>
            </a:r>
            <a:endParaRPr lang="en-US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Katsayılar değişmez olmalı,</a:t>
            </a:r>
            <a:endParaRPr lang="en-US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Hata terimi beyaz gürültülü olmalı,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Kapsayıcı olmalı.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nimBg="1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3 Slayt Numarası Yer Tutucusu">
            <a:extLst>
              <a:ext uri="{FF2B5EF4-FFF2-40B4-BE49-F238E27FC236}">
                <a16:creationId xmlns:a16="http://schemas.microsoft.com/office/drawing/2014/main" id="{88A94349-54DB-10D8-A51C-6ED6B98A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C6CF00-357C-44F0-823D-F64F7F0E82AC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64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AFD9A04-679C-54A8-BDA0-0BA56680BD0B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6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Hendry’</a:t>
            </a:r>
            <a:r>
              <a:rPr lang="tr-TR" sz="36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 Model Seçim Yaklaşımı</a:t>
            </a:r>
          </a:p>
        </p:txBody>
      </p:sp>
      <p:sp>
        <p:nvSpPr>
          <p:cNvPr id="210948" name="2 Metin kutusu">
            <a:extLst>
              <a:ext uri="{FF2B5EF4-FFF2-40B4-BE49-F238E27FC236}">
                <a16:creationId xmlns:a16="http://schemas.microsoft.com/office/drawing/2014/main" id="{AE2553F0-7D14-9C87-4532-29B764BB3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428750"/>
            <a:ext cx="8358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Yukardan aşağıya ya da genelden özele yaklaşımı</a:t>
            </a:r>
          </a:p>
        </p:txBody>
      </p:sp>
      <p:graphicFrame>
        <p:nvGraphicFramePr>
          <p:cNvPr id="210949" name="Object 2">
            <a:extLst>
              <a:ext uri="{FF2B5EF4-FFF2-40B4-BE49-F238E27FC236}">
                <a16:creationId xmlns:a16="http://schemas.microsoft.com/office/drawing/2014/main" id="{1CF02686-FD3F-B5F8-70DD-8C120B1A2F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3" y="4714875"/>
          <a:ext cx="130492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900" imgH="228600" progId="Equation.DSMT4">
                  <p:embed/>
                </p:oleObj>
              </mc:Choice>
              <mc:Fallback>
                <p:oleObj name="Equation" r:id="rId3" imgW="596900" imgH="228600" progId="Equation.DSMT4">
                  <p:embed/>
                  <p:pic>
                    <p:nvPicPr>
                      <p:cNvPr id="210949" name="Object 2">
                        <a:extLst>
                          <a:ext uri="{FF2B5EF4-FFF2-40B4-BE49-F238E27FC236}">
                            <a16:creationId xmlns:a16="http://schemas.microsoft.com/office/drawing/2014/main" id="{1CF02686-FD3F-B5F8-70DD-8C120B1A2F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4714875"/>
                        <a:ext cx="1304925" cy="5000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0" name="Object 3">
            <a:extLst>
              <a:ext uri="{FF2B5EF4-FFF2-40B4-BE49-F238E27FC236}">
                <a16:creationId xmlns:a16="http://schemas.microsoft.com/office/drawing/2014/main" id="{E941FAB5-B2AF-C898-9CD1-AAE2FF316C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286000"/>
          <a:ext cx="911225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65600" imgH="228600" progId="Equation.DSMT4">
                  <p:embed/>
                </p:oleObj>
              </mc:Choice>
              <mc:Fallback>
                <p:oleObj name="Equation" r:id="rId5" imgW="4165600" imgH="228600" progId="Equation.DSMT4">
                  <p:embed/>
                  <p:pic>
                    <p:nvPicPr>
                      <p:cNvPr id="210950" name="Object 3">
                        <a:extLst>
                          <a:ext uri="{FF2B5EF4-FFF2-40B4-BE49-F238E27FC236}">
                            <a16:creationId xmlns:a16="http://schemas.microsoft.com/office/drawing/2014/main" id="{E941FAB5-B2AF-C898-9CD1-AAE2FF316C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86000"/>
                        <a:ext cx="9112250" cy="5000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5 Aşağı Ok">
            <a:extLst>
              <a:ext uri="{FF2B5EF4-FFF2-40B4-BE49-F238E27FC236}">
                <a16:creationId xmlns:a16="http://schemas.microsoft.com/office/drawing/2014/main" id="{AD2981C6-3DE7-A2F3-1B1B-2D2973C3C602}"/>
              </a:ext>
            </a:extLst>
          </p:cNvPr>
          <p:cNvSpPr/>
          <p:nvPr/>
        </p:nvSpPr>
        <p:spPr>
          <a:xfrm>
            <a:off x="3571875" y="2928938"/>
            <a:ext cx="571500" cy="8572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 sz="2400"/>
          </a:p>
        </p:txBody>
      </p:sp>
      <p:sp>
        <p:nvSpPr>
          <p:cNvPr id="210952" name="6 Metin kutusu">
            <a:extLst>
              <a:ext uri="{FF2B5EF4-FFF2-40B4-BE49-F238E27FC236}">
                <a16:creationId xmlns:a16="http://schemas.microsoft.com/office/drawing/2014/main" id="{1B39AB4C-D445-F8E9-63FC-4C0912457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313" y="3786188"/>
            <a:ext cx="2571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Genel Model</a:t>
            </a:r>
          </a:p>
        </p:txBody>
      </p:sp>
      <p:sp>
        <p:nvSpPr>
          <p:cNvPr id="8" name="7 Sağ Ok">
            <a:extLst>
              <a:ext uri="{FF2B5EF4-FFF2-40B4-BE49-F238E27FC236}">
                <a16:creationId xmlns:a16="http://schemas.microsoft.com/office/drawing/2014/main" id="{7A8DA51A-C5D6-5815-87F3-5601C0CBBDB9}"/>
              </a:ext>
            </a:extLst>
          </p:cNvPr>
          <p:cNvSpPr/>
          <p:nvPr/>
        </p:nvSpPr>
        <p:spPr>
          <a:xfrm>
            <a:off x="2000250" y="4786313"/>
            <a:ext cx="1143000" cy="428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 sz="2400"/>
          </a:p>
        </p:txBody>
      </p:sp>
      <p:sp>
        <p:nvSpPr>
          <p:cNvPr id="210954" name="8 Metin kutusu">
            <a:extLst>
              <a:ext uri="{FF2B5EF4-FFF2-40B4-BE49-F238E27FC236}">
                <a16:creationId xmlns:a16="http://schemas.microsoft.com/office/drawing/2014/main" id="{E8B212AE-CD41-9DF6-F7FF-CAE12ED02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4752975"/>
            <a:ext cx="2571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Özel Model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1 Slayt Numarası Yer Tutucusu">
            <a:extLst>
              <a:ext uri="{FF2B5EF4-FFF2-40B4-BE49-F238E27FC236}">
                <a16:creationId xmlns:a16="http://schemas.microsoft.com/office/drawing/2014/main" id="{9F13CDFB-BD40-CDC1-7750-BDFDA6E0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97AA6A-08B6-4CA0-B987-C6F77FD79F4A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65</a:t>
            </a:fld>
            <a:endParaRPr lang="tr-TR" altLang="tr-TR" sz="1400"/>
          </a:p>
        </p:txBody>
      </p:sp>
      <p:sp>
        <p:nvSpPr>
          <p:cNvPr id="212995" name="Rectangle 11">
            <a:extLst>
              <a:ext uri="{FF2B5EF4-FFF2-40B4-BE49-F238E27FC236}">
                <a16:creationId xmlns:a16="http://schemas.microsoft.com/office/drawing/2014/main" id="{03F6293D-5C94-291F-4111-FEB41B86D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431925"/>
            <a:ext cx="8858250" cy="50927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Dependent Variable: HOUSING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Method: Least Squares		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Sample: 1963 1985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Included observations: 23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Variable		Coefficient	Std. Error	t-Statistic	Prob.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C		5087.434	11045.79	0.460577	0.6506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GNP		1.756353	2.139984	0.820732	0.4225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INTRATE	-174.6918	61.00066	-2.863769	0.0103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POP		-33.43369	83.07564	-0.402449	0.6921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UNEMP		79.71988	122.5794	0.650353	0.5237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R-squared		0.449950	    Mean dependent var	1601.100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Adjusted R-squared	0.327716	    S.D. dependent var	345.4715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S.E. of regression	283.2621	    Akaike info criterion	14.32028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Sum squared resid	1444274.	    Schwarz criterion	14.56713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Log likelihood		-159.6833	    F-statistic		3.681069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Durbin-Watson stat	0.793569	    Prob(F-statistic)	0.023274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07C714-5032-060F-F7D2-E6FE7C04BC14}"/>
              </a:ext>
            </a:extLst>
          </p:cNvPr>
          <p:cNvSpPr txBox="1">
            <a:spLocks noChangeArrowheads="1"/>
          </p:cNvSpPr>
          <p:nvPr/>
        </p:nvSpPr>
        <p:spPr>
          <a:xfrm>
            <a:off x="323850" y="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6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Hendry’</a:t>
            </a:r>
            <a:r>
              <a:rPr lang="tr-TR" sz="36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 Model Seçim Yaklaşımı</a:t>
            </a:r>
          </a:p>
        </p:txBody>
      </p:sp>
      <p:cxnSp>
        <p:nvCxnSpPr>
          <p:cNvPr id="6" name="5 Düz Bağlayıcı">
            <a:extLst>
              <a:ext uri="{FF2B5EF4-FFF2-40B4-BE49-F238E27FC236}">
                <a16:creationId xmlns:a16="http://schemas.microsoft.com/office/drawing/2014/main" id="{396BC6C2-30AD-3219-10F2-AA58A30A7F87}"/>
              </a:ext>
            </a:extLst>
          </p:cNvPr>
          <p:cNvCxnSpPr/>
          <p:nvPr/>
        </p:nvCxnSpPr>
        <p:spPr>
          <a:xfrm>
            <a:off x="0" y="2714625"/>
            <a:ext cx="8929688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Düz Bağlayıcı">
            <a:extLst>
              <a:ext uri="{FF2B5EF4-FFF2-40B4-BE49-F238E27FC236}">
                <a16:creationId xmlns:a16="http://schemas.microsoft.com/office/drawing/2014/main" id="{B3FF85B9-407E-CE6C-5865-4AC32A4EE759}"/>
              </a:ext>
            </a:extLst>
          </p:cNvPr>
          <p:cNvCxnSpPr/>
          <p:nvPr/>
        </p:nvCxnSpPr>
        <p:spPr>
          <a:xfrm>
            <a:off x="71438" y="4572000"/>
            <a:ext cx="8929687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Yuvarlatılmış Dikdörtgen">
            <a:extLst>
              <a:ext uri="{FF2B5EF4-FFF2-40B4-BE49-F238E27FC236}">
                <a16:creationId xmlns:a16="http://schemas.microsoft.com/office/drawing/2014/main" id="{7B79F35B-A542-2B99-EEFA-7B1FE4BC2A4A}"/>
              </a:ext>
            </a:extLst>
          </p:cNvPr>
          <p:cNvSpPr/>
          <p:nvPr/>
        </p:nvSpPr>
        <p:spPr>
          <a:xfrm>
            <a:off x="7286625" y="3929063"/>
            <a:ext cx="1214438" cy="28575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/>
          </a:p>
        </p:txBody>
      </p:sp>
      <p:sp>
        <p:nvSpPr>
          <p:cNvPr id="213000" name="Text Box 9">
            <a:extLst>
              <a:ext uri="{FF2B5EF4-FFF2-40B4-BE49-F238E27FC236}">
                <a16:creationId xmlns:a16="http://schemas.microsoft.com/office/drawing/2014/main" id="{514D52A1-E807-8559-2232-CE0740744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08050"/>
            <a:ext cx="84978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1800"/>
              <a:t>GNP:Gelir  INTRATE:Faiz oranı POP:Nufus UNEMP:İşsizlik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1 Slayt Numarası Yer Tutucusu">
            <a:extLst>
              <a:ext uri="{FF2B5EF4-FFF2-40B4-BE49-F238E27FC236}">
                <a16:creationId xmlns:a16="http://schemas.microsoft.com/office/drawing/2014/main" id="{B7448D73-63DB-BEBF-3E2E-A8716649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3D6CE4-D5C3-4AF3-9CA6-21A3A67E336B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66</a:t>
            </a:fld>
            <a:endParaRPr lang="tr-TR" altLang="tr-TR" sz="1400"/>
          </a:p>
        </p:txBody>
      </p:sp>
      <p:sp>
        <p:nvSpPr>
          <p:cNvPr id="215043" name="2 Dikdörtgen">
            <a:extLst>
              <a:ext uri="{FF2B5EF4-FFF2-40B4-BE49-F238E27FC236}">
                <a16:creationId xmlns:a16="http://schemas.microsoft.com/office/drawing/2014/main" id="{49D972BE-F5EC-26F5-F1C6-6278BE660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428750"/>
            <a:ext cx="8929688" cy="4800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Dependent Variable: HOUSING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Method: Least Squares	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Sample: 1963 1985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Included observations: 23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Variable		Coefficient	Std. Error	t-Statistic	Prob.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C		645.0187	393.4653	1.639328	0.1176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tr-TR" sz="1800" b="1"/>
              <a:t>GNP	</a:t>
            </a:r>
            <a:r>
              <a:rPr lang="tr-TR" altLang="tr-TR" sz="1800" b="1"/>
              <a:t>	</a:t>
            </a:r>
            <a:r>
              <a:rPr lang="pl-PL" altLang="tr-TR" sz="1800" b="1"/>
              <a:t>0.901419	0.252599	3.568574	0.0020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tr-TR" sz="1800" b="1"/>
              <a:t>INTRATE	-187.0217	51.57249	-3.626384	0.0018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tr-TR" sz="1800" b="1"/>
              <a:t>UNEMP	</a:t>
            </a:r>
            <a:r>
              <a:rPr lang="tr-TR" altLang="tr-TR" sz="1800" b="1"/>
              <a:t>	</a:t>
            </a:r>
            <a:r>
              <a:rPr lang="fr-FR" altLang="tr-TR" sz="1800" b="1"/>
              <a:t>35.58666	53.55095	0.664538	0.5143</a:t>
            </a:r>
            <a:endParaRPr lang="tr-TR" altLang="tr-TR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tr-TR" sz="1800" b="1"/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b="1"/>
              <a:t>R-squared	</a:t>
            </a:r>
            <a:r>
              <a:rPr lang="tr-TR" altLang="tr-TR" sz="1800" b="1"/>
              <a:t>	</a:t>
            </a:r>
            <a:r>
              <a:rPr lang="en-US" altLang="tr-TR" sz="1800" b="1"/>
              <a:t>0.445000	    Mean dependent var	1601.100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b="1"/>
              <a:t>Adjusted R-squared	0.357369	    S.D. dependent var	345.4715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b="1"/>
              <a:t>S.E. of regression</a:t>
            </a:r>
            <a:r>
              <a:rPr lang="tr-TR" altLang="tr-TR" sz="1800" b="1"/>
              <a:t>	</a:t>
            </a:r>
            <a:r>
              <a:rPr lang="en-US" altLang="tr-TR" sz="1800" b="1"/>
              <a:t>276.9448	    Akaike info criterion</a:t>
            </a:r>
            <a:r>
              <a:rPr lang="tr-TR" altLang="tr-TR" sz="1800" b="1"/>
              <a:t>	</a:t>
            </a:r>
            <a:r>
              <a:rPr lang="en-US" altLang="tr-TR" sz="1800" b="1"/>
              <a:t>14.24228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b="1"/>
              <a:t>Sum squared resid	1457270.	    Schwarz criterion	14.43976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b="1"/>
              <a:t>Log likelihood</a:t>
            </a:r>
            <a:r>
              <a:rPr lang="tr-TR" altLang="tr-TR" sz="1800" b="1"/>
              <a:t>	</a:t>
            </a:r>
            <a:r>
              <a:rPr lang="en-US" altLang="tr-TR" sz="1800" b="1"/>
              <a:t>	-159.7863	    F-statistic		5.078083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Durbin-Watson stat	0.816988	    Prob(F-statistic)	0.009478</a:t>
            </a:r>
          </a:p>
        </p:txBody>
      </p:sp>
      <p:cxnSp>
        <p:nvCxnSpPr>
          <p:cNvPr id="5" name="4 Düz Bağlayıcı">
            <a:extLst>
              <a:ext uri="{FF2B5EF4-FFF2-40B4-BE49-F238E27FC236}">
                <a16:creationId xmlns:a16="http://schemas.microsoft.com/office/drawing/2014/main" id="{6B74DDE5-B883-A106-C53F-211520332A3D}"/>
              </a:ext>
            </a:extLst>
          </p:cNvPr>
          <p:cNvCxnSpPr/>
          <p:nvPr/>
        </p:nvCxnSpPr>
        <p:spPr>
          <a:xfrm>
            <a:off x="142875" y="2714625"/>
            <a:ext cx="8929688" cy="158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Düz Bağlayıcı">
            <a:extLst>
              <a:ext uri="{FF2B5EF4-FFF2-40B4-BE49-F238E27FC236}">
                <a16:creationId xmlns:a16="http://schemas.microsoft.com/office/drawing/2014/main" id="{D5C39F3C-3AA1-91C8-DADC-FD8B674696E6}"/>
              </a:ext>
            </a:extLst>
          </p:cNvPr>
          <p:cNvCxnSpPr/>
          <p:nvPr/>
        </p:nvCxnSpPr>
        <p:spPr>
          <a:xfrm>
            <a:off x="142875" y="4356100"/>
            <a:ext cx="8929688" cy="158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C47B92A5-8986-68A2-C3F6-C22DB180626A}"/>
              </a:ext>
            </a:extLst>
          </p:cNvPr>
          <p:cNvSpPr txBox="1">
            <a:spLocks noChangeArrowheads="1"/>
          </p:cNvSpPr>
          <p:nvPr/>
        </p:nvSpPr>
        <p:spPr>
          <a:xfrm>
            <a:off x="285750" y="28575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6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Hendry’</a:t>
            </a:r>
            <a:r>
              <a:rPr lang="tr-TR" sz="36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 Model Seçim Yaklaşımı</a:t>
            </a:r>
          </a:p>
        </p:txBody>
      </p:sp>
      <p:sp>
        <p:nvSpPr>
          <p:cNvPr id="8" name="7 Yuvarlatılmış Dikdörtgen">
            <a:extLst>
              <a:ext uri="{FF2B5EF4-FFF2-40B4-BE49-F238E27FC236}">
                <a16:creationId xmlns:a16="http://schemas.microsoft.com/office/drawing/2014/main" id="{31BDCC47-50A8-E045-89C2-2D50091B3E38}"/>
              </a:ext>
            </a:extLst>
          </p:cNvPr>
          <p:cNvSpPr/>
          <p:nvPr/>
        </p:nvSpPr>
        <p:spPr>
          <a:xfrm>
            <a:off x="7358063" y="3929063"/>
            <a:ext cx="1285875" cy="28575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/>
          </a:p>
        </p:txBody>
      </p:sp>
      <p:sp>
        <p:nvSpPr>
          <p:cNvPr id="10" name="9 Yuvarlatılmış Dikdörtgen">
            <a:extLst>
              <a:ext uri="{FF2B5EF4-FFF2-40B4-BE49-F238E27FC236}">
                <a16:creationId xmlns:a16="http://schemas.microsoft.com/office/drawing/2014/main" id="{CA1B2116-E077-4685-8DFC-838BFEFE0132}"/>
              </a:ext>
            </a:extLst>
          </p:cNvPr>
          <p:cNvSpPr/>
          <p:nvPr/>
        </p:nvSpPr>
        <p:spPr>
          <a:xfrm>
            <a:off x="2000250" y="3929063"/>
            <a:ext cx="1285875" cy="28575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/>
          </a:p>
        </p:txBody>
      </p:sp>
      <p:sp>
        <p:nvSpPr>
          <p:cNvPr id="215049" name="10 Metin kutusu">
            <a:extLst>
              <a:ext uri="{FF2B5EF4-FFF2-40B4-BE49-F238E27FC236}">
                <a16:creationId xmlns:a16="http://schemas.microsoft.com/office/drawing/2014/main" id="{E8ED8FB8-F213-767A-21C8-5508C104A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2428875"/>
            <a:ext cx="2286000" cy="3698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/>
              <a:t>İşareti yanlış</a:t>
            </a:r>
          </a:p>
        </p:txBody>
      </p:sp>
      <p:cxnSp>
        <p:nvCxnSpPr>
          <p:cNvPr id="13" name="12 Şekil">
            <a:extLst>
              <a:ext uri="{FF2B5EF4-FFF2-40B4-BE49-F238E27FC236}">
                <a16:creationId xmlns:a16="http://schemas.microsoft.com/office/drawing/2014/main" id="{091AEA5A-D4D2-5F5D-04D8-3921C4E16CC0}"/>
              </a:ext>
            </a:extLst>
          </p:cNvPr>
          <p:cNvCxnSpPr>
            <a:stCxn id="215049" idx="1"/>
          </p:cNvCxnSpPr>
          <p:nvPr/>
        </p:nvCxnSpPr>
        <p:spPr>
          <a:xfrm rot="10800000" flipV="1">
            <a:off x="3000375" y="2613025"/>
            <a:ext cx="785813" cy="1316038"/>
          </a:xfrm>
          <a:prstGeom prst="bentConnector2">
            <a:avLst/>
          </a:prstGeom>
          <a:ln w="412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1 Slayt Numarası Yer Tutucusu">
            <a:extLst>
              <a:ext uri="{FF2B5EF4-FFF2-40B4-BE49-F238E27FC236}">
                <a16:creationId xmlns:a16="http://schemas.microsoft.com/office/drawing/2014/main" id="{9B6FDC97-9C58-DDDF-BDE8-8076F91E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6C3621-A406-4071-A299-3BCD90AA2053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tr-TR" altLang="tr-TR" sz="1400"/>
          </a:p>
        </p:txBody>
      </p:sp>
      <p:sp>
        <p:nvSpPr>
          <p:cNvPr id="217091" name="2 Dikdörtgen">
            <a:extLst>
              <a:ext uri="{FF2B5EF4-FFF2-40B4-BE49-F238E27FC236}">
                <a16:creationId xmlns:a16="http://schemas.microsoft.com/office/drawing/2014/main" id="{BFC68154-8EAF-6A74-4443-F39719049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414463"/>
            <a:ext cx="8858250" cy="4524375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Dependent Variable: HOUSING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Method: Least Squares	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Sample: 1963 1985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Included observations: 23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Variable		Coefficient	Std. Error	t-Statistic	Prob.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C		687.8977	382.6818	1.797571	0.0874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tr-TR" sz="1800" b="1"/>
              <a:t>GNP	</a:t>
            </a:r>
            <a:r>
              <a:rPr lang="tr-TR" altLang="tr-TR" sz="1800" b="1"/>
              <a:t>	</a:t>
            </a:r>
            <a:r>
              <a:rPr lang="pl-PL" altLang="tr-TR" sz="1800" b="1"/>
              <a:t>0.905395	0.248978	3.636444	0.0016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tr-TR" sz="1800" b="1"/>
              <a:t>INTRATE	-169.6579	43.83829	-3.870084	0.0010</a:t>
            </a:r>
            <a:endParaRPr lang="tr-TR" altLang="tr-TR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tr-TR" sz="1800" b="1"/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b="1"/>
              <a:t>R-squared	</a:t>
            </a:r>
            <a:r>
              <a:rPr lang="tr-TR" altLang="tr-TR" sz="1800" b="1"/>
              <a:t>	</a:t>
            </a:r>
            <a:r>
              <a:rPr lang="en-US" altLang="tr-TR" sz="1800" b="1"/>
              <a:t>0.432101	    Mean dependent var	1601.100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b="1"/>
              <a:t>Adjusted R-squared	0.375311	    S.D. dependent var	345.4715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b="1"/>
              <a:t>S.E. of regression</a:t>
            </a:r>
            <a:r>
              <a:rPr lang="tr-TR" altLang="tr-TR" sz="1800" b="1"/>
              <a:t>	</a:t>
            </a:r>
            <a:r>
              <a:rPr lang="en-US" altLang="tr-TR" sz="1800" b="1"/>
              <a:t>273.0513	    Akaike info criterion	14.17830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b="1"/>
              <a:t>Sum squared resid	1491140.	    Schwarz criterion	14.32641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b="1"/>
              <a:t>Log likelihood</a:t>
            </a:r>
            <a:r>
              <a:rPr lang="tr-TR" altLang="tr-TR" sz="1800" b="1"/>
              <a:t>	</a:t>
            </a:r>
            <a:r>
              <a:rPr lang="en-US" altLang="tr-TR" sz="1800" b="1"/>
              <a:t>	-160.0505	    F-statistic		7.608750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b="1"/>
              <a:t>Durbin-Watson stat	0.831697	    Prob(F-statistic)	0.003489</a:t>
            </a:r>
          </a:p>
        </p:txBody>
      </p:sp>
      <p:cxnSp>
        <p:nvCxnSpPr>
          <p:cNvPr id="5" name="4 Düz Bağlayıcı">
            <a:extLst>
              <a:ext uri="{FF2B5EF4-FFF2-40B4-BE49-F238E27FC236}">
                <a16:creationId xmlns:a16="http://schemas.microsoft.com/office/drawing/2014/main" id="{235D17DE-ABB3-5595-0704-17A9E406C6A3}"/>
              </a:ext>
            </a:extLst>
          </p:cNvPr>
          <p:cNvCxnSpPr/>
          <p:nvPr/>
        </p:nvCxnSpPr>
        <p:spPr>
          <a:xfrm>
            <a:off x="71438" y="2714625"/>
            <a:ext cx="8929687" cy="1588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Düz Bağlayıcı">
            <a:extLst>
              <a:ext uri="{FF2B5EF4-FFF2-40B4-BE49-F238E27FC236}">
                <a16:creationId xmlns:a16="http://schemas.microsoft.com/office/drawing/2014/main" id="{CF9A06CB-905B-2344-1CE5-281E2A6FE8B4}"/>
              </a:ext>
            </a:extLst>
          </p:cNvPr>
          <p:cNvCxnSpPr/>
          <p:nvPr/>
        </p:nvCxnSpPr>
        <p:spPr>
          <a:xfrm>
            <a:off x="214313" y="4071938"/>
            <a:ext cx="8929687" cy="1587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E2998499-9310-7E4C-97EB-47F6494E2D64}"/>
              </a:ext>
            </a:extLst>
          </p:cNvPr>
          <p:cNvSpPr txBox="1">
            <a:spLocks noChangeArrowheads="1"/>
          </p:cNvSpPr>
          <p:nvPr/>
        </p:nvSpPr>
        <p:spPr>
          <a:xfrm>
            <a:off x="285750" y="28575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6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Hendry’</a:t>
            </a:r>
            <a:r>
              <a:rPr lang="tr-TR" sz="36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 Model Seçim Yaklaşımı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546" name="3 Slayt Numarası Yer Tutucusu">
            <a:extLst>
              <a:ext uri="{FF2B5EF4-FFF2-40B4-BE49-F238E27FC236}">
                <a16:creationId xmlns:a16="http://schemas.microsoft.com/office/drawing/2014/main" id="{44B5EFAF-9302-99F4-5BDC-B498B2E4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6BE864-1FA2-479E-8033-00D90ADC2B53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tr-TR" altLang="tr-TR" sz="140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2998499-9310-7E4C-97EB-47F6494E2D64}"/>
              </a:ext>
            </a:extLst>
          </p:cNvPr>
          <p:cNvSpPr txBox="1">
            <a:spLocks noChangeArrowheads="1"/>
          </p:cNvSpPr>
          <p:nvPr/>
        </p:nvSpPr>
        <p:spPr>
          <a:xfrm>
            <a:off x="285750" y="28575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30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Hendry Örneğinde Tanı Denetimi</a:t>
            </a:r>
          </a:p>
        </p:txBody>
      </p:sp>
      <p:sp>
        <p:nvSpPr>
          <p:cNvPr id="108547" name="TextBox 108546"/>
          <p:cNvSpPr txBox="1"/>
          <p:nvPr/>
        </p:nvSpPr>
        <p:spPr>
          <a:xfrm>
            <a:off x="274320" y="114300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lang="tr-TR">
                <a:latin typeface="Times New Roman"/>
              </a:rPr>
              <a:t>Ölçütlerden biri, hata teriminin beyaz gürültü olmasıdır. Üç modelin Durbin-Watson istatistikleri (n = 23, %5):</a:t>
            </a:r>
          </a:p>
        </p:txBody>
      </p:sp>
      <p:graphicFrame>
        <p:nvGraphicFramePr>
          <p:cNvPr id="108548" name="Table 108547"/>
          <p:cNvGraphicFramePr>
            <a:graphicFrameLocks noGrp="1"/>
          </p:cNvGraphicFramePr>
          <p:nvPr/>
        </p:nvGraphicFramePr>
        <p:xfrm>
          <a:off x="365760" y="201168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566160"/>
                <a:gridCol w="73152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Açıklayıcı değişkenler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k′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DW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d</a:t>
                      </a:r>
                      <a:r>
                        <a:rPr sz="1600" b="1" lang="tr-TR" baseline="-25000">
                          <a:solidFill>
                            <a:srgbClr val="1F1F1F"/>
                          </a:solidFill>
                          <a:latin typeface="Times New Roman"/>
                        </a:rPr>
                        <a:t>L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d</a:t>
                      </a:r>
                      <a:r>
                        <a:rPr sz="1600" b="1" lang="tr-TR" baseline="-25000">
                          <a:solidFill>
                            <a:srgbClr val="1F1F1F"/>
                          </a:solidFill>
                          <a:latin typeface="Times New Roman"/>
                        </a:rPr>
                        <a:t>U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GNP, INTRATE, POP, UNEMP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0.794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0.996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1.785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GNP, INTRATE, UNEMP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0.817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1.078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1.660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GNP, INTRATE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0.832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1.168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1.543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108549" name="TextBox 108548"/>
          <p:cNvSpPr txBox="1"/>
          <p:nvPr/>
        </p:nvSpPr>
        <p:spPr>
          <a:xfrm>
            <a:off x="274320" y="3566160"/>
            <a:ext cx="8595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Üç modelde de d &lt; d</a:t>
            </a:r>
            <a:r>
              <a:rPr sz="1800" lang="tr-TR" baseline="-25000">
                <a:latin typeface="Times New Roman"/>
              </a:rPr>
              <a:t>L</a:t>
            </a:r>
            <a:r>
              <a:rPr sz="1800" lang="tr-TR">
                <a:latin typeface="Times New Roman"/>
              </a:rPr>
              <a:t>: hatalarda pozitif otokorelasyon vardır, beyaz gürültü ölçütü sağlanmamaktadır.</a:t>
            </a:r>
          </a:p>
          <a:p>
            <a:r>
              <a:rPr sz="1800" lang="tr-TR">
                <a:latin typeface="Times New Roman"/>
              </a:rPr>
              <a:t>Hendry yaklaşımında genel model, gecikmeli değişkenleri de içeren dinamik bir modelden başlamalıdır; bu örnekteki genel model statiktir. Otokorelasyon altında standart hatalar güvenilir olmadığından, t testlerine dayalı eleme kararları da güvenilir değildir.</a:t>
            </a:r>
          </a:p>
          <a:p>
            <a:r>
              <a:rPr sz="1800" lang="tr-TR">
                <a:latin typeface="Times New Roman"/>
              </a:rPr>
              <a:t>Otokorelasyon, dışlanmış bir değişkenin ya da yanlış dinamik yapının belirtisi de olabilir.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3 Slayt Numarası Yer Tutucusu">
            <a:extLst>
              <a:ext uri="{FF2B5EF4-FFF2-40B4-BE49-F238E27FC236}">
                <a16:creationId xmlns:a16="http://schemas.microsoft.com/office/drawing/2014/main" id="{A4FF1E3D-F823-FF92-AE66-17C5C314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460EF0-B803-4BFA-8249-E29DEC312350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68</a:t>
            </a:fld>
            <a:endParaRPr lang="tr-TR" altLang="tr-TR" sz="1400"/>
          </a:p>
        </p:txBody>
      </p:sp>
      <p:sp>
        <p:nvSpPr>
          <p:cNvPr id="219139" name="Rectangle 2">
            <a:extLst>
              <a:ext uri="{FF2B5EF4-FFF2-40B4-BE49-F238E27FC236}">
                <a16:creationId xmlns:a16="http://schemas.microsoft.com/office/drawing/2014/main" id="{5DB1A5F9-EC0C-A68E-CB61-8A017639E0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46100" y="384175"/>
            <a:ext cx="7759700" cy="661988"/>
          </a:xfrm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600"/>
              <a:t>Seçilmiş Hipotez  Testleri</a:t>
            </a: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98F91C4D-5FB7-CB82-9F9E-6AF9CEC83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7696200" cy="1042988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 dirty="0">
                <a:latin typeface="Times New Roman" panose="02020603050405020304" pitchFamily="18" charset="0"/>
              </a:rPr>
              <a:t>Yuvalanmış Model Testleri</a:t>
            </a:r>
            <a:endParaRPr lang="en-US" altLang="tr-TR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 dirty="0">
                <a:latin typeface="Times New Roman" panose="02020603050405020304" pitchFamily="18" charset="0"/>
              </a:rPr>
              <a:t>Yuvalanmamış Model Testleri</a:t>
            </a: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5F6A6BC1-EF19-BE1A-9266-0BF6154E4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500438"/>
            <a:ext cx="7772400" cy="2678112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tr-TR" sz="2400" dirty="0">
                <a:latin typeface="Times New Roman" panose="02020603050405020304" pitchFamily="18" charset="0"/>
              </a:rPr>
              <a:t>Model A:  Y = b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tr-TR" sz="2400" dirty="0">
                <a:latin typeface="Times New Roman" panose="02020603050405020304" pitchFamily="18" charset="0"/>
              </a:rPr>
              <a:t> + b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tr-TR" sz="2400" dirty="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 </a:t>
            </a:r>
            <a:r>
              <a:rPr lang="en-US" altLang="tr-TR" sz="2400" dirty="0">
                <a:latin typeface="Times New Roman" panose="02020603050405020304" pitchFamily="18" charset="0"/>
              </a:rPr>
              <a:t>+ b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3</a:t>
            </a:r>
            <a:r>
              <a:rPr lang="en-US" altLang="tr-TR" sz="2400" dirty="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3</a:t>
            </a:r>
            <a:r>
              <a:rPr lang="en-US" altLang="tr-TR" sz="2400" dirty="0">
                <a:latin typeface="Times New Roman" panose="02020603050405020304" pitchFamily="18" charset="0"/>
              </a:rPr>
              <a:t> + b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4</a:t>
            </a:r>
            <a:r>
              <a:rPr lang="en-US" altLang="tr-TR" sz="2400" dirty="0">
                <a:latin typeface="Times New Roman" panose="02020603050405020304" pitchFamily="18" charset="0"/>
              </a:rPr>
              <a:t>  X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4</a:t>
            </a:r>
            <a:r>
              <a:rPr lang="en-US" altLang="tr-TR" sz="2400" dirty="0">
                <a:latin typeface="Times New Roman" panose="02020603050405020304" pitchFamily="18" charset="0"/>
              </a:rPr>
              <a:t> + u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tr-TR" sz="2400" dirty="0">
                <a:latin typeface="Times New Roman" panose="02020603050405020304" pitchFamily="18" charset="0"/>
              </a:rPr>
              <a:t>Model B:  Y = b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tr-TR" sz="2400" dirty="0">
                <a:latin typeface="Times New Roman" panose="02020603050405020304" pitchFamily="18" charset="0"/>
              </a:rPr>
              <a:t> + b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tr-TR" sz="2400" dirty="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 </a:t>
            </a:r>
            <a:r>
              <a:rPr lang="en-US" altLang="tr-TR" sz="2400" dirty="0">
                <a:latin typeface="Times New Roman" panose="02020603050405020304" pitchFamily="18" charset="0"/>
              </a:rPr>
              <a:t>+ b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3</a:t>
            </a:r>
            <a:r>
              <a:rPr lang="en-US" altLang="tr-TR" sz="2400" dirty="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3</a:t>
            </a:r>
            <a:r>
              <a:rPr lang="en-US" altLang="tr-TR" sz="2400" dirty="0">
                <a:latin typeface="Times New Roman" panose="02020603050405020304" pitchFamily="18" charset="0"/>
              </a:rPr>
              <a:t>                + u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tr-TR" sz="2400" dirty="0">
                <a:latin typeface="Times New Roman" panose="02020603050405020304" pitchFamily="18" charset="0"/>
              </a:rPr>
              <a:t>Model C:  Y = a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tr-TR" sz="2400" dirty="0">
                <a:latin typeface="Times New Roman" panose="02020603050405020304" pitchFamily="18" charset="0"/>
              </a:rPr>
              <a:t> + a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tr-TR" sz="2400" dirty="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 </a:t>
            </a:r>
            <a:r>
              <a:rPr lang="en-US" altLang="tr-TR" sz="2400" dirty="0">
                <a:latin typeface="Times New Roman" panose="02020603050405020304" pitchFamily="18" charset="0"/>
              </a:rPr>
              <a:t>                            + u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tr-TR" sz="2400" dirty="0">
                <a:latin typeface="Times New Roman" panose="02020603050405020304" pitchFamily="18" charset="0"/>
              </a:rPr>
              <a:t>Model D:  Y = b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tr-TR" sz="2400" dirty="0">
                <a:latin typeface="Times New Roman" panose="02020603050405020304" pitchFamily="18" charset="0"/>
              </a:rPr>
              <a:t> + b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tr-TR" sz="2400" dirty="0">
                <a:latin typeface="Times New Roman" panose="02020603050405020304" pitchFamily="18" charset="0"/>
              </a:rPr>
              <a:t> Z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  </a:t>
            </a:r>
            <a:r>
              <a:rPr lang="en-US" altLang="tr-TR" sz="2400" dirty="0">
                <a:latin typeface="Times New Roman" panose="02020603050405020304" pitchFamily="18" charset="0"/>
              </a:rPr>
              <a:t>                           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 </a:t>
            </a:r>
            <a:r>
              <a:rPr lang="en-US" altLang="tr-TR" sz="2400" dirty="0">
                <a:latin typeface="Times New Roman" panose="02020603050405020304" pitchFamily="18" charset="0"/>
              </a:rPr>
              <a:t>+ v</a:t>
            </a:r>
            <a:endParaRPr lang="tr-TR" altLang="tr-TR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tr-TR" sz="2400" dirty="0">
                <a:latin typeface="Times New Roman" panose="02020603050405020304" pitchFamily="18" charset="0"/>
              </a:rPr>
              <a:t>Model E:  Y = c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tr-TR" sz="2400" dirty="0">
                <a:latin typeface="Times New Roman" panose="02020603050405020304" pitchFamily="18" charset="0"/>
              </a:rPr>
              <a:t> + c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tr-TR" sz="2400" dirty="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 </a:t>
            </a:r>
            <a:r>
              <a:rPr lang="en-US" altLang="tr-TR" sz="2400" dirty="0">
                <a:latin typeface="Times New Roman" panose="02020603050405020304" pitchFamily="18" charset="0"/>
              </a:rPr>
              <a:t>+ c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3</a:t>
            </a:r>
            <a:r>
              <a:rPr lang="en-US" altLang="tr-TR" sz="2400" dirty="0">
                <a:latin typeface="Times New Roman" panose="02020603050405020304" pitchFamily="18" charset="0"/>
              </a:rPr>
              <a:t> Z</a:t>
            </a:r>
            <a:r>
              <a:rPr lang="en-US" altLang="tr-TR" sz="2400" baseline="-25000" dirty="0">
                <a:latin typeface="Times New Roman" panose="02020603050405020304" pitchFamily="18" charset="0"/>
              </a:rPr>
              <a:t>2</a:t>
            </a:r>
            <a:r>
              <a:rPr lang="tr-TR" altLang="tr-TR" sz="2400" baseline="-25000" dirty="0">
                <a:latin typeface="Times New Roman" panose="02020603050405020304" pitchFamily="18" charset="0"/>
              </a:rPr>
              <a:t>                         </a:t>
            </a:r>
            <a:r>
              <a:rPr lang="en-US" altLang="tr-TR" sz="2400" dirty="0">
                <a:latin typeface="Times New Roman" panose="02020603050405020304" pitchFamily="18" charset="0"/>
              </a:rPr>
              <a:t>+ u</a:t>
            </a:r>
            <a:endParaRPr lang="tr-TR" altLang="tr-TR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69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70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nimBg="1" autoUpdateAnimBg="0"/>
      <p:bldP spid="29700" grpId="0" build="p" animBg="1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BA2443E-FC53-AB73-AC2E-65A03BE33E88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tr-TR" sz="36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Yuvalanmış Model Testleri</a:t>
            </a:r>
          </a:p>
        </p:txBody>
      </p:sp>
      <p:sp>
        <p:nvSpPr>
          <p:cNvPr id="221187" name="Text Box 4">
            <a:extLst>
              <a:ext uri="{FF2B5EF4-FFF2-40B4-BE49-F238E27FC236}">
                <a16:creationId xmlns:a16="http://schemas.microsoft.com/office/drawing/2014/main" id="{CEE5744E-330D-BE9A-812F-1F43485C8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1571625"/>
            <a:ext cx="7772400" cy="101600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Model A:  Y =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2 </a:t>
            </a:r>
            <a:r>
              <a:rPr lang="en-US" altLang="tr-TR" sz="2400">
                <a:latin typeface="Times New Roman" panose="02020603050405020304" pitchFamily="18" charset="0"/>
              </a:rPr>
              <a:t>+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+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4</a:t>
            </a:r>
            <a:r>
              <a:rPr lang="en-US" altLang="tr-TR" sz="2400">
                <a:latin typeface="Times New Roman" panose="02020603050405020304" pitchFamily="18" charset="0"/>
              </a:rPr>
              <a:t> 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4</a:t>
            </a:r>
            <a:r>
              <a:rPr lang="en-US" altLang="tr-TR" sz="2400">
                <a:latin typeface="Times New Roman" panose="02020603050405020304" pitchFamily="18" charset="0"/>
              </a:rPr>
              <a:t> + u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Model B:  Y =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2 </a:t>
            </a:r>
            <a:r>
              <a:rPr lang="en-US" altLang="tr-TR" sz="2400">
                <a:latin typeface="Times New Roman" panose="02020603050405020304" pitchFamily="18" charset="0"/>
              </a:rPr>
              <a:t>+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               + u</a:t>
            </a:r>
          </a:p>
        </p:txBody>
      </p:sp>
      <p:sp>
        <p:nvSpPr>
          <p:cNvPr id="221188" name="4 Metin kutusu">
            <a:extLst>
              <a:ext uri="{FF2B5EF4-FFF2-40B4-BE49-F238E27FC236}">
                <a16:creationId xmlns:a16="http://schemas.microsoft.com/office/drawing/2014/main" id="{7ED9A237-D2ED-9D5C-6BE8-145A1396D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3071813"/>
            <a:ext cx="800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B modeli,  A modeli içinde yuvalanmıştır.</a:t>
            </a:r>
          </a:p>
        </p:txBody>
      </p:sp>
      <p:sp>
        <p:nvSpPr>
          <p:cNvPr id="221189" name="5 Metin kutusu">
            <a:extLst>
              <a:ext uri="{FF2B5EF4-FFF2-40B4-BE49-F238E27FC236}">
                <a16:creationId xmlns:a16="http://schemas.microsoft.com/office/drawing/2014/main" id="{6F3718EB-B67A-33DF-B67C-20135B4BF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4000500"/>
            <a:ext cx="4714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Hipotez testleri:</a:t>
            </a:r>
          </a:p>
        </p:txBody>
      </p:sp>
      <p:sp>
        <p:nvSpPr>
          <p:cNvPr id="221190" name="6 Metin kutusu">
            <a:extLst>
              <a:ext uri="{FF2B5EF4-FFF2-40B4-BE49-F238E27FC236}">
                <a16:creationId xmlns:a16="http://schemas.microsoft.com/office/drawing/2014/main" id="{E121B248-0D59-EDD6-C178-0092AC738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4610100"/>
            <a:ext cx="3857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A  modeli tahmin edilerek</a:t>
            </a:r>
          </a:p>
        </p:txBody>
      </p:sp>
      <p:sp>
        <p:nvSpPr>
          <p:cNvPr id="221191" name="7 Metin kutusu">
            <a:extLst>
              <a:ext uri="{FF2B5EF4-FFF2-40B4-BE49-F238E27FC236}">
                <a16:creationId xmlns:a16="http://schemas.microsoft.com/office/drawing/2014/main" id="{AFC8FE2C-BE5B-CF0A-4219-2A437A975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5500688"/>
            <a:ext cx="6072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H</a:t>
            </a:r>
            <a:r>
              <a:rPr lang="tr-TR" altLang="tr-TR" sz="2400" baseline="-25000">
                <a:latin typeface="Times New Roman" panose="02020603050405020304" pitchFamily="18" charset="0"/>
              </a:rPr>
              <a:t>0</a:t>
            </a:r>
            <a:r>
              <a:rPr lang="tr-TR" altLang="tr-TR" sz="2400" baseline="30000">
                <a:latin typeface="Times New Roman" panose="02020603050405020304" pitchFamily="18" charset="0"/>
              </a:rPr>
              <a:t> :</a:t>
            </a:r>
            <a:r>
              <a:rPr lang="tr-TR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tr-TR" altLang="tr-T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tr-TR" altLang="tr-TR" sz="2400">
                <a:latin typeface="Times New Roman" panose="02020603050405020304" pitchFamily="18" charset="0"/>
                <a:sym typeface="Symbol" panose="05050102010706020507" pitchFamily="18" charset="2"/>
              </a:rPr>
              <a:t> = 0 test edilerek hipotez kabul edilirse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9" name="8 Sağ Ok">
            <a:extLst>
              <a:ext uri="{FF2B5EF4-FFF2-40B4-BE49-F238E27FC236}">
                <a16:creationId xmlns:a16="http://schemas.microsoft.com/office/drawing/2014/main" id="{21136526-2806-8AB5-A561-F33ADCFE2BCA}"/>
              </a:ext>
            </a:extLst>
          </p:cNvPr>
          <p:cNvSpPr/>
          <p:nvPr/>
        </p:nvSpPr>
        <p:spPr>
          <a:xfrm>
            <a:off x="6072188" y="5643563"/>
            <a:ext cx="642937" cy="3571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 sz="2400"/>
          </a:p>
        </p:txBody>
      </p:sp>
      <p:sp>
        <p:nvSpPr>
          <p:cNvPr id="221193" name="9 Metin kutusu">
            <a:extLst>
              <a:ext uri="{FF2B5EF4-FFF2-40B4-BE49-F238E27FC236}">
                <a16:creationId xmlns:a16="http://schemas.microsoft.com/office/drawing/2014/main" id="{54196008-5076-9BCE-BE98-70D4E4373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092825"/>
            <a:ext cx="4681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  <a:sym typeface="Symbol" panose="05050102010706020507" pitchFamily="18" charset="2"/>
              </a:rPr>
              <a:t>A modeli B modeline indirgenir.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3 Slayt Numarası Yer Tutucusu">
            <a:extLst>
              <a:ext uri="{FF2B5EF4-FFF2-40B4-BE49-F238E27FC236}">
                <a16:creationId xmlns:a16="http://schemas.microsoft.com/office/drawing/2014/main" id="{7EBFC45B-3115-2A3E-FD7D-489036A5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76D1B3-EDE4-4B43-B552-DD064C561427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70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CFE9E77-59E4-BCB0-00B0-0690D648E8C2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tr-TR" sz="36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Yuvalanmamış Hipotez Testleri</a:t>
            </a:r>
          </a:p>
        </p:txBody>
      </p:sp>
      <p:sp>
        <p:nvSpPr>
          <p:cNvPr id="223236" name="Text Box 4">
            <a:extLst>
              <a:ext uri="{FF2B5EF4-FFF2-40B4-BE49-F238E27FC236}">
                <a16:creationId xmlns:a16="http://schemas.microsoft.com/office/drawing/2014/main" id="{376E2205-E1C0-AB9C-B529-8D165D85F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857375"/>
            <a:ext cx="7772400" cy="101600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Model C:  Y = a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a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2 </a:t>
            </a:r>
            <a:r>
              <a:rPr lang="en-US" altLang="tr-TR" sz="2400">
                <a:latin typeface="Times New Roman" panose="02020603050405020304" pitchFamily="18" charset="0"/>
              </a:rPr>
              <a:t>                            + u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Model D:  Y =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Z</a:t>
            </a:r>
            <a:r>
              <a:rPr lang="en-US" altLang="tr-TR" sz="2400" baseline="-25000">
                <a:latin typeface="Times New Roman" panose="02020603050405020304" pitchFamily="18" charset="0"/>
              </a:rPr>
              <a:t>2  </a:t>
            </a:r>
            <a:r>
              <a:rPr lang="en-US" altLang="tr-TR" sz="2400">
                <a:latin typeface="Times New Roman" panose="02020603050405020304" pitchFamily="18" charset="0"/>
              </a:rPr>
              <a:t>                           </a:t>
            </a:r>
            <a:r>
              <a:rPr lang="en-US" altLang="tr-TR" sz="2400" baseline="-25000">
                <a:latin typeface="Times New Roman" panose="02020603050405020304" pitchFamily="18" charset="0"/>
              </a:rPr>
              <a:t> </a:t>
            </a:r>
            <a:r>
              <a:rPr lang="en-US" altLang="tr-TR" sz="2400">
                <a:latin typeface="Times New Roman" panose="02020603050405020304" pitchFamily="18" charset="0"/>
              </a:rPr>
              <a:t>+ v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223237" name="3 Metin kutusu">
            <a:extLst>
              <a:ext uri="{FF2B5EF4-FFF2-40B4-BE49-F238E27FC236}">
                <a16:creationId xmlns:a16="http://schemas.microsoft.com/office/drawing/2014/main" id="{DA6C4B55-54ED-3C2E-C85E-3B921A739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3500438"/>
            <a:ext cx="7858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C ve D yuvalanmamış modellerdir.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3 Slayt Numarası Yer Tutucusu">
            <a:extLst>
              <a:ext uri="{FF2B5EF4-FFF2-40B4-BE49-F238E27FC236}">
                <a16:creationId xmlns:a16="http://schemas.microsoft.com/office/drawing/2014/main" id="{57C49011-0099-D9D1-F709-CF0F6D26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78925C-793B-4D9E-A9CC-F579C35C23AD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71</a:t>
            </a:fld>
            <a:endParaRPr lang="tr-TR" altLang="tr-TR" sz="1400"/>
          </a:p>
        </p:txBody>
      </p:sp>
      <p:sp>
        <p:nvSpPr>
          <p:cNvPr id="104451" name="3 Metin kutusu">
            <a:extLst>
              <a:ext uri="{FF2B5EF4-FFF2-40B4-BE49-F238E27FC236}">
                <a16:creationId xmlns:a16="http://schemas.microsoft.com/office/drawing/2014/main" id="{0978E004-6401-4AFE-D173-D852D5BC0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2214563"/>
            <a:ext cx="7358062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r-TR" altLang="tr-TR" sz="2400">
                <a:latin typeface="Times New Roman" panose="02020603050405020304" pitchFamily="18" charset="0"/>
              </a:rPr>
              <a:t> Belirlilik Katsayıları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r-TR" altLang="tr-TR" sz="2400">
                <a:latin typeface="Times New Roman" panose="02020603050405020304" pitchFamily="18" charset="0"/>
              </a:rPr>
              <a:t>  Hocking S</a:t>
            </a:r>
            <a:r>
              <a:rPr lang="tr-TR" altLang="tr-TR" sz="2400" baseline="-25000">
                <a:latin typeface="Times New Roman" panose="02020603050405020304" pitchFamily="18" charset="0"/>
              </a:rPr>
              <a:t>p</a:t>
            </a:r>
            <a:r>
              <a:rPr lang="tr-TR" altLang="tr-TR" sz="2400">
                <a:latin typeface="Times New Roman" panose="02020603050405020304" pitchFamily="18" charset="0"/>
              </a:rPr>
              <a:t> Ölçüsü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r-TR" altLang="tr-TR" sz="2400">
                <a:latin typeface="Times New Roman" panose="02020603050405020304" pitchFamily="18" charset="0"/>
              </a:rPr>
              <a:t> Mallow C</a:t>
            </a:r>
            <a:r>
              <a:rPr lang="tr-TR" altLang="tr-TR" sz="2400" baseline="-25000">
                <a:latin typeface="Times New Roman" panose="02020603050405020304" pitchFamily="18" charset="0"/>
              </a:rPr>
              <a:t>p</a:t>
            </a:r>
            <a:r>
              <a:rPr lang="tr-TR" altLang="tr-TR" sz="2400">
                <a:latin typeface="Times New Roman" panose="02020603050405020304" pitchFamily="18" charset="0"/>
              </a:rPr>
              <a:t> Ölçüsü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r-TR" altLang="tr-TR" sz="2400">
                <a:latin typeface="Times New Roman" panose="02020603050405020304" pitchFamily="18" charset="0"/>
              </a:rPr>
              <a:t> Amemiya PC Ölçüsü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r-TR" altLang="tr-TR" sz="2400">
                <a:latin typeface="Times New Roman" panose="02020603050405020304" pitchFamily="18" charset="0"/>
              </a:rPr>
              <a:t> Akaike AIC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tr-TR" altLang="tr-TR" sz="2400">
                <a:latin typeface="Times New Roman" panose="02020603050405020304" pitchFamily="18" charset="0"/>
              </a:rPr>
              <a:t> Schwartz SC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2434379-8A6F-E298-0F2F-0E96DB4DCC26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tr-TR" sz="36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Yuvalanmamış Hipotez Testleri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20F0D895-4B76-C08A-887B-205CFA085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95400"/>
            <a:ext cx="7772400" cy="461963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tr-TR" altLang="tr-TR" sz="2400">
                <a:latin typeface="Times New Roman" panose="02020603050405020304" pitchFamily="18" charset="0"/>
              </a:rPr>
              <a:t>Ayırdedici Yaklaşım,</a:t>
            </a:r>
            <a:endParaRPr lang="en-US" altLang="tr-TR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/>
      <p:bldP spid="2" grpId="0" animBg="1" autoUpdateAnimBg="0"/>
      <p:bldP spid="3" grpId="0" animBg="1" autoUpdateAnimBg="0"/>
    </p:bld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546" name="3 Slayt Numarası Yer Tutucusu">
            <a:extLst>
              <a:ext uri="{FF2B5EF4-FFF2-40B4-BE49-F238E27FC236}">
                <a16:creationId xmlns:a16="http://schemas.microsoft.com/office/drawing/2014/main" id="{44B5EFAF-9302-99F4-5BDC-B498B2E4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6BE864-1FA2-479E-8033-00D90ADC2B53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2434379-8A6F-E298-0F2F-0E96DB4DCC26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tr-TR" sz="30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Bilgi Ölçütleri ile Model Seçimi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47" name="Denklem"/>
              <p:cNvSpPr txBox="1"/>
              <p:nvPr/>
            </p:nvSpPr>
            <p:spPr>
              <a:xfrm>
                <a:off x="731520" y="1051560"/>
                <a:ext cx="4977262" cy="40965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>
                          <a:latin typeface="Cambria Math"/>
                        </a:rPr>
                        <m:t>A</m:t>
                      </m:r>
                      <m:r>
                        <a:rPr lang="en-US" sz="2400">
                          <a:latin typeface="Cambria Math"/>
                        </a:rPr>
                        <m:t>I</m:t>
                      </m:r>
                      <m:r>
                        <a:rPr lang="en-US" sz="2400"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  <m:r>
                            <a:rPr lang="en-US" sz="2400">
                              <a:latin typeface="Cambria Math"/>
                            </a:rPr>
                            <m:t>ℓ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  <m:r>
                            <a:rPr lang="en-US" sz="2400">
                              <a:latin typeface="Cambria Math"/>
                            </a:rPr>
                            <m:t>k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</a:rPr>
                            <m:t>n</m:t>
                          </m:r>
                        </m:den>
                      </m:f>
                      <m:r>
                        <a:rPr lang="en-US" sz="2400">
                          <a:latin typeface="Cambria Math"/>
                        </a:rPr>
                        <m:t>  </m:t>
                      </m:r>
                      <m:r>
                        <a:rPr lang="en-US" sz="2400">
                          <a:latin typeface="Cambria Math"/>
                        </a:rPr>
                        <m:t>  </m:t>
                      </m:r>
                      <m:r>
                        <a:rPr lang="en-US" sz="2400">
                          <a:latin typeface="Cambria Math"/>
                        </a:rPr>
                        <m:t>S</m:t>
                      </m:r>
                      <m:r>
                        <a:rPr lang="en-US" sz="2400"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  <m:r>
                            <a:rPr lang="en-US" sz="2400">
                              <a:latin typeface="Cambria Math"/>
                            </a:rPr>
                            <m:t>ℓ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00">
                              <a:latin typeface="Cambria Math"/>
                            </a:rPr>
                            <m:t>k</m:t>
                          </m:r>
                          <m:r>
                            <a:rPr lang="en-US" sz="2400">
                              <a:latin typeface="Cambria Math"/>
                            </a:rPr>
                            <m:t> 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/>
                            </a:rPr>
                            <m:t>ln</m:t>
                          </m:r>
                          <m:r>
                            <a:rPr lang="en-US" sz="2400">
                              <a:latin typeface="Cambria Math"/>
                            </a:rPr>
                            <m:t> </m:t>
                          </m:r>
                          <m:r>
                            <a:rPr lang="en-US" sz="2400">
                              <a:latin typeface="Cambria Math"/>
                            </a:rPr>
                            <m:t>n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pic>
            <p:nvPicPr>
              <p:cNvPr id="108547" name="Picture 108546" descr="eq0036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31520" y="1051560"/>
                <a:ext cx="4608576" cy="390144"/>
              </a:xfrm>
              <a:prstGeom prst="rect">
                <a:avLst/>
              </a:prstGeom>
            </p:spPr>
          </p:pic>
        </mc:Fallback>
      </mc:AlternateContent>
      <p:sp>
        <p:nvSpPr>
          <p:cNvPr id="108548" name="TextBox 108547"/>
          <p:cNvSpPr txBox="1"/>
          <p:nvPr/>
        </p:nvSpPr>
        <p:spPr>
          <a:xfrm>
            <a:off x="274320" y="196596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ℓ: log-olabilirlik, k: katsayı sayısı (EViews tanımı). En küçük değeri veren model seçilir; SC ek parametreyi AIC’den daha ağır cezalandırır.</a:t>
            </a:r>
          </a:p>
        </p:txBody>
      </p:sp>
      <p:graphicFrame>
        <p:nvGraphicFramePr>
          <p:cNvPr id="108549" name="Table 108548"/>
          <p:cNvGraphicFramePr>
            <a:graphicFrameLocks noGrp="1"/>
          </p:cNvGraphicFramePr>
          <p:nvPr/>
        </p:nvGraphicFramePr>
        <p:xfrm>
          <a:off x="365760" y="2880360"/>
          <a:ext cx="84124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749039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Açıklayıcı değişkenler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R̄</a:t>
                      </a:r>
                      <a:r>
                        <a:rPr sz="1600" b="1" lang="tr-TR" baseline="30000">
                          <a:solidFill>
                            <a:srgbClr val="1F1F1F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AIC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SC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GNP, INTRATE, POP, UNEMP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0.328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14.320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14.567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GNP, INTRATE, UNEMP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0.357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14.242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14.440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1" lang="tr-TR">
                          <a:latin typeface="Times New Roman"/>
                        </a:rPr>
                        <a:t>3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latin typeface="Times New Roman"/>
                        </a:rPr>
                        <a:t>GNP, INTRATE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latin typeface="Times New Roman"/>
                        </a:rPr>
                        <a:t>0.375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latin typeface="Times New Roman"/>
                        </a:rPr>
                        <a:t>14.178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latin typeface="Times New Roman"/>
                        </a:rPr>
                        <a:t>14.326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108550" name="TextBox 108549"/>
          <p:cNvSpPr txBox="1"/>
          <p:nvPr/>
        </p:nvSpPr>
        <p:spPr>
          <a:xfrm>
            <a:off x="274320" y="4572000"/>
            <a:ext cx="8595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Hendry örneğindeki üç konut modelinde (HOUSING, 1963-1985) üç ölçüt de Model 3’ü seçmektedir.</a:t>
            </a:r>
          </a:p>
          <a:p>
            <a:r>
              <a:rPr sz="1800" lang="tr-TR">
                <a:latin typeface="Times New Roman"/>
              </a:rPr>
              <a:t>Bilgi ölçütleri yuvalanmış ya da yuvalanmamış, bağımlı değişkeni aynı olan modelleri karşılaştırmada kullanılabilir.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3 Slayt Numarası Yer Tutucusu">
            <a:extLst>
              <a:ext uri="{FF2B5EF4-FFF2-40B4-BE49-F238E27FC236}">
                <a16:creationId xmlns:a16="http://schemas.microsoft.com/office/drawing/2014/main" id="{D6C80228-905C-1F73-94FB-8D19159A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0B9A39-535E-4C68-B458-0EF0043177A9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72</a:t>
            </a:fld>
            <a:endParaRPr lang="tr-TR" altLang="tr-TR" sz="14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53E26EAC-46D4-57EA-B749-1E109723C1E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46100" y="384175"/>
            <a:ext cx="7759700" cy="661988"/>
          </a:xfrm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600"/>
              <a:t>Yuvalanmamış Hipotez Testleri</a:t>
            </a:r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BD3AC91B-D332-D52B-67D7-8C47A1103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66875"/>
            <a:ext cx="8534400" cy="762000"/>
          </a:xfrm>
          <a:prstGeom prst="rect">
            <a:avLst/>
          </a:prstGeom>
          <a:noFill/>
          <a:ln w="57150" cmpd="thinThick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tr-TR" altLang="tr-TR" sz="3600">
                <a:solidFill>
                  <a:schemeClr val="tx2"/>
                </a:solidFill>
                <a:latin typeface="Times New Roman" panose="02020603050405020304" pitchFamily="18" charset="0"/>
              </a:rPr>
              <a:t>Farklı Model Bilgisiyle Ayırdedici Yaklaşım</a:t>
            </a:r>
          </a:p>
        </p:txBody>
      </p:sp>
      <p:sp>
        <p:nvSpPr>
          <p:cNvPr id="30725" name="Text Box 5">
            <a:extLst>
              <a:ext uri="{FF2B5EF4-FFF2-40B4-BE49-F238E27FC236}">
                <a16:creationId xmlns:a16="http://schemas.microsoft.com/office/drawing/2014/main" id="{E0E0AF91-52BF-712A-F03A-AC69FDC3E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143250"/>
            <a:ext cx="7772400" cy="1042988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r-TR" altLang="tr-TR" sz="2400">
                <a:latin typeface="Times New Roman" panose="02020603050405020304" pitchFamily="18" charset="0"/>
              </a:rPr>
              <a:t>Yuvalanmamış-</a:t>
            </a:r>
            <a:r>
              <a:rPr lang="en-US" altLang="tr-TR" sz="2400">
                <a:latin typeface="Times New Roman" panose="02020603050405020304" pitchFamily="18" charset="0"/>
              </a:rPr>
              <a:t> F test</a:t>
            </a:r>
            <a:r>
              <a:rPr lang="tr-TR" altLang="tr-TR" sz="2400">
                <a:latin typeface="Times New Roman" panose="02020603050405020304" pitchFamily="18" charset="0"/>
              </a:rPr>
              <a:t>i</a:t>
            </a:r>
            <a:endParaRPr lang="en-US" altLang="tr-T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Davidson-MacKinnon </a:t>
            </a:r>
            <a:r>
              <a:rPr lang="tr-TR" altLang="tr-TR" sz="2400">
                <a:latin typeface="Times New Roman" panose="02020603050405020304" pitchFamily="18" charset="0"/>
              </a:rPr>
              <a:t>t</a:t>
            </a:r>
            <a:r>
              <a:rPr lang="en-US" altLang="tr-TR" sz="2400">
                <a:latin typeface="Times New Roman" panose="02020603050405020304" pitchFamily="18" charset="0"/>
              </a:rPr>
              <a:t>est</a:t>
            </a:r>
            <a:r>
              <a:rPr lang="tr-TR" altLang="tr-TR" sz="2400">
                <a:latin typeface="Times New Roman" panose="02020603050405020304" pitchFamily="18" charset="0"/>
              </a:rPr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 autoUpdateAnimBg="0"/>
      <p:bldP spid="30724" grpId="0" animBg="1" autoUpdateAnimBg="0"/>
      <p:bldP spid="30725" grpId="0" animBg="1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3 Slayt Numarası Yer Tutucusu">
            <a:extLst>
              <a:ext uri="{FF2B5EF4-FFF2-40B4-BE49-F238E27FC236}">
                <a16:creationId xmlns:a16="http://schemas.microsoft.com/office/drawing/2014/main" id="{CFA7CDDE-6780-71FD-6105-659E82C4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489F42-6BE9-41CA-A78C-8818FE8E0C2D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73</a:t>
            </a:fld>
            <a:endParaRPr lang="tr-TR" altLang="tr-TR" sz="14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8133F619-7D4A-E74A-0884-70B72E313B5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46100" y="384175"/>
            <a:ext cx="7759700" cy="661988"/>
          </a:xfrm>
          <a:ln w="57150" cmpd="thinThick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tr-TR" altLang="tr-TR" sz="3600">
                <a:solidFill>
                  <a:schemeClr val="tx1"/>
                </a:solidFill>
              </a:rPr>
              <a:t>Yuvalanmamış-</a:t>
            </a:r>
            <a:r>
              <a:rPr lang="en-US" altLang="tr-TR" sz="3600">
                <a:solidFill>
                  <a:schemeClr val="tx1"/>
                </a:solidFill>
              </a:rPr>
              <a:t>F test</a:t>
            </a:r>
            <a:r>
              <a:rPr lang="tr-TR" altLang="tr-TR" sz="360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5A46DEAC-E89B-6231-6336-3B60CE66E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557338"/>
            <a:ext cx="7772400" cy="49530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Model E:  Y = c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c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2 </a:t>
            </a:r>
            <a:r>
              <a:rPr lang="en-US" altLang="tr-TR" sz="2400">
                <a:latin typeface="Times New Roman" panose="02020603050405020304" pitchFamily="18" charset="0"/>
              </a:rPr>
              <a:t>+ c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Z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+ u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EA42BA2F-5C98-79C9-84A2-6F2D5D403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386013"/>
            <a:ext cx="7772400" cy="1042987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Model C:  Y = a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a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2 </a:t>
            </a:r>
            <a:r>
              <a:rPr lang="en-US" altLang="tr-TR" sz="2400">
                <a:latin typeface="Times New Roman" panose="02020603050405020304" pitchFamily="18" charset="0"/>
              </a:rPr>
              <a:t> + u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Model D:  Y =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Z</a:t>
            </a:r>
            <a:r>
              <a:rPr lang="en-US" altLang="tr-TR" sz="2400" baseline="-25000">
                <a:latin typeface="Times New Roman" panose="02020603050405020304" pitchFamily="18" charset="0"/>
              </a:rPr>
              <a:t>2  </a:t>
            </a:r>
            <a:r>
              <a:rPr lang="en-US" altLang="tr-TR" sz="2400">
                <a:latin typeface="Times New Roman" panose="02020603050405020304" pitchFamily="18" charset="0"/>
              </a:rPr>
              <a:t>+ v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106502" name="4 Metin kutusu">
            <a:extLst>
              <a:ext uri="{FF2B5EF4-FFF2-40B4-BE49-F238E27FC236}">
                <a16:creationId xmlns:a16="http://schemas.microsoft.com/office/drawing/2014/main" id="{BAFCCA0A-4437-5E66-1D55-2885A4A68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724275"/>
            <a:ext cx="82867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tr-TR" altLang="tr-TR" sz="2400">
                <a:latin typeface="Times New Roman" panose="02020603050405020304" pitchFamily="18" charset="0"/>
              </a:rPr>
              <a:t> C modeli doğru ise c</a:t>
            </a:r>
            <a:r>
              <a:rPr lang="tr-TR" altLang="tr-TR" sz="2400" baseline="-25000">
                <a:latin typeface="Times New Roman" panose="02020603050405020304" pitchFamily="18" charset="0"/>
              </a:rPr>
              <a:t>3</a:t>
            </a:r>
            <a:r>
              <a:rPr lang="tr-TR" altLang="tr-TR" sz="2400">
                <a:latin typeface="Times New Roman" panose="02020603050405020304" pitchFamily="18" charset="0"/>
              </a:rPr>
              <a:t> = 0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tr-TR" altLang="tr-TR" sz="2400">
                <a:latin typeface="Times New Roman" panose="02020603050405020304" pitchFamily="18" charset="0"/>
              </a:rPr>
              <a:t>D modeli doğru ise c</a:t>
            </a:r>
            <a:r>
              <a:rPr lang="tr-TR" altLang="tr-TR" sz="2400" baseline="-25000">
                <a:latin typeface="Times New Roman" panose="02020603050405020304" pitchFamily="18" charset="0"/>
              </a:rPr>
              <a:t>2</a:t>
            </a:r>
            <a:r>
              <a:rPr lang="tr-TR" altLang="tr-TR" sz="2400">
                <a:latin typeface="Times New Roman" panose="02020603050405020304" pitchFamily="18" charset="0"/>
              </a:rPr>
              <a:t> = 0 olacaktır. </a:t>
            </a:r>
          </a:p>
        </p:txBody>
      </p:sp>
      <p:sp>
        <p:nvSpPr>
          <p:cNvPr id="106503" name="5 Metin kutusu">
            <a:extLst>
              <a:ext uri="{FF2B5EF4-FFF2-40B4-BE49-F238E27FC236}">
                <a16:creationId xmlns:a16="http://schemas.microsoft.com/office/drawing/2014/main" id="{8079CE88-385A-46DF-A350-BF88865C9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5286375"/>
            <a:ext cx="8286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Katsayılar t ya da F testi ile test edilirler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17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build="p" animBg="1" autoUpdateAnimBg="0"/>
      <p:bldP spid="31747" grpId="0" build="p" animBg="1" autoUpdateAnimBg="0"/>
      <p:bldP spid="31748" grpId="0" build="p" animBg="1" autoUpdateAnimBg="0"/>
      <p:bldP spid="106502" grpId="0"/>
      <p:bldP spid="10650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3 Slayt Numarası Yer Tutucusu">
            <a:extLst>
              <a:ext uri="{FF2B5EF4-FFF2-40B4-BE49-F238E27FC236}">
                <a16:creationId xmlns:a16="http://schemas.microsoft.com/office/drawing/2014/main" id="{EBDBBB9A-3D7F-F5C4-2B71-E283002A1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887F29-C9D8-4149-9E3C-EE66C77DC161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74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DFBA6F7-CFC6-2682-DDA5-84F49FB8BA81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tr-TR" sz="3600" kern="0">
                <a:latin typeface="+mj-lt"/>
                <a:ea typeface="+mj-ea"/>
                <a:cs typeface="+mj-cs"/>
              </a:rPr>
              <a:t>Yuvalanmamış-</a:t>
            </a:r>
            <a:r>
              <a:rPr lang="en-US" sz="3600" kern="0">
                <a:latin typeface="+mj-lt"/>
                <a:ea typeface="+mj-ea"/>
                <a:cs typeface="+mj-cs"/>
              </a:rPr>
              <a:t>F test</a:t>
            </a:r>
            <a:r>
              <a:rPr lang="tr-TR" sz="3600" kern="0">
                <a:latin typeface="+mj-lt"/>
                <a:ea typeface="+mj-ea"/>
                <a:cs typeface="+mj-cs"/>
              </a:rPr>
              <a:t>i</a:t>
            </a:r>
          </a:p>
        </p:txBody>
      </p:sp>
      <p:sp>
        <p:nvSpPr>
          <p:cNvPr id="231428" name="2 Metin kutusu">
            <a:extLst>
              <a:ext uri="{FF2B5EF4-FFF2-40B4-BE49-F238E27FC236}">
                <a16:creationId xmlns:a16="http://schemas.microsoft.com/office/drawing/2014/main" id="{4C73A2AE-94E0-7C33-8E08-4CD7DD240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1071563"/>
            <a:ext cx="80724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Uygulama: </a:t>
            </a:r>
            <a:r>
              <a:rPr lang="tr-TR" altLang="tr-TR" sz="2400">
                <a:latin typeface="Times New Roman" panose="02020603050405020304" pitchFamily="18" charset="0"/>
              </a:rPr>
              <a:t>1990-2002 yılları verisi ile Vadeli Mevduat (VM), Para arzı(PA) ve GSMH verileri ile Yuvalanmamış F testini yapalım.</a:t>
            </a:r>
          </a:p>
        </p:txBody>
      </p:sp>
      <p:graphicFrame>
        <p:nvGraphicFramePr>
          <p:cNvPr id="4" name="3 Tablo">
            <a:extLst>
              <a:ext uri="{FF2B5EF4-FFF2-40B4-BE49-F238E27FC236}">
                <a16:creationId xmlns:a16="http://schemas.microsoft.com/office/drawing/2014/main" id="{1A3154A8-1A6B-2FD7-414A-BE17D699F2A4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2143125"/>
          <a:ext cx="4857752" cy="4400550"/>
        </p:xfrm>
        <a:graphic>
          <a:graphicData uri="http://schemas.openxmlformats.org/drawingml/2006/table">
            <a:tbl>
              <a:tblPr/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>
                          <a:latin typeface="Arial Tur"/>
                        </a:rPr>
                        <a:t>YILLAR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>
                          <a:latin typeface="Arial Tur"/>
                        </a:rPr>
                        <a:t>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>
                          <a:latin typeface="Arial Tur"/>
                        </a:rPr>
                        <a:t>PA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>
                          <a:latin typeface="Arial Tur"/>
                        </a:rPr>
                        <a:t>GSMH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0.042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0.072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0.397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0.073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0.117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0.634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0.115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0.191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1.104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0.159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0.282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1.997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0.409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3.888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0.879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1.257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7.855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2.044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2.925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14.978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4.144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5.659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29.393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9.012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11.423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53.518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17.958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22.402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78.283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24.348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31.912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125.596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2001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35.652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47.241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179.48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2002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47.159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61.879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 dirty="0">
                          <a:latin typeface="Arial Tur"/>
                        </a:rPr>
                        <a:t>265.476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Object 18">
            <a:extLst>
              <a:ext uri="{FF2B5EF4-FFF2-40B4-BE49-F238E27FC236}">
                <a16:creationId xmlns:a16="http://schemas.microsoft.com/office/drawing/2014/main" id="{D07FF4F4-70D7-A3DC-4753-3D0A483F28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1989138"/>
          <a:ext cx="12954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enklem" r:id="rId3" imgW="634725" imgH="228501" progId="Equation.3">
                  <p:embed/>
                </p:oleObj>
              </mc:Choice>
              <mc:Fallback>
                <p:oleObj name="Denklem" r:id="rId3" imgW="634725" imgH="228501" progId="Equation.3">
                  <p:embed/>
                  <p:pic>
                    <p:nvPicPr>
                      <p:cNvPr id="73730" name="Object 18">
                        <a:extLst>
                          <a:ext uri="{FF2B5EF4-FFF2-40B4-BE49-F238E27FC236}">
                            <a16:creationId xmlns:a16="http://schemas.microsoft.com/office/drawing/2014/main" id="{D07FF4F4-70D7-A3DC-4753-3D0A483F28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1989138"/>
                        <a:ext cx="12954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75" name="3 Slayt Numarası Yer Tutucusu">
            <a:extLst>
              <a:ext uri="{FF2B5EF4-FFF2-40B4-BE49-F238E27FC236}">
                <a16:creationId xmlns:a16="http://schemas.microsoft.com/office/drawing/2014/main" id="{F9C32109-31E8-8F76-9DE1-85D385AC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B02F49-458C-410E-A0B9-FE3A13153AA5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75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86331CE-985F-ED2E-C09C-3835CBE347CC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tr-TR" sz="3200" kern="0" dirty="0">
                <a:latin typeface="+mj-lt"/>
                <a:ea typeface="+mj-ea"/>
                <a:cs typeface="+mj-cs"/>
              </a:rPr>
              <a:t>Yuvalanmamış-</a:t>
            </a:r>
            <a:r>
              <a:rPr lang="en-US" sz="3200" kern="0" dirty="0">
                <a:latin typeface="+mj-lt"/>
                <a:ea typeface="+mj-ea"/>
                <a:cs typeface="+mj-cs"/>
              </a:rPr>
              <a:t>F test</a:t>
            </a:r>
            <a:r>
              <a:rPr lang="tr-TR" sz="3200" kern="0" dirty="0">
                <a:latin typeface="+mj-lt"/>
                <a:ea typeface="+mj-ea"/>
                <a:cs typeface="+mj-cs"/>
              </a:rPr>
              <a:t>i</a:t>
            </a:r>
          </a:p>
        </p:txBody>
      </p:sp>
      <p:sp>
        <p:nvSpPr>
          <p:cNvPr id="3" name="2 Metin kutusu">
            <a:extLst>
              <a:ext uri="{FF2B5EF4-FFF2-40B4-BE49-F238E27FC236}">
                <a16:creationId xmlns:a16="http://schemas.microsoft.com/office/drawing/2014/main" id="{C1B458ED-2F68-4F62-535F-B63704EA4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1857375" cy="476250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dirty="0">
                <a:latin typeface="Times New Roman" panose="02020603050405020304" pitchFamily="18" charset="0"/>
              </a:rPr>
              <a:t>Model </a:t>
            </a:r>
            <a:r>
              <a:rPr lang="tr-TR" altLang="tr-T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tr-TR" altLang="tr-TR" sz="2400" dirty="0">
                <a:latin typeface="Times New Roman" panose="02020603050405020304" pitchFamily="18" charset="0"/>
              </a:rPr>
              <a:t>: </a:t>
            </a:r>
          </a:p>
        </p:txBody>
      </p:sp>
      <p:grpSp>
        <p:nvGrpSpPr>
          <p:cNvPr id="4" name="16 Grup">
            <a:extLst>
              <a:ext uri="{FF2B5EF4-FFF2-40B4-BE49-F238E27FC236}">
                <a16:creationId xmlns:a16="http://schemas.microsoft.com/office/drawing/2014/main" id="{8004E305-D07F-87EA-C794-79FD2B420149}"/>
              </a:ext>
            </a:extLst>
          </p:cNvPr>
          <p:cNvGrpSpPr>
            <a:grpSpLocks/>
          </p:cNvGrpSpPr>
          <p:nvPr/>
        </p:nvGrpSpPr>
        <p:grpSpPr bwMode="auto">
          <a:xfrm>
            <a:off x="0" y="1628775"/>
            <a:ext cx="9010650" cy="4997450"/>
            <a:chOff x="0" y="1628775"/>
            <a:chExt cx="9010650" cy="4997450"/>
          </a:xfrm>
        </p:grpSpPr>
        <p:sp>
          <p:nvSpPr>
            <p:cNvPr id="233486" name="4 Dikdörtgen">
              <a:extLst>
                <a:ext uri="{FF2B5EF4-FFF2-40B4-BE49-F238E27FC236}">
                  <a16:creationId xmlns:a16="http://schemas.microsoft.com/office/drawing/2014/main" id="{AB925D41-2C2D-30C3-5428-653F8F061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75" y="1628775"/>
              <a:ext cx="8715375" cy="499745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 dirty="0" err="1">
                  <a:latin typeface="Times New Roman" panose="02020603050405020304" pitchFamily="18" charset="0"/>
                </a:rPr>
                <a:t>Dependent</a:t>
              </a:r>
              <a:r>
                <a:rPr lang="tr-TR" altLang="tr-TR" sz="2000" dirty="0">
                  <a:latin typeface="Times New Roman" panose="02020603050405020304" pitchFamily="18" charset="0"/>
                </a:rPr>
                <a:t> Variable: VM					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 dirty="0">
                  <a:latin typeface="Times New Roman" panose="02020603050405020304" pitchFamily="18" charset="0"/>
                </a:rPr>
                <a:t>Method: Least Squares					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 dirty="0">
                  <a:latin typeface="Times New Roman" panose="02020603050405020304" pitchFamily="18" charset="0"/>
                </a:rPr>
                <a:t>Sample: 1990 2002</a:t>
              </a:r>
              <a:r>
                <a:rPr lang="tr-TR" altLang="tr-TR" sz="2000" dirty="0" err="1">
                  <a:latin typeface="Times New Roman" panose="02020603050405020304" pitchFamily="18" charset="0"/>
                </a:rPr>
                <a:t/>
              </a:r>
              <a:r>
                <a:rPr lang="tr-TR" altLang="tr-TR" sz="2000" dirty="0">
                  <a:latin typeface="Times New Roman" panose="02020603050405020304" pitchFamily="18" charset="0"/>
                </a:rPr>
                <a:t>					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dirty="0">
                  <a:latin typeface="Times New Roman" panose="02020603050405020304" pitchFamily="18" charset="0"/>
                </a:rPr>
                <a:t>Included observations: 13	</a:t>
              </a:r>
              <a:endParaRPr lang="tr-TR" altLang="tr-TR" sz="2000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dirty="0">
                  <a:latin typeface="Times New Roman" panose="02020603050405020304" pitchFamily="18" charset="0"/>
                </a:rPr>
                <a:t>	</a:t>
              </a:r>
              <a:r>
                <a:rPr lang="tr-TR" altLang="tr-TR" sz="2000" dirty="0">
                  <a:latin typeface="Times New Roman" panose="02020603050405020304" pitchFamily="18" charset="0"/>
                </a:rPr>
                <a:t>		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 dirty="0">
                  <a:latin typeface="Times New Roman" panose="02020603050405020304" pitchFamily="18" charset="0"/>
                </a:rPr>
                <a:t>Variable		</a:t>
              </a:r>
              <a:r>
                <a:rPr lang="tr-TR" altLang="tr-TR" sz="2000" dirty="0" err="1">
                  <a:latin typeface="Times New Roman" panose="02020603050405020304" pitchFamily="18" charset="0"/>
                </a:rPr>
                <a:t>Coefficient</a:t>
              </a:r>
              <a:r>
                <a:rPr lang="tr-TR" altLang="tr-TR" sz="2000" dirty="0">
                  <a:latin typeface="Times New Roman" panose="02020603050405020304" pitchFamily="18" charset="0"/>
                </a:rPr>
                <a:t>	</a:t>
              </a:r>
              <a:r>
                <a:rPr lang="tr-TR" altLang="tr-TR" sz="2000" dirty="0" err="1">
                  <a:latin typeface="Times New Roman" panose="02020603050405020304" pitchFamily="18" charset="0"/>
                </a:rPr>
                <a:t>Std</a:t>
              </a:r>
              <a:r>
                <a:rPr lang="tr-TR" altLang="tr-TR" sz="2000" dirty="0">
                  <a:latin typeface="Times New Roman" panose="02020603050405020304" pitchFamily="18" charset="0"/>
                </a:rPr>
                <a:t>. </a:t>
              </a:r>
              <a:r>
                <a:rPr lang="tr-TR" altLang="tr-TR" sz="2000" dirty="0" err="1">
                  <a:latin typeface="Times New Roman" panose="02020603050405020304" pitchFamily="18" charset="0"/>
                </a:rPr>
                <a:t>Error</a:t>
              </a:r>
              <a:r>
                <a:rPr lang="tr-TR" altLang="tr-TR" sz="2000" dirty="0">
                  <a:latin typeface="Times New Roman" panose="02020603050405020304" pitchFamily="18" charset="0"/>
                </a:rPr>
                <a:t>	t-Statistic	Prob	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 dirty="0">
                  <a:latin typeface="Times New Roman" panose="02020603050405020304" pitchFamily="18" charset="0"/>
                </a:rPr>
                <a:t>C		0.021244	0.108611	0.195599	0.8488	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 dirty="0">
                  <a:latin typeface="Times New Roman" panose="02020603050405020304" pitchFamily="18" charset="0"/>
                </a:rPr>
                <a:t>GSMH		-0.010894	0.012517	-0.870379	0.4045	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 dirty="0">
                  <a:latin typeface="Times New Roman" panose="02020603050405020304" pitchFamily="18" charset="0"/>
                </a:rPr>
                <a:t>PA		0.806634	0.050800	15.87869	0.0000	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 dirty="0">
                  <a:latin typeface="Times New Roman" panose="02020603050405020304" pitchFamily="18" charset="0"/>
                </a:rPr>
                <a:t>								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dirty="0">
                  <a:latin typeface="Times New Roman" panose="02020603050405020304" pitchFamily="18" charset="0"/>
                </a:rPr>
                <a:t>R-squared	</a:t>
              </a:r>
              <a:r>
                <a:rPr lang="tr-TR" altLang="tr-TR" sz="2000" dirty="0">
                  <a:latin typeface="Times New Roman" panose="02020603050405020304" pitchFamily="18" charset="0"/>
                </a:rPr>
                <a:t>	</a:t>
              </a:r>
              <a:r>
                <a:rPr lang="en-US" altLang="tr-TR" sz="2000" dirty="0">
                  <a:latin typeface="Times New Roman" panose="02020603050405020304" pitchFamily="18" charset="0"/>
                </a:rPr>
                <a:t>0.999663	    Mean dependent var</a:t>
              </a:r>
              <a:r>
                <a:rPr lang="tr-TR" altLang="tr-TR" sz="2000" dirty="0">
                  <a:latin typeface="Times New Roman" panose="02020603050405020304" pitchFamily="18" charset="0"/>
                </a:rPr>
                <a:t>	</a:t>
              </a:r>
              <a:r>
                <a:rPr lang="en-US" altLang="tr-TR" sz="2000" dirty="0">
                  <a:latin typeface="Times New Roman" panose="02020603050405020304" pitchFamily="18" charset="0"/>
                </a:rPr>
                <a:t>10.92262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dirty="0">
                  <a:latin typeface="Times New Roman" panose="02020603050405020304" pitchFamily="18" charset="0"/>
                </a:rPr>
                <a:t>Adjusted R-squared	0.999596	    S.D. dependent var	15.71347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dirty="0">
                  <a:latin typeface="Times New Roman" panose="02020603050405020304" pitchFamily="18" charset="0"/>
                </a:rPr>
                <a:t>S.E. of regression	</a:t>
              </a:r>
              <a:r>
                <a:rPr lang="tr-TR" altLang="tr-TR" sz="2000" dirty="0">
                  <a:latin typeface="Times New Roman" panose="02020603050405020304" pitchFamily="18" charset="0"/>
                </a:rPr>
                <a:t>	</a:t>
              </a:r>
              <a:r>
                <a:rPr lang="en-US" altLang="tr-TR" sz="2000" dirty="0">
                  <a:latin typeface="Times New Roman" panose="02020603050405020304" pitchFamily="18" charset="0"/>
                </a:rPr>
                <a:t>0.315964	    Akaike info </a:t>
              </a:r>
              <a:r>
                <a:rPr lang="en-US" altLang="tr-TR" sz="2000" dirty="0" err="1">
                  <a:latin typeface="Times New Roman" panose="02020603050405020304" pitchFamily="18" charset="0"/>
                </a:rPr>
                <a:t>criterio</a:t>
              </a:r>
              <a:r>
                <a:rPr lang="tr-TR" altLang="tr-TR" sz="2000" dirty="0">
                  <a:latin typeface="Times New Roman" panose="02020603050405020304" pitchFamily="18" charset="0"/>
                </a:rPr>
                <a:t> 	</a:t>
              </a:r>
              <a:r>
                <a:rPr lang="en-US" altLang="tr-TR" sz="2000" dirty="0">
                  <a:latin typeface="Times New Roman" panose="02020603050405020304" pitchFamily="18" charset="0"/>
                </a:rPr>
                <a:t>0.732797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dirty="0">
                  <a:latin typeface="Times New Roman" panose="02020603050405020304" pitchFamily="18" charset="0"/>
                </a:rPr>
                <a:t>Sum squared resid	0.998332	    Schwarz criterion	0.863170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dirty="0">
                  <a:latin typeface="Times New Roman" panose="02020603050405020304" pitchFamily="18" charset="0"/>
                </a:rPr>
                <a:t>Log likelihood	</a:t>
              </a:r>
              <a:r>
                <a:rPr lang="tr-TR" altLang="tr-TR" sz="2000" dirty="0">
                  <a:latin typeface="Times New Roman" panose="02020603050405020304" pitchFamily="18" charset="0"/>
                </a:rPr>
                <a:t>	</a:t>
              </a:r>
              <a:r>
                <a:rPr lang="en-US" altLang="tr-TR" sz="2000" dirty="0">
                  <a:latin typeface="Times New Roman" panose="02020603050405020304" pitchFamily="18" charset="0"/>
                </a:rPr>
                <a:t>-1.763182	    F-statistic		14834.53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 dirty="0" err="1">
                  <a:latin typeface="Times New Roman" panose="02020603050405020304" pitchFamily="18" charset="0"/>
                </a:rPr>
                <a:t>Durbin</a:t>
              </a:r>
              <a:r>
                <a:rPr lang="tr-TR" altLang="tr-TR" sz="2000" dirty="0">
                  <a:latin typeface="Times New Roman" panose="02020603050405020304" pitchFamily="18" charset="0"/>
                </a:rPr>
                <a:t>-Watson stat	1.593500	    Prob(F-statistic)	0.000000</a:t>
              </a:r>
            </a:p>
          </p:txBody>
        </p:sp>
        <p:cxnSp>
          <p:nvCxnSpPr>
            <p:cNvPr id="7" name="6 Düz Bağlayıcı">
              <a:extLst>
                <a:ext uri="{FF2B5EF4-FFF2-40B4-BE49-F238E27FC236}">
                  <a16:creationId xmlns:a16="http://schemas.microsoft.com/office/drawing/2014/main" id="{49495988-CCF3-FE5F-A87E-4E3C2510DCA5}"/>
                </a:ext>
              </a:extLst>
            </p:cNvPr>
            <p:cNvCxnSpPr/>
            <p:nvPr/>
          </p:nvCxnSpPr>
          <p:spPr bwMode="auto">
            <a:xfrm>
              <a:off x="0" y="3057525"/>
              <a:ext cx="8858250" cy="158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7 Düz Bağlayıcı">
              <a:extLst>
                <a:ext uri="{FF2B5EF4-FFF2-40B4-BE49-F238E27FC236}">
                  <a16:creationId xmlns:a16="http://schemas.microsoft.com/office/drawing/2014/main" id="{F093A4B5-109D-08CC-2B39-E7AA5069CCD6}"/>
                </a:ext>
              </a:extLst>
            </p:cNvPr>
            <p:cNvCxnSpPr/>
            <p:nvPr/>
          </p:nvCxnSpPr>
          <p:spPr bwMode="auto">
            <a:xfrm>
              <a:off x="152400" y="4627563"/>
              <a:ext cx="8858250" cy="158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8 Oval">
            <a:extLst>
              <a:ext uri="{FF2B5EF4-FFF2-40B4-BE49-F238E27FC236}">
                <a16:creationId xmlns:a16="http://schemas.microsoft.com/office/drawing/2014/main" id="{853DFE26-BEAE-8517-A3D6-C1299F884E6B}"/>
              </a:ext>
            </a:extLst>
          </p:cNvPr>
          <p:cNvSpPr/>
          <p:nvPr/>
        </p:nvSpPr>
        <p:spPr>
          <a:xfrm>
            <a:off x="7358063" y="4143375"/>
            <a:ext cx="1000125" cy="35718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 sz="2400"/>
          </a:p>
        </p:txBody>
      </p:sp>
      <p:sp>
        <p:nvSpPr>
          <p:cNvPr id="10" name="9 Oval">
            <a:extLst>
              <a:ext uri="{FF2B5EF4-FFF2-40B4-BE49-F238E27FC236}">
                <a16:creationId xmlns:a16="http://schemas.microsoft.com/office/drawing/2014/main" id="{6A8F60E6-2EAA-1592-50CE-572E901F5B6B}"/>
              </a:ext>
            </a:extLst>
          </p:cNvPr>
          <p:cNvSpPr/>
          <p:nvPr/>
        </p:nvSpPr>
        <p:spPr>
          <a:xfrm>
            <a:off x="7358063" y="3786188"/>
            <a:ext cx="1000125" cy="3571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 sz="2400"/>
          </a:p>
        </p:txBody>
      </p:sp>
      <p:sp>
        <p:nvSpPr>
          <p:cNvPr id="11" name="10 Metin kutusu">
            <a:extLst>
              <a:ext uri="{FF2B5EF4-FFF2-40B4-BE49-F238E27FC236}">
                <a16:creationId xmlns:a16="http://schemas.microsoft.com/office/drawing/2014/main" id="{786A8209-C85F-6665-2761-D6CFEABB2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2420938"/>
            <a:ext cx="171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H</a:t>
            </a:r>
            <a:r>
              <a:rPr lang="tr-TR" altLang="tr-TR" sz="2400" baseline="-25000">
                <a:latin typeface="Times New Roman" panose="02020603050405020304" pitchFamily="18" charset="0"/>
              </a:rPr>
              <a:t>0</a:t>
            </a:r>
            <a:r>
              <a:rPr lang="tr-TR" altLang="tr-TR" sz="2400">
                <a:latin typeface="Times New Roman" panose="02020603050405020304" pitchFamily="18" charset="0"/>
              </a:rPr>
              <a:t>: c</a:t>
            </a:r>
            <a:r>
              <a:rPr lang="tr-TR" altLang="tr-TR" sz="2400" baseline="-25000">
                <a:latin typeface="Times New Roman" panose="02020603050405020304" pitchFamily="18" charset="0"/>
              </a:rPr>
              <a:t>2</a:t>
            </a:r>
            <a:r>
              <a:rPr lang="tr-TR" altLang="tr-TR" sz="2400">
                <a:latin typeface="Times New Roman" panose="02020603050405020304" pitchFamily="18" charset="0"/>
              </a:rPr>
              <a:t> = 0</a:t>
            </a:r>
          </a:p>
        </p:txBody>
      </p:sp>
      <p:cxnSp>
        <p:nvCxnSpPr>
          <p:cNvPr id="25" name="24 Dirsek Bağlayıcısı">
            <a:extLst>
              <a:ext uri="{FF2B5EF4-FFF2-40B4-BE49-F238E27FC236}">
                <a16:creationId xmlns:a16="http://schemas.microsoft.com/office/drawing/2014/main" id="{45693A2E-57EA-4AA9-F4DC-D68369EC17E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001000" y="2214563"/>
            <a:ext cx="342900" cy="2117725"/>
          </a:xfrm>
          <a:prstGeom prst="bentConnector4">
            <a:avLst>
              <a:gd name="adj1" fmla="val -62500"/>
              <a:gd name="adj2" fmla="val 54273"/>
            </a:avLst>
          </a:prstGeom>
          <a:noFill/>
          <a:ln w="28575" algn="ctr">
            <a:solidFill>
              <a:srgbClr val="92D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28 Dirsek Bağlayıcısı">
            <a:extLst>
              <a:ext uri="{FF2B5EF4-FFF2-40B4-BE49-F238E27FC236}">
                <a16:creationId xmlns:a16="http://schemas.microsoft.com/office/drawing/2014/main" id="{C4FFBE26-1257-DB4B-D790-AA6204845FE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713538" y="3448050"/>
            <a:ext cx="1308100" cy="117475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rgbClr val="92D05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8556" name="14 Metin kutusu">
            <a:extLst>
              <a:ext uri="{FF2B5EF4-FFF2-40B4-BE49-F238E27FC236}">
                <a16:creationId xmlns:a16="http://schemas.microsoft.com/office/drawing/2014/main" id="{E69FCC54-1904-1BBE-7F74-D5F8833B8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628775"/>
            <a:ext cx="49291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1800" dirty="0">
                <a:solidFill>
                  <a:srgbClr val="FF0000"/>
                </a:solidFill>
              </a:rPr>
              <a:t>Sadece t testi uygulayarak</a:t>
            </a:r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D7714F9A-D0BA-C15E-6A3A-AC503D178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981075"/>
            <a:ext cx="5759450" cy="49530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Model E:  </a:t>
            </a:r>
            <a:r>
              <a:rPr lang="tr-TR" altLang="tr-TR" sz="2400">
                <a:latin typeface="Times New Roman" panose="02020603050405020304" pitchFamily="18" charset="0"/>
              </a:rPr>
              <a:t>VM</a:t>
            </a:r>
            <a:r>
              <a:rPr lang="en-US" altLang="tr-TR" sz="2400">
                <a:latin typeface="Times New Roman" panose="02020603050405020304" pitchFamily="18" charset="0"/>
              </a:rPr>
              <a:t> = c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c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</a:rPr>
              <a:t>GSMH</a:t>
            </a:r>
            <a:r>
              <a:rPr lang="en-US" altLang="tr-TR" sz="2400" baseline="-25000">
                <a:latin typeface="Times New Roman" panose="02020603050405020304" pitchFamily="18" charset="0"/>
              </a:rPr>
              <a:t> </a:t>
            </a:r>
            <a:r>
              <a:rPr lang="en-US" altLang="tr-TR" sz="2400">
                <a:latin typeface="Times New Roman" panose="02020603050405020304" pitchFamily="18" charset="0"/>
              </a:rPr>
              <a:t>+ c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</a:rPr>
              <a:t>PA</a:t>
            </a:r>
            <a:r>
              <a:rPr lang="en-US" altLang="tr-TR" sz="2400" baseline="-25000">
                <a:latin typeface="Times New Roman" panose="02020603050405020304" pitchFamily="18" charset="0"/>
              </a:rPr>
              <a:t/>
            </a:r>
            <a:r>
              <a:rPr lang="en-US" altLang="tr-TR" sz="2400">
                <a:latin typeface="Times New Roman" panose="02020603050405020304" pitchFamily="18" charset="0"/>
              </a:rPr>
              <a:t>+ u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0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 autoUpdateAnimBg="0"/>
      <p:bldP spid="3" grpId="0" animBg="1"/>
      <p:bldP spid="9" grpId="0" animBg="1"/>
      <p:bldP spid="9" grpId="1" animBg="1"/>
      <p:bldP spid="10" grpId="0" animBg="1"/>
      <p:bldP spid="10" grpId="1" animBg="1"/>
      <p:bldP spid="11" grpId="0"/>
      <p:bldP spid="11" grpId="1"/>
      <p:bldP spid="108556" grpId="0"/>
      <p:bldP spid="31747" grpId="0" build="p" animBg="1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3 Slayt Numarası Yer Tutucusu">
            <a:extLst>
              <a:ext uri="{FF2B5EF4-FFF2-40B4-BE49-F238E27FC236}">
                <a16:creationId xmlns:a16="http://schemas.microsoft.com/office/drawing/2014/main" id="{EA1081F3-EF8A-2A76-1D95-A3E84C3E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5AC7D4-4216-4016-902B-BD01580DDA0B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76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4A2E06C-CA7E-382F-AD47-D85B4506B7CA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tr-TR" sz="3200" kern="0">
                <a:latin typeface="+mj-lt"/>
                <a:ea typeface="+mj-ea"/>
                <a:cs typeface="+mj-cs"/>
              </a:rPr>
              <a:t>Yuvalanmamış-</a:t>
            </a:r>
            <a:r>
              <a:rPr lang="en-US" sz="3200" kern="0">
                <a:latin typeface="+mj-lt"/>
                <a:ea typeface="+mj-ea"/>
                <a:cs typeface="+mj-cs"/>
              </a:rPr>
              <a:t>F test</a:t>
            </a:r>
            <a:r>
              <a:rPr lang="tr-TR" sz="3200" kern="0">
                <a:latin typeface="+mj-lt"/>
                <a:ea typeface="+mj-ea"/>
                <a:cs typeface="+mj-cs"/>
              </a:rPr>
              <a:t>i</a:t>
            </a:r>
          </a:p>
        </p:txBody>
      </p:sp>
      <p:sp>
        <p:nvSpPr>
          <p:cNvPr id="235524" name="2 Dikdörtgen">
            <a:extLst>
              <a:ext uri="{FF2B5EF4-FFF2-40B4-BE49-F238E27FC236}">
                <a16:creationId xmlns:a16="http://schemas.microsoft.com/office/drawing/2014/main" id="{659BEA7B-5C60-6CF9-C89B-6328E2E60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770063"/>
            <a:ext cx="8715375" cy="50165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Dependent Variable: VM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Method: Least Squares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Sample: 1990 2002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>
                <a:latin typeface="Times New Roman" panose="02020603050405020304" pitchFamily="18" charset="0"/>
              </a:rPr>
              <a:t>Included observations: 13					</a:t>
            </a:r>
            <a:r>
              <a:rPr lang="tr-TR" altLang="tr-TR" sz="2000">
                <a:latin typeface="Times New Roman" panose="02020603050405020304" pitchFamily="18" charset="0"/>
              </a:rPr>
              <a:t>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Variable		Coefficient	Std. Error	t-Statistic	Prob.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C		-0.052933	0.529706	-0.099929	0.9222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GSMH		0.187100	0.005325	35.13456	0.0000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>
                <a:latin typeface="Times New Roman" panose="02020603050405020304" pitchFamily="18" charset="0"/>
              </a:rPr>
              <a:t>R-squared	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  <a:r>
              <a:rPr lang="en-US" altLang="tr-TR" sz="2000">
                <a:latin typeface="Times New Roman" panose="02020603050405020304" pitchFamily="18" charset="0"/>
              </a:rPr>
              <a:t>0.991168	    Mean dependent var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  <a:r>
              <a:rPr lang="en-US" altLang="tr-TR" sz="2000">
                <a:latin typeface="Times New Roman" panose="02020603050405020304" pitchFamily="18" charset="0"/>
              </a:rPr>
              <a:t>10.92262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>
                <a:latin typeface="Times New Roman" panose="02020603050405020304" pitchFamily="18" charset="0"/>
              </a:rPr>
              <a:t>Adjusted R-squared	0.990365	    S.D. dependent var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  <a:r>
              <a:rPr lang="en-US" altLang="tr-TR" sz="2000">
                <a:latin typeface="Times New Roman" panose="02020603050405020304" pitchFamily="18" charset="0"/>
              </a:rPr>
              <a:t>15.71347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>
                <a:latin typeface="Times New Roman" panose="02020603050405020304" pitchFamily="18" charset="0"/>
              </a:rPr>
              <a:t>S.E. of regression	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  <a:r>
              <a:rPr lang="en-US" altLang="tr-TR" sz="2000">
                <a:latin typeface="Times New Roman" panose="02020603050405020304" pitchFamily="18" charset="0"/>
              </a:rPr>
              <a:t>1.542417	    Akaike info criterion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  <a:r>
              <a:rPr lang="en-US" altLang="tr-TR" sz="2000">
                <a:latin typeface="Times New Roman" panose="02020603050405020304" pitchFamily="18" charset="0"/>
              </a:rPr>
              <a:t>3.845217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>
                <a:latin typeface="Times New Roman" panose="02020603050405020304" pitchFamily="18" charset="0"/>
              </a:rPr>
              <a:t>Sum squared resid	26.16955	    Schwarz criterion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  <a:r>
              <a:rPr lang="en-US" altLang="tr-TR" sz="2000">
                <a:latin typeface="Times New Roman" panose="02020603050405020304" pitchFamily="18" charset="0"/>
              </a:rPr>
              <a:t>3.932132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>
                <a:latin typeface="Times New Roman" panose="02020603050405020304" pitchFamily="18" charset="0"/>
              </a:rPr>
              <a:t>Log likelihood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  <a:r>
              <a:rPr lang="en-US" altLang="tr-TR" sz="2000">
                <a:latin typeface="Times New Roman" panose="02020603050405020304" pitchFamily="18" charset="0"/>
              </a:rPr>
              <a:t>	-22.99391	    F-statistic	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  <a:r>
              <a:rPr lang="en-US" altLang="tr-TR" sz="2000">
                <a:latin typeface="Times New Roman" panose="02020603050405020304" pitchFamily="18" charset="0"/>
              </a:rPr>
              <a:t>1234.437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Durbin-Watson stat	1.825363	    Prob(F-statistic)	0.000000</a:t>
            </a:r>
          </a:p>
        </p:txBody>
      </p:sp>
      <p:cxnSp>
        <p:nvCxnSpPr>
          <p:cNvPr id="5" name="4 Düz Bağlayıcı">
            <a:extLst>
              <a:ext uri="{FF2B5EF4-FFF2-40B4-BE49-F238E27FC236}">
                <a16:creationId xmlns:a16="http://schemas.microsoft.com/office/drawing/2014/main" id="{AF4B1769-B7D6-6887-D40C-4D93980CBA87}"/>
              </a:ext>
            </a:extLst>
          </p:cNvPr>
          <p:cNvCxnSpPr/>
          <p:nvPr/>
        </p:nvCxnSpPr>
        <p:spPr>
          <a:xfrm>
            <a:off x="214313" y="3355975"/>
            <a:ext cx="8643937" cy="15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Düz Bağlayıcı">
            <a:extLst>
              <a:ext uri="{FF2B5EF4-FFF2-40B4-BE49-F238E27FC236}">
                <a16:creationId xmlns:a16="http://schemas.microsoft.com/office/drawing/2014/main" id="{9160DE2B-5C60-8732-BA15-0C5B15B5B0C0}"/>
              </a:ext>
            </a:extLst>
          </p:cNvPr>
          <p:cNvCxnSpPr/>
          <p:nvPr/>
        </p:nvCxnSpPr>
        <p:spPr>
          <a:xfrm>
            <a:off x="285750" y="4713288"/>
            <a:ext cx="8643938" cy="15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527" name="8 Metin kutusu">
            <a:extLst>
              <a:ext uri="{FF2B5EF4-FFF2-40B4-BE49-F238E27FC236}">
                <a16:creationId xmlns:a16="http://schemas.microsoft.com/office/drawing/2014/main" id="{09624DC3-C346-3E74-42A6-4B526EF52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214438"/>
            <a:ext cx="4429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Model C: </a:t>
            </a:r>
          </a:p>
        </p:txBody>
      </p:sp>
      <p:sp>
        <p:nvSpPr>
          <p:cNvPr id="235528" name="Text Box 9">
            <a:extLst>
              <a:ext uri="{FF2B5EF4-FFF2-40B4-BE49-F238E27FC236}">
                <a16:creationId xmlns:a16="http://schemas.microsoft.com/office/drawing/2014/main" id="{754B14C0-DFAF-EB79-E7B9-80C337531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1268413"/>
            <a:ext cx="6121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1800"/>
              <a:t>VM = f(GSMH)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3 Slayt Numarası Yer Tutucusu">
            <a:extLst>
              <a:ext uri="{FF2B5EF4-FFF2-40B4-BE49-F238E27FC236}">
                <a16:creationId xmlns:a16="http://schemas.microsoft.com/office/drawing/2014/main" id="{F69A0074-EAFA-7ACD-0C9C-693B0DE7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7D8D80-FA54-4B45-A74D-4C0DBA19D9FC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77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4FDC573-DFFF-B56D-EA2A-902B19EF1323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28600"/>
            <a:ext cx="7772400" cy="762000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tr-TR" sz="3200" kern="0">
                <a:latin typeface="+mj-lt"/>
                <a:ea typeface="+mj-ea"/>
                <a:cs typeface="+mj-cs"/>
              </a:rPr>
              <a:t>Yuvalanmamış-</a:t>
            </a:r>
            <a:r>
              <a:rPr lang="en-US" sz="3200" kern="0">
                <a:latin typeface="+mj-lt"/>
                <a:ea typeface="+mj-ea"/>
                <a:cs typeface="+mj-cs"/>
              </a:rPr>
              <a:t>F test</a:t>
            </a:r>
            <a:r>
              <a:rPr lang="tr-TR" sz="3200" kern="0">
                <a:latin typeface="+mj-lt"/>
                <a:ea typeface="+mj-ea"/>
                <a:cs typeface="+mj-cs"/>
              </a:rPr>
              <a:t>i</a:t>
            </a:r>
          </a:p>
        </p:txBody>
      </p:sp>
      <p:sp>
        <p:nvSpPr>
          <p:cNvPr id="237572" name="2 Dikdörtgen">
            <a:extLst>
              <a:ext uri="{FF2B5EF4-FFF2-40B4-BE49-F238E27FC236}">
                <a16:creationId xmlns:a16="http://schemas.microsoft.com/office/drawing/2014/main" id="{C4D65E2E-0AF6-8CEC-4757-38806A22E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770063"/>
            <a:ext cx="8929687" cy="50165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tr-TR" altLang="tr-TR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Dependent Variable: VM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Method: Least Squares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Sample: 1990 2002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>
                <a:latin typeface="Times New Roman" panose="02020603050405020304" pitchFamily="18" charset="0"/>
              </a:rPr>
              <a:t>Included observations: 13		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Variable		Coefficient	Std. Error	t-Statistic	Prob.  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C		0.012340	0.106930	0.115398	0.9102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PA		0.762587	0.004378	174.1750	0.0000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						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>
                <a:latin typeface="Times New Roman" panose="02020603050405020304" pitchFamily="18" charset="0"/>
              </a:rPr>
              <a:t>R-squared	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  <a:r>
              <a:rPr lang="en-US" altLang="tr-TR" sz="2000">
                <a:latin typeface="Times New Roman" panose="02020603050405020304" pitchFamily="18" charset="0"/>
              </a:rPr>
              <a:t>0.999638	    Mean dependent var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  <a:r>
              <a:rPr lang="en-US" altLang="tr-TR" sz="2000">
                <a:latin typeface="Times New Roman" panose="02020603050405020304" pitchFamily="18" charset="0"/>
              </a:rPr>
              <a:t>10.92262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>
                <a:latin typeface="Times New Roman" panose="02020603050405020304" pitchFamily="18" charset="0"/>
              </a:rPr>
              <a:t>Adjusted R-squared	0.999605	    S.D. dependent var	15.71347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>
                <a:latin typeface="Times New Roman" panose="02020603050405020304" pitchFamily="18" charset="0"/>
              </a:rPr>
              <a:t>S.E. of regression	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  <a:r>
              <a:rPr lang="en-US" altLang="tr-TR" sz="2000">
                <a:latin typeface="Times New Roman" panose="02020603050405020304" pitchFamily="18" charset="0"/>
              </a:rPr>
              <a:t>0.312463	    Akaike info criterion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  <a:r>
              <a:rPr lang="en-US" altLang="tr-TR" sz="2000">
                <a:latin typeface="Times New Roman" panose="02020603050405020304" pitchFamily="18" charset="0"/>
              </a:rPr>
              <a:t>0.651975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>
                <a:latin typeface="Times New Roman" panose="02020603050405020304" pitchFamily="18" charset="0"/>
              </a:rPr>
              <a:t>Sum squared resid	1.073962	    Schwarz criterion	0.738890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>
                <a:latin typeface="Times New Roman" panose="02020603050405020304" pitchFamily="18" charset="0"/>
              </a:rPr>
              <a:t>Log likelihood	</a:t>
            </a:r>
            <a:r>
              <a:rPr lang="tr-TR" altLang="tr-TR" sz="2000">
                <a:latin typeface="Times New Roman" panose="02020603050405020304" pitchFamily="18" charset="0"/>
              </a:rPr>
              <a:t>	</a:t>
            </a:r>
            <a:r>
              <a:rPr lang="en-US" altLang="tr-TR" sz="2000">
                <a:latin typeface="Times New Roman" panose="02020603050405020304" pitchFamily="18" charset="0"/>
              </a:rPr>
              <a:t>-2.237836	    F-statistic		30336.94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Durbin-Watson stat	1.467167	    Prob(F-statistic)	0.00000</a:t>
            </a:r>
          </a:p>
        </p:txBody>
      </p:sp>
      <p:cxnSp>
        <p:nvCxnSpPr>
          <p:cNvPr id="5" name="4 Düz Bağlayıcı">
            <a:extLst>
              <a:ext uri="{FF2B5EF4-FFF2-40B4-BE49-F238E27FC236}">
                <a16:creationId xmlns:a16="http://schemas.microsoft.com/office/drawing/2014/main" id="{EE6C0F4F-37CA-2AC8-BFE5-3FCE445B02EE}"/>
              </a:ext>
            </a:extLst>
          </p:cNvPr>
          <p:cNvCxnSpPr/>
          <p:nvPr/>
        </p:nvCxnSpPr>
        <p:spPr>
          <a:xfrm>
            <a:off x="214313" y="3500438"/>
            <a:ext cx="8929687" cy="15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Düz Bağlayıcı">
            <a:extLst>
              <a:ext uri="{FF2B5EF4-FFF2-40B4-BE49-F238E27FC236}">
                <a16:creationId xmlns:a16="http://schemas.microsoft.com/office/drawing/2014/main" id="{E139A6ED-B29B-CBC2-B171-0CAAC62CCFDC}"/>
              </a:ext>
            </a:extLst>
          </p:cNvPr>
          <p:cNvCxnSpPr/>
          <p:nvPr/>
        </p:nvCxnSpPr>
        <p:spPr>
          <a:xfrm>
            <a:off x="214313" y="4713288"/>
            <a:ext cx="8929687" cy="15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575" name="6 Metin kutusu">
            <a:extLst>
              <a:ext uri="{FF2B5EF4-FFF2-40B4-BE49-F238E27FC236}">
                <a16:creationId xmlns:a16="http://schemas.microsoft.com/office/drawing/2014/main" id="{6C628BD1-86D4-03C5-CB25-A471AB8A0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214438"/>
            <a:ext cx="4429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Model D: </a:t>
            </a:r>
          </a:p>
        </p:txBody>
      </p:sp>
      <p:sp>
        <p:nvSpPr>
          <p:cNvPr id="237576" name="Text Box 9">
            <a:extLst>
              <a:ext uri="{FF2B5EF4-FFF2-40B4-BE49-F238E27FC236}">
                <a16:creationId xmlns:a16="http://schemas.microsoft.com/office/drawing/2014/main" id="{50264608-E447-204A-24B4-AA0F82C82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1268413"/>
            <a:ext cx="6121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1800"/>
              <a:t>VM = f(PA)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3 Slayt Numarası Yer Tutucusu">
            <a:extLst>
              <a:ext uri="{FF2B5EF4-FFF2-40B4-BE49-F238E27FC236}">
                <a16:creationId xmlns:a16="http://schemas.microsoft.com/office/drawing/2014/main" id="{765F5ED3-EAAF-A94C-0365-AB420F18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2C959D-681B-4983-9234-E426125F7CF0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78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CF5A09A-894F-2F5A-D44A-FB47057D7C96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0"/>
            <a:ext cx="7772400" cy="504825"/>
          </a:xfrm>
          <a:prstGeom prst="rect">
            <a:avLst/>
          </a:prstGeom>
          <a:ln w="57150" cmpd="thinThick"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defRPr/>
            </a:pPr>
            <a:r>
              <a:rPr lang="tr-TR" sz="3200" kern="0">
                <a:latin typeface="+mj-lt"/>
                <a:ea typeface="+mj-ea"/>
                <a:cs typeface="+mj-cs"/>
              </a:rPr>
              <a:t>Yuvalanmamış-</a:t>
            </a:r>
            <a:r>
              <a:rPr lang="en-US" sz="3200" kern="0">
                <a:latin typeface="+mj-lt"/>
                <a:ea typeface="+mj-ea"/>
                <a:cs typeface="+mj-cs"/>
              </a:rPr>
              <a:t>F test</a:t>
            </a:r>
            <a:r>
              <a:rPr lang="tr-TR" sz="3200" kern="0">
                <a:latin typeface="+mj-lt"/>
                <a:ea typeface="+mj-ea"/>
                <a:cs typeface="+mj-cs"/>
              </a:rPr>
              <a:t>i</a:t>
            </a:r>
          </a:p>
        </p:txBody>
      </p:sp>
      <p:sp>
        <p:nvSpPr>
          <p:cNvPr id="239620" name="3 Metin kutusu">
            <a:extLst>
              <a:ext uri="{FF2B5EF4-FFF2-40B4-BE49-F238E27FC236}">
                <a16:creationId xmlns:a16="http://schemas.microsoft.com/office/drawing/2014/main" id="{7AFB6371-9092-523E-FA39-DE8F68B4F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547" y="2816225"/>
            <a:ext cx="171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 dirty="0">
                <a:latin typeface="Times New Roman" panose="02020603050405020304" pitchFamily="18" charset="0"/>
              </a:rPr>
              <a:t>1. Adım:</a:t>
            </a:r>
          </a:p>
        </p:txBody>
      </p:sp>
      <p:sp>
        <p:nvSpPr>
          <p:cNvPr id="239621" name="Text Box 14">
            <a:extLst>
              <a:ext uri="{FF2B5EF4-FFF2-40B4-BE49-F238E27FC236}">
                <a16:creationId xmlns:a16="http://schemas.microsoft.com/office/drawing/2014/main" id="{96F4F8CE-B796-EBAE-F307-0C3B0A124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2632869"/>
            <a:ext cx="6121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1800" dirty="0"/>
              <a:t>VM = f(PA)                  Sınırlandırılmış Model</a:t>
            </a:r>
          </a:p>
        </p:txBody>
      </p:sp>
      <p:sp>
        <p:nvSpPr>
          <p:cNvPr id="239622" name="Text Box 15">
            <a:extLst>
              <a:ext uri="{FF2B5EF4-FFF2-40B4-BE49-F238E27FC236}">
                <a16:creationId xmlns:a16="http://schemas.microsoft.com/office/drawing/2014/main" id="{8668A90C-A5EF-EF30-B390-A98E0E7D4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612" y="2237580"/>
            <a:ext cx="6121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tr-TR" altLang="tr-TR" sz="1800" dirty="0"/>
              <a:t>VM = f(GSMH, PA)   Sınırlandırılmamış Model</a:t>
            </a:r>
          </a:p>
        </p:txBody>
      </p:sp>
      <p:sp>
        <p:nvSpPr>
          <p:cNvPr id="239623" name="4 Metin kutusu">
            <a:extLst>
              <a:ext uri="{FF2B5EF4-FFF2-40B4-BE49-F238E27FC236}">
                <a16:creationId xmlns:a16="http://schemas.microsoft.com/office/drawing/2014/main" id="{5617FEED-C389-75B0-A770-AA52014F6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3197815"/>
            <a:ext cx="8858250" cy="1964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tr-TR" altLang="tr-TR" sz="2000" dirty="0">
                <a:latin typeface="Times New Roman" panose="02020603050405020304" pitchFamily="18" charset="0"/>
              </a:rPr>
              <a:t>H</a:t>
            </a:r>
            <a:r>
              <a:rPr lang="tr-TR" altLang="tr-TR" sz="2000" baseline="-25000" dirty="0">
                <a:latin typeface="Times New Roman" panose="02020603050405020304" pitchFamily="18" charset="0"/>
              </a:rPr>
              <a:t>0</a:t>
            </a:r>
            <a:r>
              <a:rPr lang="tr-TR" altLang="tr-TR" sz="2000" dirty="0">
                <a:latin typeface="Times New Roman" panose="02020603050405020304" pitchFamily="18" charset="0"/>
              </a:rPr>
              <a:t>:  c</a:t>
            </a:r>
            <a:r>
              <a:rPr lang="tr-TR" altLang="tr-TR" sz="2000" baseline="-25000" dirty="0">
                <a:latin typeface="Times New Roman" panose="02020603050405020304" pitchFamily="18" charset="0"/>
              </a:rPr>
              <a:t>2</a:t>
            </a:r>
            <a:r>
              <a:rPr lang="tr-TR" altLang="tr-TR" sz="2000" dirty="0">
                <a:latin typeface="Times New Roman" panose="02020603050405020304" pitchFamily="18" charset="0"/>
              </a:rPr>
              <a:t> = 0 (GSMH değişkeni modele eklenmemelidir.) </a:t>
            </a:r>
            <a:r>
              <a:rPr lang="tr-TR" altLang="tr-TR" sz="1100" dirty="0">
                <a:latin typeface="Times New Roman" panose="02020603050405020304" pitchFamily="18" charset="0"/>
              </a:rPr>
              <a:t>(t testinde anlamsız çıkmıştı)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tr-TR" altLang="tr-TR" sz="2000" dirty="0">
                <a:latin typeface="Times New Roman" panose="02020603050405020304" pitchFamily="18" charset="0"/>
              </a:rPr>
              <a:t>H</a:t>
            </a:r>
            <a:r>
              <a:rPr lang="tr-TR" altLang="tr-TR" sz="2000" baseline="-25000" dirty="0">
                <a:latin typeface="Times New Roman" panose="02020603050405020304" pitchFamily="18" charset="0"/>
              </a:rPr>
              <a:t>1</a:t>
            </a:r>
            <a:r>
              <a:rPr lang="tr-TR" altLang="tr-TR" sz="2000" dirty="0">
                <a:latin typeface="Times New Roman" panose="02020603050405020304" pitchFamily="18" charset="0"/>
              </a:rPr>
              <a:t>: En az biri sıfırdan farklıdır. (Değişken modele eklenmelidir.)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tr-TR" altLang="tr-TR" sz="2000" dirty="0">
                <a:latin typeface="Times New Roman" panose="02020603050405020304" pitchFamily="18" charset="0"/>
              </a:rPr>
              <a:t>f</a:t>
            </a:r>
            <a:r>
              <a:rPr lang="tr-TR" altLang="tr-TR" sz="2000" baseline="-25000" dirty="0">
                <a:latin typeface="Times New Roman" panose="02020603050405020304" pitchFamily="18" charset="0"/>
              </a:rPr>
              <a:t>1</a:t>
            </a:r>
            <a:r>
              <a:rPr lang="tr-TR" altLang="tr-TR" sz="2000" dirty="0">
                <a:latin typeface="Times New Roman" panose="02020603050405020304" pitchFamily="18" charset="0"/>
              </a:rPr>
              <a:t>: Yeni Değişken Sayısı f</a:t>
            </a:r>
            <a:r>
              <a:rPr lang="tr-TR" altLang="tr-TR" sz="2000" baseline="-25000" dirty="0">
                <a:latin typeface="Times New Roman" panose="02020603050405020304" pitchFamily="18" charset="0"/>
              </a:rPr>
              <a:t>2</a:t>
            </a:r>
            <a:r>
              <a:rPr lang="tr-TR" altLang="tr-TR" sz="2000" dirty="0">
                <a:latin typeface="Times New Roman" panose="02020603050405020304" pitchFamily="18" charset="0"/>
              </a:rPr>
              <a:t>: n – yeni model katsayı sayısı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tr-TR" altLang="tr-TR" sz="2400" dirty="0">
              <a:latin typeface="Times New Roman" panose="02020603050405020304" pitchFamily="18" charset="0"/>
            </a:endParaRPr>
          </a:p>
        </p:txBody>
      </p:sp>
      <p:sp>
        <p:nvSpPr>
          <p:cNvPr id="239624" name="7 Metin kutusu">
            <a:extLst>
              <a:ext uri="{FF2B5EF4-FFF2-40B4-BE49-F238E27FC236}">
                <a16:creationId xmlns:a16="http://schemas.microsoft.com/office/drawing/2014/main" id="{25379015-DAE2-FABF-0AFE-1FA71CA37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92788"/>
            <a:ext cx="150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3.Adım</a:t>
            </a:r>
          </a:p>
        </p:txBody>
      </p:sp>
      <p:sp>
        <p:nvSpPr>
          <p:cNvPr id="239625" name="8 Metin kutusu">
            <a:extLst>
              <a:ext uri="{FF2B5EF4-FFF2-40B4-BE49-F238E27FC236}">
                <a16:creationId xmlns:a16="http://schemas.microsoft.com/office/drawing/2014/main" id="{AB36F7C6-26BC-4F6F-C641-8299873EB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805488"/>
            <a:ext cx="2500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F</a:t>
            </a:r>
            <a:r>
              <a:rPr lang="tr-TR" altLang="tr-TR" sz="2400" baseline="-25000">
                <a:latin typeface="Times New Roman" panose="02020603050405020304" pitchFamily="18" charset="0"/>
              </a:rPr>
              <a:t>1, 10, 0.05 </a:t>
            </a:r>
            <a:r>
              <a:rPr lang="tr-TR" altLang="tr-TR" sz="2400">
                <a:latin typeface="Times New Roman" panose="02020603050405020304" pitchFamily="18" charset="0"/>
              </a:rPr>
              <a:t>= 4.96</a:t>
            </a:r>
          </a:p>
        </p:txBody>
      </p:sp>
      <p:sp>
        <p:nvSpPr>
          <p:cNvPr id="239626" name="9 Metin kutusu">
            <a:extLst>
              <a:ext uri="{FF2B5EF4-FFF2-40B4-BE49-F238E27FC236}">
                <a16:creationId xmlns:a16="http://schemas.microsoft.com/office/drawing/2014/main" id="{0D8311A0-1A14-196F-3C15-D45BBD0A2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2025" y="5805488"/>
            <a:ext cx="150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4.Adım</a:t>
            </a:r>
          </a:p>
        </p:txBody>
      </p:sp>
      <p:sp>
        <p:nvSpPr>
          <p:cNvPr id="239627" name="10 Metin kutusu">
            <a:extLst>
              <a:ext uri="{FF2B5EF4-FFF2-40B4-BE49-F238E27FC236}">
                <a16:creationId xmlns:a16="http://schemas.microsoft.com/office/drawing/2014/main" id="{A40166F1-E9CE-B50F-D63F-A9CE899A3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5805488"/>
            <a:ext cx="571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F</a:t>
            </a:r>
            <a:r>
              <a:rPr lang="tr-TR" altLang="tr-TR" sz="2400" baseline="-25000">
                <a:latin typeface="Times New Roman" panose="02020603050405020304" pitchFamily="18" charset="0"/>
              </a:rPr>
              <a:t>hes</a:t>
            </a:r>
            <a:r>
              <a:rPr lang="tr-TR" altLang="tr-TR" sz="2400">
                <a:latin typeface="Times New Roman" panose="02020603050405020304" pitchFamily="18" charset="0"/>
              </a:rPr>
              <a:t> &lt; F</a:t>
            </a:r>
            <a:r>
              <a:rPr lang="tr-TR" altLang="tr-TR" sz="2400" baseline="-25000">
                <a:latin typeface="Times New Roman" panose="02020603050405020304" pitchFamily="18" charset="0"/>
              </a:rPr>
              <a:t>tab</a:t>
            </a:r>
            <a:r>
              <a:rPr lang="tr-TR" altLang="tr-TR" sz="2400">
                <a:latin typeface="Times New Roman" panose="02020603050405020304" pitchFamily="18" charset="0"/>
              </a:rPr>
              <a:t> H</a:t>
            </a:r>
            <a:r>
              <a:rPr lang="tr-TR" altLang="tr-TR" sz="2400" baseline="-25000">
                <a:latin typeface="Times New Roman" panose="02020603050405020304" pitchFamily="18" charset="0"/>
              </a:rPr>
              <a:t>0</a:t>
            </a:r>
            <a:r>
              <a:rPr lang="tr-TR" altLang="tr-TR" sz="2400">
                <a:latin typeface="Times New Roman" panose="02020603050405020304" pitchFamily="18" charset="0"/>
              </a:rPr>
              <a:t> reddedilemez.</a:t>
            </a:r>
          </a:p>
        </p:txBody>
      </p:sp>
      <p:sp>
        <p:nvSpPr>
          <p:cNvPr id="239628" name="5 Metin kutusu">
            <a:extLst>
              <a:ext uri="{FF2B5EF4-FFF2-40B4-BE49-F238E27FC236}">
                <a16:creationId xmlns:a16="http://schemas.microsoft.com/office/drawing/2014/main" id="{8D37EF26-C943-AFAA-6EC3-CB1CAD2FB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013325"/>
            <a:ext cx="150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2.Adım</a:t>
            </a:r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C94ACB7E-14BB-4313-6D08-5DA934565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765175"/>
            <a:ext cx="7772400" cy="49530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Model E:  </a:t>
            </a:r>
            <a:r>
              <a:rPr lang="tr-TR" altLang="tr-TR" sz="2400">
                <a:latin typeface="Times New Roman" panose="02020603050405020304" pitchFamily="18" charset="0"/>
              </a:rPr>
              <a:t>VM</a:t>
            </a:r>
            <a:r>
              <a:rPr lang="en-US" altLang="tr-TR" sz="2400">
                <a:latin typeface="Times New Roman" panose="02020603050405020304" pitchFamily="18" charset="0"/>
              </a:rPr>
              <a:t> = c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c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</a:rPr>
              <a:t>GSMH</a:t>
            </a:r>
            <a:r>
              <a:rPr lang="en-US" altLang="tr-TR" sz="2400" baseline="-25000">
                <a:latin typeface="Times New Roman" panose="02020603050405020304" pitchFamily="18" charset="0"/>
              </a:rPr>
              <a:t> </a:t>
            </a:r>
            <a:r>
              <a:rPr lang="en-US" altLang="tr-TR" sz="2400">
                <a:latin typeface="Times New Roman" panose="02020603050405020304" pitchFamily="18" charset="0"/>
              </a:rPr>
              <a:t>+ c</a:t>
            </a:r>
            <a:r>
              <a:rPr lang="en-US" altLang="tr-TR" sz="2400" baseline="-25000">
                <a:latin typeface="Times New Roman" panose="02020603050405020304" pitchFamily="18" charset="0"/>
              </a:rPr>
              <a:t>3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</a:rPr>
              <a:t>PA</a:t>
            </a:r>
            <a:r>
              <a:rPr lang="en-US" altLang="tr-TR" sz="2400">
                <a:latin typeface="Times New Roman" panose="02020603050405020304" pitchFamily="18" charset="0"/>
              </a:rPr>
              <a:t>+ u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A0181B67-AC10-369A-EE7A-B5ECEF018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557338"/>
            <a:ext cx="7772400" cy="495300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Model D:  </a:t>
            </a:r>
            <a:r>
              <a:rPr lang="tr-TR" altLang="tr-TR" sz="2400">
                <a:latin typeface="Times New Roman" panose="02020603050405020304" pitchFamily="18" charset="0"/>
              </a:rPr>
              <a:t>VM</a:t>
            </a:r>
            <a:r>
              <a:rPr lang="en-US" altLang="tr-TR" sz="2400">
                <a:latin typeface="Times New Roman" panose="02020603050405020304" pitchFamily="18" charset="0"/>
              </a:rPr>
              <a:t> =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</a:t>
            </a:r>
            <a:r>
              <a:rPr lang="tr-TR" altLang="tr-TR" sz="2400">
                <a:latin typeface="Times New Roman" panose="02020603050405020304" pitchFamily="18" charset="0"/>
              </a:rPr>
              <a:t>PA</a:t>
            </a:r>
            <a:r>
              <a:rPr lang="en-US" altLang="tr-TR" sz="2400" baseline="-25000">
                <a:latin typeface="Times New Roman" panose="02020603050405020304" pitchFamily="18" charset="0"/>
              </a:rPr>
              <a:t>  </a:t>
            </a:r>
            <a:r>
              <a:rPr lang="en-US" altLang="tr-TR" sz="2400">
                <a:latin typeface="Times New Roman" panose="02020603050405020304" pitchFamily="18" charset="0"/>
              </a:rPr>
              <a:t>+ v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629" name="Denklem"/>
              <p:cNvSpPr txBox="1"/>
              <p:nvPr/>
            </p:nvSpPr>
            <p:spPr>
              <a:xfrm>
                <a:off x="1371600" y="4892040"/>
                <a:ext cx="3617732" cy="457657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000"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0">
                              <a:latin typeface="Cambria Math"/>
                            </a:rPr>
                            <m:t>h</m:t>
                          </m:r>
                          <m:r>
                            <a:rPr lang="en-US" sz="2000">
                              <a:latin typeface="Cambria Math"/>
                            </a:rPr>
                            <m:t>e</m:t>
                          </m:r>
                          <m:r>
                            <a:rPr lang="en-US" sz="2000">
                              <a:latin typeface="Cambria Math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(</m:t>
                          </m:r>
                          <m:r>
                            <a:rPr lang="en-US" sz="2000">
                              <a:latin typeface="Cambria Math"/>
                            </a:rPr>
                            <m:t>0.9996631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−</m:t>
                          </m:r>
                          <m:r>
                            <a:rPr lang="en-US" sz="2000">
                              <a:latin typeface="Cambria Math"/>
                            </a:rPr>
                            <m:t>0.9996375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/</m:t>
                          </m:r>
                          <m:r>
                            <a:rPr lang="en-US" sz="20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(</m:t>
                          </m:r>
                          <m:r>
                            <a:rPr lang="en-US" sz="2000"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−</m:t>
                          </m:r>
                          <m:r>
                            <a:rPr lang="en-US" sz="2000">
                              <a:latin typeface="Cambria Math"/>
                            </a:rPr>
                            <m:t>0.9996631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(</m:t>
                          </m:r>
                          <m:r>
                            <a:rPr lang="en-US" sz="2000">
                              <a:latin typeface="Cambria Math"/>
                            </a:rPr>
                            <m:t>13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−</m:t>
                          </m:r>
                          <m:r>
                            <a:rPr lang="en-US" sz="2000">
                              <a:latin typeface="Cambria Math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0" i="0">
                          <a:latin typeface="Cambria Math"/>
                        </a:rPr>
                        <m:t>=</m:t>
                      </m:r>
                      <m:r>
                        <a:rPr lang="en-US" sz="2000">
                          <a:latin typeface="Cambria Math"/>
                        </a:rPr>
                        <m:t>0.76</m:t>
                      </m:r>
                    </m:oMath>
                  </m:oMathPara>
                </a14:m>
              </a:p>
            </p:txBody>
          </p:sp>
        </mc:Choice>
        <mc:Fallback>
          <p:pic>
            <p:nvPicPr>
              <p:cNvPr id="239629" name="Picture 239628" descr="eq0037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1600" y="4892040"/>
                <a:ext cx="3349752" cy="43586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17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 animBg="1" autoUpdateAnimBg="0"/>
      <p:bldP spid="31748" grpId="0" build="p" animBg="1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3 Slayt Numarası Yer Tutucusu">
            <a:extLst>
              <a:ext uri="{FF2B5EF4-FFF2-40B4-BE49-F238E27FC236}">
                <a16:creationId xmlns:a16="http://schemas.microsoft.com/office/drawing/2014/main" id="{3732AB15-E4AA-E254-79C0-C2A48EB4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6869AD-D015-4D0A-97C6-9830592A8BDF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79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130F544-F582-3B76-DCC4-C8DFFC9BD17D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42863"/>
            <a:ext cx="7807201" cy="76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3200" kern="0" dirty="0" err="1">
                <a:latin typeface="+mj-lt"/>
                <a:ea typeface="+mj-ea"/>
                <a:cs typeface="+mj-cs"/>
              </a:rPr>
              <a:t>Davidson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-</a:t>
            </a:r>
            <a:r>
              <a:rPr lang="tr-TR" sz="3200" kern="0" dirty="0" err="1">
                <a:latin typeface="+mj-lt"/>
                <a:ea typeface="+mj-ea"/>
                <a:cs typeface="+mj-cs"/>
              </a:rPr>
              <a:t>MacKinnon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 J Sınaması</a:t>
            </a:r>
            <a:endParaRPr lang="en-US" sz="32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1668" name="4 Metin kutusu">
            <a:extLst>
              <a:ext uri="{FF2B5EF4-FFF2-40B4-BE49-F238E27FC236}">
                <a16:creationId xmlns:a16="http://schemas.microsoft.com/office/drawing/2014/main" id="{12DEDDB6-89CB-B51E-1CE7-190F2C414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1987550"/>
            <a:ext cx="8501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dirty="0">
                <a:latin typeface="Times New Roman" panose="02020603050405020304" pitchFamily="18" charset="0"/>
              </a:rPr>
              <a:t>C modelini,  D modeliyle karşılaştırmak istediğimizi düşünelim; </a:t>
            </a:r>
          </a:p>
        </p:txBody>
      </p:sp>
      <p:sp>
        <p:nvSpPr>
          <p:cNvPr id="241669" name="5 Metin kutusu">
            <a:extLst>
              <a:ext uri="{FF2B5EF4-FFF2-40B4-BE49-F238E27FC236}">
                <a16:creationId xmlns:a16="http://schemas.microsoft.com/office/drawing/2014/main" id="{039EF3FA-FF03-99BC-8837-00C4D91AE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581275"/>
            <a:ext cx="1500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 b="1" u="sng">
                <a:latin typeface="Times New Roman" panose="02020603050405020304" pitchFamily="18" charset="0"/>
              </a:rPr>
              <a:t>1. Adım: </a:t>
            </a:r>
          </a:p>
        </p:txBody>
      </p:sp>
      <p:sp>
        <p:nvSpPr>
          <p:cNvPr id="241670" name="8 Metin kutusu">
            <a:extLst>
              <a:ext uri="{FF2B5EF4-FFF2-40B4-BE49-F238E27FC236}">
                <a16:creationId xmlns:a16="http://schemas.microsoft.com/office/drawing/2014/main" id="{63C7C720-E60E-9CCE-9F04-DFDD02CC8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63913"/>
            <a:ext cx="1285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 b="1" u="sng">
                <a:latin typeface="Times New Roman" panose="02020603050405020304" pitchFamily="18" charset="0"/>
              </a:rPr>
              <a:t>2. Adım:</a:t>
            </a:r>
          </a:p>
        </p:txBody>
      </p:sp>
      <p:graphicFrame>
        <p:nvGraphicFramePr>
          <p:cNvPr id="241671" name="Object 11">
            <a:extLst>
              <a:ext uri="{FF2B5EF4-FFF2-40B4-BE49-F238E27FC236}">
                <a16:creationId xmlns:a16="http://schemas.microsoft.com/office/drawing/2014/main" id="{871190F8-B319-CC2C-DF75-DDD46F692A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292600"/>
          <a:ext cx="339883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63700" imgH="254000" progId="Equation.DSMT4">
                  <p:embed/>
                </p:oleObj>
              </mc:Choice>
              <mc:Fallback>
                <p:oleObj name="Equation" r:id="rId3" imgW="1663700" imgH="254000" progId="Equation.DSMT4">
                  <p:embed/>
                  <p:pic>
                    <p:nvPicPr>
                      <p:cNvPr id="241671" name="Object 11">
                        <a:extLst>
                          <a:ext uri="{FF2B5EF4-FFF2-40B4-BE49-F238E27FC236}">
                            <a16:creationId xmlns:a16="http://schemas.microsoft.com/office/drawing/2014/main" id="{871190F8-B319-CC2C-DF75-DDD46F692A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292600"/>
                        <a:ext cx="3398837" cy="5191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1672" name="22 Grup">
            <a:extLst>
              <a:ext uri="{FF2B5EF4-FFF2-40B4-BE49-F238E27FC236}">
                <a16:creationId xmlns:a16="http://schemas.microsoft.com/office/drawing/2014/main" id="{62DF1E74-2D73-3D93-E929-50548A1B9A02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2565400"/>
            <a:ext cx="7715250" cy="511175"/>
            <a:chOff x="1214438" y="2500313"/>
            <a:chExt cx="7715250" cy="511175"/>
          </a:xfrm>
        </p:grpSpPr>
        <p:sp>
          <p:nvSpPr>
            <p:cNvPr id="241686" name="4 Metin kutusu">
              <a:extLst>
                <a:ext uri="{FF2B5EF4-FFF2-40B4-BE49-F238E27FC236}">
                  <a16:creationId xmlns:a16="http://schemas.microsoft.com/office/drawing/2014/main" id="{E0D8624D-7C38-71C7-E9CA-B48F1E4461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438" y="2554288"/>
              <a:ext cx="77152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 dirty="0">
                  <a:latin typeface="Times New Roman" panose="02020603050405020304" pitchFamily="18" charset="0"/>
                </a:rPr>
                <a:t>D modelini tahmin et, tahmin edilmiş  Y  değerleri                      </a:t>
              </a:r>
              <a:r>
                <a:rPr lang="tr-TR" altLang="tr-TR" sz="2400" dirty="0">
                  <a:latin typeface="Times New Roman" panose="02020603050405020304" pitchFamily="18" charset="0"/>
                </a:rPr>
                <a:t>bul.</a:t>
              </a:r>
            </a:p>
          </p:txBody>
        </p:sp>
        <p:graphicFrame>
          <p:nvGraphicFramePr>
            <p:cNvPr id="241687" name="Object 3">
              <a:extLst>
                <a:ext uri="{FF2B5EF4-FFF2-40B4-BE49-F238E27FC236}">
                  <a16:creationId xmlns:a16="http://schemas.microsoft.com/office/drawing/2014/main" id="{3C0EE722-B6AD-078F-2E4C-ECCE9A7F96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86563" y="2500313"/>
            <a:ext cx="500062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15806" imgH="228501" progId="Equation.DSMT4">
                    <p:embed/>
                  </p:oleObj>
                </mc:Choice>
                <mc:Fallback>
                  <p:oleObj name="Equation" r:id="rId5" imgW="215806" imgH="228501" progId="Equation.DSMT4">
                    <p:embed/>
                    <p:pic>
                      <p:nvPicPr>
                        <p:cNvPr id="241687" name="Object 3">
                          <a:extLst>
                            <a:ext uri="{FF2B5EF4-FFF2-40B4-BE49-F238E27FC236}">
                              <a16:creationId xmlns:a16="http://schemas.microsoft.com/office/drawing/2014/main" id="{3C0EE722-B6AD-078F-2E4C-ECCE9A7F96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6563" y="2500313"/>
                          <a:ext cx="500062" cy="473075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1673" name="16 Metin kutusu">
            <a:extLst>
              <a:ext uri="{FF2B5EF4-FFF2-40B4-BE49-F238E27FC236}">
                <a16:creationId xmlns:a16="http://schemas.microsoft.com/office/drawing/2014/main" id="{DC4A7B5B-4DA8-C486-63BF-E414187DB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4292600"/>
            <a:ext cx="3214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Kapsayıcılık İlkesi </a:t>
            </a:r>
          </a:p>
        </p:txBody>
      </p:sp>
      <p:sp>
        <p:nvSpPr>
          <p:cNvPr id="241674" name="8 Metin kutusu">
            <a:extLst>
              <a:ext uri="{FF2B5EF4-FFF2-40B4-BE49-F238E27FC236}">
                <a16:creationId xmlns:a16="http://schemas.microsoft.com/office/drawing/2014/main" id="{A098539D-4ED9-98D6-EBED-7EBAC48EB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5081588"/>
            <a:ext cx="17859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 b="1" u="sng">
                <a:latin typeface="Times New Roman" panose="02020603050405020304" pitchFamily="18" charset="0"/>
              </a:rPr>
              <a:t>3. Adım:</a:t>
            </a:r>
          </a:p>
        </p:txBody>
      </p:sp>
      <p:sp>
        <p:nvSpPr>
          <p:cNvPr id="241675" name="10 Metin kutusu">
            <a:extLst>
              <a:ext uri="{FF2B5EF4-FFF2-40B4-BE49-F238E27FC236}">
                <a16:creationId xmlns:a16="http://schemas.microsoft.com/office/drawing/2014/main" id="{DB63EB29-7D19-BFA2-F3B3-F06B2F851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313" y="5081588"/>
            <a:ext cx="6429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>
                <a:latin typeface="Times New Roman" panose="02020603050405020304" pitchFamily="18" charset="0"/>
              </a:rPr>
              <a:t>t testini kullanarak                    testi yapılır.</a:t>
            </a:r>
          </a:p>
        </p:txBody>
      </p:sp>
      <p:graphicFrame>
        <p:nvGraphicFramePr>
          <p:cNvPr id="241676" name="Object 18">
            <a:extLst>
              <a:ext uri="{FF2B5EF4-FFF2-40B4-BE49-F238E27FC236}">
                <a16:creationId xmlns:a16="http://schemas.microsoft.com/office/drawing/2014/main" id="{DB7449BE-FCB4-A9BC-69E8-0C2EE40537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5084763"/>
          <a:ext cx="8572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8918" imgH="215806" progId="Equation.DSMT4">
                  <p:embed/>
                </p:oleObj>
              </mc:Choice>
              <mc:Fallback>
                <p:oleObj name="Equation" r:id="rId7" imgW="418918" imgH="215806" progId="Equation.DSMT4">
                  <p:embed/>
                  <p:pic>
                    <p:nvPicPr>
                      <p:cNvPr id="241676" name="Object 18">
                        <a:extLst>
                          <a:ext uri="{FF2B5EF4-FFF2-40B4-BE49-F238E27FC236}">
                            <a16:creationId xmlns:a16="http://schemas.microsoft.com/office/drawing/2014/main" id="{DB7449BE-FCB4-A9BC-69E8-0C2EE40537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084763"/>
                        <a:ext cx="857250" cy="4413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77" name="8 Metin kutusu">
            <a:extLst>
              <a:ext uri="{FF2B5EF4-FFF2-40B4-BE49-F238E27FC236}">
                <a16:creationId xmlns:a16="http://schemas.microsoft.com/office/drawing/2014/main" id="{649F500C-F066-ADEB-148F-55F993889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5786438"/>
            <a:ext cx="2182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 b="1" u="sng">
                <a:latin typeface="Times New Roman" panose="02020603050405020304" pitchFamily="18" charset="0"/>
              </a:rPr>
              <a:t>4. Adım:</a:t>
            </a:r>
          </a:p>
        </p:txBody>
      </p:sp>
      <p:grpSp>
        <p:nvGrpSpPr>
          <p:cNvPr id="241678" name="20 Grup">
            <a:extLst>
              <a:ext uri="{FF2B5EF4-FFF2-40B4-BE49-F238E27FC236}">
                <a16:creationId xmlns:a16="http://schemas.microsoft.com/office/drawing/2014/main" id="{B1E38D55-064D-A31F-51AD-2FF5CF609F06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5857875"/>
            <a:ext cx="7858125" cy="701675"/>
            <a:chOff x="1143000" y="5857892"/>
            <a:chExt cx="7858125" cy="701675"/>
          </a:xfrm>
        </p:grpSpPr>
        <p:sp>
          <p:nvSpPr>
            <p:cNvPr id="241684" name="10 Metin kutusu">
              <a:extLst>
                <a:ext uri="{FF2B5EF4-FFF2-40B4-BE49-F238E27FC236}">
                  <a16:creationId xmlns:a16="http://schemas.microsoft.com/office/drawing/2014/main" id="{3F2D99B5-A7C9-4F9F-06E5-53792B169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000" y="5857892"/>
              <a:ext cx="7858125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 dirty="0">
                  <a:latin typeface="Times New Roman" panose="02020603050405020304" pitchFamily="18" charset="0"/>
                </a:rPr>
                <a:t>Eğer                hipotezi reddedilmez ise,  C modelini doğru model olarak kabul ederiz.  </a:t>
              </a:r>
              <a:r>
                <a:rPr lang="tr-TR" altLang="tr-TR" sz="20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C Modeli, D Modelini kapsamaktadır.</a:t>
              </a:r>
            </a:p>
          </p:txBody>
        </p:sp>
        <p:graphicFrame>
          <p:nvGraphicFramePr>
            <p:cNvPr id="241685" name="Object 19">
              <a:extLst>
                <a:ext uri="{FF2B5EF4-FFF2-40B4-BE49-F238E27FC236}">
                  <a16:creationId xmlns:a16="http://schemas.microsoft.com/office/drawing/2014/main" id="{58097C23-CE92-1D87-5EBE-B87F1C9237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57375" y="5880116"/>
            <a:ext cx="789729" cy="406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18918" imgH="215806" progId="Equation.DSMT4">
                    <p:embed/>
                  </p:oleObj>
                </mc:Choice>
                <mc:Fallback>
                  <p:oleObj name="Equation" r:id="rId7" imgW="418918" imgH="215806" progId="Equation.DSMT4">
                    <p:embed/>
                    <p:pic>
                      <p:nvPicPr>
                        <p:cNvPr id="241685" name="Object 19">
                          <a:extLst>
                            <a:ext uri="{FF2B5EF4-FFF2-40B4-BE49-F238E27FC236}">
                              <a16:creationId xmlns:a16="http://schemas.microsoft.com/office/drawing/2014/main" id="{58097C23-CE92-1D87-5EBE-B87F1C9237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7375" y="5880116"/>
                          <a:ext cx="789729" cy="406421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Text Box 4">
            <a:extLst>
              <a:ext uri="{FF2B5EF4-FFF2-40B4-BE49-F238E27FC236}">
                <a16:creationId xmlns:a16="http://schemas.microsoft.com/office/drawing/2014/main" id="{A91CBE45-ACA5-22BB-E96C-6B9DB02C9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857250"/>
            <a:ext cx="7772400" cy="1042988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Model C:  Y = a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a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2 </a:t>
            </a:r>
            <a:r>
              <a:rPr lang="en-US" altLang="tr-TR" sz="2400">
                <a:latin typeface="Times New Roman" panose="02020603050405020304" pitchFamily="18" charset="0"/>
              </a:rPr>
              <a:t> + u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Model D:  Y =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Z</a:t>
            </a:r>
            <a:r>
              <a:rPr lang="en-US" altLang="tr-TR" sz="2400" baseline="-25000">
                <a:latin typeface="Times New Roman" panose="02020603050405020304" pitchFamily="18" charset="0"/>
              </a:rPr>
              <a:t>2  </a:t>
            </a:r>
            <a:r>
              <a:rPr lang="en-US" altLang="tr-TR" sz="2400">
                <a:latin typeface="Times New Roman" panose="02020603050405020304" pitchFamily="18" charset="0"/>
              </a:rPr>
              <a:t>+ v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grpSp>
        <p:nvGrpSpPr>
          <p:cNvPr id="241680" name="21 Grup">
            <a:extLst>
              <a:ext uri="{FF2B5EF4-FFF2-40B4-BE49-F238E27FC236}">
                <a16:creationId xmlns:a16="http://schemas.microsoft.com/office/drawing/2014/main" id="{AFF789C2-CD46-D831-71F6-84440245A677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284538"/>
            <a:ext cx="8286750" cy="877887"/>
            <a:chOff x="1142976" y="3308353"/>
            <a:chExt cx="8286808" cy="877889"/>
          </a:xfrm>
        </p:grpSpPr>
        <p:sp>
          <p:nvSpPr>
            <p:cNvPr id="241682" name="10 Metin kutusu">
              <a:extLst>
                <a:ext uri="{FF2B5EF4-FFF2-40B4-BE49-F238E27FC236}">
                  <a16:creationId xmlns:a16="http://schemas.microsoft.com/office/drawing/2014/main" id="{0FDF76F3-D4FB-FD15-8FA8-34B9E7549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1604" y="3363916"/>
              <a:ext cx="7858180" cy="822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400" dirty="0">
                  <a:latin typeface="Times New Roman" panose="02020603050405020304" pitchFamily="18" charset="0"/>
                </a:rPr>
                <a:t>değerini, C modeline ek bir  açıklayıcı değişken olarak koy, aşağıdaki modeli tahmin et.</a:t>
              </a:r>
            </a:p>
          </p:txBody>
        </p:sp>
        <p:graphicFrame>
          <p:nvGraphicFramePr>
            <p:cNvPr id="241683" name="Object 17">
              <a:extLst>
                <a:ext uri="{FF2B5EF4-FFF2-40B4-BE49-F238E27FC236}">
                  <a16:creationId xmlns:a16="http://schemas.microsoft.com/office/drawing/2014/main" id="{3A93E055-41A8-5B9C-7237-4A14B26C26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2976" y="3308353"/>
            <a:ext cx="500062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15806" imgH="228501" progId="Equation.DSMT4">
                    <p:embed/>
                  </p:oleObj>
                </mc:Choice>
                <mc:Fallback>
                  <p:oleObj name="Equation" r:id="rId5" imgW="215806" imgH="228501" progId="Equation.DSMT4">
                    <p:embed/>
                    <p:pic>
                      <p:nvPicPr>
                        <p:cNvPr id="241683" name="Object 17">
                          <a:extLst>
                            <a:ext uri="{FF2B5EF4-FFF2-40B4-BE49-F238E27FC236}">
                              <a16:creationId xmlns:a16="http://schemas.microsoft.com/office/drawing/2014/main" id="{3A93E055-41A8-5B9C-7237-4A14B26C26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2976" y="3308353"/>
                          <a:ext cx="500062" cy="473075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19 Sağ Ok">
            <a:extLst>
              <a:ext uri="{FF2B5EF4-FFF2-40B4-BE49-F238E27FC236}">
                <a16:creationId xmlns:a16="http://schemas.microsoft.com/office/drawing/2014/main" id="{F657FEEA-402D-2324-664D-15FCFF19BCFC}"/>
              </a:ext>
            </a:extLst>
          </p:cNvPr>
          <p:cNvSpPr/>
          <p:nvPr/>
        </p:nvSpPr>
        <p:spPr>
          <a:xfrm>
            <a:off x="4643438" y="4500563"/>
            <a:ext cx="714375" cy="1428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3 Slayt Numarası Yer Tutucusu">
            <a:extLst>
              <a:ext uri="{FF2B5EF4-FFF2-40B4-BE49-F238E27FC236}">
                <a16:creationId xmlns:a16="http://schemas.microsoft.com/office/drawing/2014/main" id="{5D12605A-AA75-67BC-2EC0-7CE8889D7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DB71D2-B138-412F-BADA-63AB23131497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80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5B04526-3607-6C6F-7A19-DBCF278F6E27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2863"/>
            <a:ext cx="7772400" cy="76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3200" kern="0" dirty="0" err="1">
                <a:latin typeface="+mj-lt"/>
                <a:ea typeface="+mj-ea"/>
                <a:cs typeface="+mj-cs"/>
              </a:rPr>
              <a:t>Davidson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-</a:t>
            </a:r>
            <a:r>
              <a:rPr lang="tr-TR" sz="3200" kern="0" dirty="0" err="1">
                <a:latin typeface="+mj-lt"/>
                <a:ea typeface="+mj-ea"/>
                <a:cs typeface="+mj-cs"/>
              </a:rPr>
              <a:t>MacKinnon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 J Sınaması</a:t>
            </a:r>
            <a:endParaRPr lang="en-US" sz="32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243716" name="4 Metin kutusu">
            <a:extLst>
              <a:ext uri="{FF2B5EF4-FFF2-40B4-BE49-F238E27FC236}">
                <a16:creationId xmlns:a16="http://schemas.microsoft.com/office/drawing/2014/main" id="{BF1FF24F-FDFB-D89C-242F-568519EAD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1987550"/>
            <a:ext cx="85010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D modelini,  C modeliyle karşılaştırmak istediğimizi düşünelim; </a:t>
            </a:r>
          </a:p>
        </p:txBody>
      </p:sp>
      <p:sp>
        <p:nvSpPr>
          <p:cNvPr id="243717" name="5 Metin kutusu">
            <a:extLst>
              <a:ext uri="{FF2B5EF4-FFF2-40B4-BE49-F238E27FC236}">
                <a16:creationId xmlns:a16="http://schemas.microsoft.com/office/drawing/2014/main" id="{41DAE585-49CF-E0DC-4A01-80C33268B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581275"/>
            <a:ext cx="1500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 b="1" u="sng">
                <a:latin typeface="Times New Roman" panose="02020603050405020304" pitchFamily="18" charset="0"/>
              </a:rPr>
              <a:t>1. Adım: </a:t>
            </a:r>
          </a:p>
        </p:txBody>
      </p:sp>
      <p:sp>
        <p:nvSpPr>
          <p:cNvPr id="243718" name="8 Metin kutusu">
            <a:extLst>
              <a:ext uri="{FF2B5EF4-FFF2-40B4-BE49-F238E27FC236}">
                <a16:creationId xmlns:a16="http://schemas.microsoft.com/office/drawing/2014/main" id="{C2CEB2D2-C4D0-51C0-5B6F-922DF1698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63913"/>
            <a:ext cx="1285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 b="1" u="sng">
                <a:latin typeface="Times New Roman" panose="02020603050405020304" pitchFamily="18" charset="0"/>
              </a:rPr>
              <a:t>2. Adım:</a:t>
            </a:r>
          </a:p>
        </p:txBody>
      </p:sp>
      <p:graphicFrame>
        <p:nvGraphicFramePr>
          <p:cNvPr id="243719" name="Object 11">
            <a:extLst>
              <a:ext uri="{FF2B5EF4-FFF2-40B4-BE49-F238E27FC236}">
                <a16:creationId xmlns:a16="http://schemas.microsoft.com/office/drawing/2014/main" id="{E7EFB53B-4544-61EA-73E6-89CB2B00E9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292600"/>
          <a:ext cx="33448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37589" imgH="253890" progId="Equation.DSMT4">
                  <p:embed/>
                </p:oleObj>
              </mc:Choice>
              <mc:Fallback>
                <p:oleObj name="Equation" r:id="rId3" imgW="1637589" imgH="253890" progId="Equation.DSMT4">
                  <p:embed/>
                  <p:pic>
                    <p:nvPicPr>
                      <p:cNvPr id="243719" name="Object 11">
                        <a:extLst>
                          <a:ext uri="{FF2B5EF4-FFF2-40B4-BE49-F238E27FC236}">
                            <a16:creationId xmlns:a16="http://schemas.microsoft.com/office/drawing/2014/main" id="{E7EFB53B-4544-61EA-73E6-89CB2B00E9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292600"/>
                        <a:ext cx="3344862" cy="5191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3720" name="21 Grup">
            <a:extLst>
              <a:ext uri="{FF2B5EF4-FFF2-40B4-BE49-F238E27FC236}">
                <a16:creationId xmlns:a16="http://schemas.microsoft.com/office/drawing/2014/main" id="{6B6AD837-3CB0-21F8-2990-29C9F7FEF244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2500313"/>
            <a:ext cx="7715250" cy="473075"/>
            <a:chOff x="1214438" y="2500313"/>
            <a:chExt cx="7715250" cy="473075"/>
          </a:xfrm>
        </p:grpSpPr>
        <p:sp>
          <p:nvSpPr>
            <p:cNvPr id="243735" name="4 Metin kutusu">
              <a:extLst>
                <a:ext uri="{FF2B5EF4-FFF2-40B4-BE49-F238E27FC236}">
                  <a16:creationId xmlns:a16="http://schemas.microsoft.com/office/drawing/2014/main" id="{4DAF3CD8-442F-D97B-B443-63CD2B47A9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438" y="2554288"/>
              <a:ext cx="77152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>
                  <a:latin typeface="Times New Roman" panose="02020603050405020304" pitchFamily="18" charset="0"/>
                </a:rPr>
                <a:t>C modelini tahmin et, tahmin edilmiş  Y  değerleri                bul.</a:t>
              </a:r>
            </a:p>
          </p:txBody>
        </p:sp>
        <p:graphicFrame>
          <p:nvGraphicFramePr>
            <p:cNvPr id="243736" name="Object 3">
              <a:extLst>
                <a:ext uri="{FF2B5EF4-FFF2-40B4-BE49-F238E27FC236}">
                  <a16:creationId xmlns:a16="http://schemas.microsoft.com/office/drawing/2014/main" id="{A3F78C86-57FE-6BDF-56CC-C9C6DBD762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00850" y="2500313"/>
            <a:ext cx="46990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03112" imgH="228501" progId="Equation.DSMT4">
                    <p:embed/>
                  </p:oleObj>
                </mc:Choice>
                <mc:Fallback>
                  <p:oleObj name="Equation" r:id="rId5" imgW="203112" imgH="228501" progId="Equation.DSMT4">
                    <p:embed/>
                    <p:pic>
                      <p:nvPicPr>
                        <p:cNvPr id="243736" name="Object 3">
                          <a:extLst>
                            <a:ext uri="{FF2B5EF4-FFF2-40B4-BE49-F238E27FC236}">
                              <a16:creationId xmlns:a16="http://schemas.microsoft.com/office/drawing/2014/main" id="{A3F78C86-57FE-6BDF-56CC-C9C6DBD762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0850" y="2500313"/>
                          <a:ext cx="469900" cy="473075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3721" name="16 Metin kutusu">
            <a:extLst>
              <a:ext uri="{FF2B5EF4-FFF2-40B4-BE49-F238E27FC236}">
                <a16:creationId xmlns:a16="http://schemas.microsoft.com/office/drawing/2014/main" id="{70E70540-D39E-E399-2844-4F4853AEB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252913"/>
            <a:ext cx="3214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>
                <a:latin typeface="Times New Roman" panose="02020603050405020304" pitchFamily="18" charset="0"/>
              </a:rPr>
              <a:t>Kapsayıcılık İlkesi </a:t>
            </a:r>
          </a:p>
        </p:txBody>
      </p:sp>
      <p:sp>
        <p:nvSpPr>
          <p:cNvPr id="243722" name="8 Metin kutusu">
            <a:extLst>
              <a:ext uri="{FF2B5EF4-FFF2-40B4-BE49-F238E27FC236}">
                <a16:creationId xmlns:a16="http://schemas.microsoft.com/office/drawing/2014/main" id="{88CFB094-3FDE-691D-ACDB-872D539F2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5081588"/>
            <a:ext cx="17859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 b="1" u="sng">
                <a:latin typeface="Times New Roman" panose="02020603050405020304" pitchFamily="18" charset="0"/>
              </a:rPr>
              <a:t>3. Adım:</a:t>
            </a:r>
          </a:p>
        </p:txBody>
      </p:sp>
      <p:grpSp>
        <p:nvGrpSpPr>
          <p:cNvPr id="243723" name="20 Grup">
            <a:extLst>
              <a:ext uri="{FF2B5EF4-FFF2-40B4-BE49-F238E27FC236}">
                <a16:creationId xmlns:a16="http://schemas.microsoft.com/office/drawing/2014/main" id="{F8F0C1C5-12CE-9047-303C-01FB369DE84D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5084763"/>
            <a:ext cx="6429375" cy="500062"/>
            <a:chOff x="1357313" y="5072062"/>
            <a:chExt cx="6429375" cy="500077"/>
          </a:xfrm>
        </p:grpSpPr>
        <p:sp>
          <p:nvSpPr>
            <p:cNvPr id="243733" name="10 Metin kutusu">
              <a:extLst>
                <a:ext uri="{FF2B5EF4-FFF2-40B4-BE49-F238E27FC236}">
                  <a16:creationId xmlns:a16="http://schemas.microsoft.com/office/drawing/2014/main" id="{8C1A0E94-EAA7-0FA2-6734-6AA2583A5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7313" y="5081587"/>
              <a:ext cx="6429375" cy="396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>
                  <a:latin typeface="Times New Roman" panose="02020603050405020304" pitchFamily="18" charset="0"/>
                </a:rPr>
                <a:t>t testini kullanarak                    testi yapılır.</a:t>
              </a:r>
            </a:p>
          </p:txBody>
        </p:sp>
        <p:graphicFrame>
          <p:nvGraphicFramePr>
            <p:cNvPr id="243734" name="Object 18">
              <a:extLst>
                <a:ext uri="{FF2B5EF4-FFF2-40B4-BE49-F238E27FC236}">
                  <a16:creationId xmlns:a16="http://schemas.microsoft.com/office/drawing/2014/main" id="{61CD43BE-896A-EB1F-03B8-F6EF4798CE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0500" y="5072062"/>
            <a:ext cx="971715" cy="5000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18918" imgH="215806" progId="Equation.DSMT4">
                    <p:embed/>
                  </p:oleObj>
                </mc:Choice>
                <mc:Fallback>
                  <p:oleObj name="Equation" r:id="rId7" imgW="418918" imgH="215806" progId="Equation.DSMT4">
                    <p:embed/>
                    <p:pic>
                      <p:nvPicPr>
                        <p:cNvPr id="243734" name="Object 18">
                          <a:extLst>
                            <a:ext uri="{FF2B5EF4-FFF2-40B4-BE49-F238E27FC236}">
                              <a16:creationId xmlns:a16="http://schemas.microsoft.com/office/drawing/2014/main" id="{61CD43BE-896A-EB1F-03B8-F6EF4798CE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0500" y="5072062"/>
                          <a:ext cx="971715" cy="500077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3724" name="8 Metin kutusu">
            <a:extLst>
              <a:ext uri="{FF2B5EF4-FFF2-40B4-BE49-F238E27FC236}">
                <a16:creationId xmlns:a16="http://schemas.microsoft.com/office/drawing/2014/main" id="{48DE614A-3F34-B4E2-DCB4-BBA3328D6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6000750"/>
            <a:ext cx="2182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000" b="1" u="sng">
                <a:latin typeface="Times New Roman" panose="02020603050405020304" pitchFamily="18" charset="0"/>
              </a:rPr>
              <a:t>4. Adım:</a:t>
            </a:r>
          </a:p>
        </p:txBody>
      </p:sp>
      <p:grpSp>
        <p:nvGrpSpPr>
          <p:cNvPr id="243725" name="19 Grup">
            <a:extLst>
              <a:ext uri="{FF2B5EF4-FFF2-40B4-BE49-F238E27FC236}">
                <a16:creationId xmlns:a16="http://schemas.microsoft.com/office/drawing/2014/main" id="{41AC48B1-F129-647D-2010-825D0AC8149F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6072188"/>
            <a:ext cx="7858125" cy="701675"/>
            <a:chOff x="1143000" y="6072188"/>
            <a:chExt cx="7858125" cy="701675"/>
          </a:xfrm>
        </p:grpSpPr>
        <p:sp>
          <p:nvSpPr>
            <p:cNvPr id="243731" name="10 Metin kutusu">
              <a:extLst>
                <a:ext uri="{FF2B5EF4-FFF2-40B4-BE49-F238E27FC236}">
                  <a16:creationId xmlns:a16="http://schemas.microsoft.com/office/drawing/2014/main" id="{9293F43B-F3D5-547F-10D5-A6382F4C1B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000" y="6072188"/>
              <a:ext cx="7858125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>
                  <a:latin typeface="Times New Roman" panose="02020603050405020304" pitchFamily="18" charset="0"/>
                </a:rPr>
                <a:t>Eğer                hipotezi reddedilmez ise,  D modelini doğru model olarak kabul ederiz.  </a:t>
              </a:r>
              <a:r>
                <a:rPr lang="tr-TR" altLang="tr-TR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D Modeli, C Modelini kapsamaktadır</a:t>
              </a:r>
              <a:r>
                <a:rPr lang="tr-TR" altLang="tr-TR" sz="2000">
                  <a:latin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243732" name="Object 19">
              <a:extLst>
                <a:ext uri="{FF2B5EF4-FFF2-40B4-BE49-F238E27FC236}">
                  <a16:creationId xmlns:a16="http://schemas.microsoft.com/office/drawing/2014/main" id="{116966F1-14EC-3169-8E17-4FBB278066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57375" y="6094412"/>
            <a:ext cx="789729" cy="406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18918" imgH="215806" progId="Equation.DSMT4">
                    <p:embed/>
                  </p:oleObj>
                </mc:Choice>
                <mc:Fallback>
                  <p:oleObj name="Equation" r:id="rId9" imgW="418918" imgH="215806" progId="Equation.DSMT4">
                    <p:embed/>
                    <p:pic>
                      <p:nvPicPr>
                        <p:cNvPr id="243732" name="Object 19">
                          <a:extLst>
                            <a:ext uri="{FF2B5EF4-FFF2-40B4-BE49-F238E27FC236}">
                              <a16:creationId xmlns:a16="http://schemas.microsoft.com/office/drawing/2014/main" id="{116966F1-14EC-3169-8E17-4FBB278066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7375" y="6094412"/>
                          <a:ext cx="789729" cy="406421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Text Box 4">
            <a:extLst>
              <a:ext uri="{FF2B5EF4-FFF2-40B4-BE49-F238E27FC236}">
                <a16:creationId xmlns:a16="http://schemas.microsoft.com/office/drawing/2014/main" id="{08757888-A658-9F6F-E8B1-79D98558C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857250"/>
            <a:ext cx="7772400" cy="1042988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Model C:  Y = a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a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X</a:t>
            </a:r>
            <a:r>
              <a:rPr lang="en-US" altLang="tr-TR" sz="2400" baseline="-25000">
                <a:latin typeface="Times New Roman" panose="02020603050405020304" pitchFamily="18" charset="0"/>
              </a:rPr>
              <a:t>2 </a:t>
            </a:r>
            <a:r>
              <a:rPr lang="en-US" altLang="tr-TR" sz="2400">
                <a:latin typeface="Times New Roman" panose="02020603050405020304" pitchFamily="18" charset="0"/>
              </a:rPr>
              <a:t> + u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tr-TR" sz="2400">
                <a:latin typeface="Times New Roman" panose="02020603050405020304" pitchFamily="18" charset="0"/>
              </a:rPr>
              <a:t>Model D:  Y =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1</a:t>
            </a:r>
            <a:r>
              <a:rPr lang="en-US" altLang="tr-TR" sz="2400">
                <a:latin typeface="Times New Roman" panose="02020603050405020304" pitchFamily="18" charset="0"/>
              </a:rPr>
              <a:t> + b</a:t>
            </a:r>
            <a:r>
              <a:rPr lang="en-US" altLang="tr-TR" sz="2400" baseline="-25000">
                <a:latin typeface="Times New Roman" panose="02020603050405020304" pitchFamily="18" charset="0"/>
              </a:rPr>
              <a:t>2</a:t>
            </a:r>
            <a:r>
              <a:rPr lang="en-US" altLang="tr-TR" sz="2400">
                <a:latin typeface="Times New Roman" panose="02020603050405020304" pitchFamily="18" charset="0"/>
              </a:rPr>
              <a:t> Z</a:t>
            </a:r>
            <a:r>
              <a:rPr lang="en-US" altLang="tr-TR" sz="2400" baseline="-25000">
                <a:latin typeface="Times New Roman" panose="02020603050405020304" pitchFamily="18" charset="0"/>
              </a:rPr>
              <a:t>2  </a:t>
            </a:r>
            <a:r>
              <a:rPr lang="en-US" altLang="tr-TR" sz="2400">
                <a:latin typeface="Times New Roman" panose="02020603050405020304" pitchFamily="18" charset="0"/>
              </a:rPr>
              <a:t>+ v</a:t>
            </a:r>
            <a:endParaRPr lang="tr-TR" altLang="tr-TR" sz="2400">
              <a:latin typeface="Times New Roman" panose="02020603050405020304" pitchFamily="18" charset="0"/>
            </a:endParaRPr>
          </a:p>
        </p:txBody>
      </p:sp>
      <p:grpSp>
        <p:nvGrpSpPr>
          <p:cNvPr id="243727" name="22 Grup">
            <a:extLst>
              <a:ext uri="{FF2B5EF4-FFF2-40B4-BE49-F238E27FC236}">
                <a16:creationId xmlns:a16="http://schemas.microsoft.com/office/drawing/2014/main" id="{9BC6BD56-110A-DAF5-36D2-3F8B27B237D2}"/>
              </a:ext>
            </a:extLst>
          </p:cNvPr>
          <p:cNvGrpSpPr>
            <a:grpSpLocks/>
          </p:cNvGrpSpPr>
          <p:nvPr/>
        </p:nvGrpSpPr>
        <p:grpSpPr bwMode="auto">
          <a:xfrm>
            <a:off x="1115616" y="3286125"/>
            <a:ext cx="8028384" cy="785813"/>
            <a:chOff x="1115591" y="3286124"/>
            <a:chExt cx="8028409" cy="785818"/>
          </a:xfrm>
        </p:grpSpPr>
        <p:sp>
          <p:nvSpPr>
            <p:cNvPr id="243729" name="10 Metin kutusu">
              <a:extLst>
                <a:ext uri="{FF2B5EF4-FFF2-40B4-BE49-F238E27FC236}">
                  <a16:creationId xmlns:a16="http://schemas.microsoft.com/office/drawing/2014/main" id="{A3069734-40E9-03CD-A219-F30D1374E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223" y="3363917"/>
              <a:ext cx="7643777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tr-TR" altLang="tr-TR" sz="2000">
                  <a:latin typeface="Times New Roman" panose="02020603050405020304" pitchFamily="18" charset="0"/>
                </a:rPr>
                <a:t>değerini D modeline ek bir  açıklayıcı değişken olarak koy, aşağıdaki modeli tahmin et.</a:t>
              </a:r>
            </a:p>
          </p:txBody>
        </p:sp>
        <p:graphicFrame>
          <p:nvGraphicFramePr>
            <p:cNvPr id="243730" name="Object 17">
              <a:extLst>
                <a:ext uri="{FF2B5EF4-FFF2-40B4-BE49-F238E27FC236}">
                  <a16:creationId xmlns:a16="http://schemas.microsoft.com/office/drawing/2014/main" id="{4CC3FEEC-F480-B68F-328E-3D648BF55D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4812240"/>
                </p:ext>
              </p:extLst>
            </p:nvPr>
          </p:nvGraphicFramePr>
          <p:xfrm>
            <a:off x="1115591" y="3286124"/>
            <a:ext cx="46990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03112" imgH="228501" progId="Equation.DSMT4">
                    <p:embed/>
                  </p:oleObj>
                </mc:Choice>
                <mc:Fallback>
                  <p:oleObj name="Equation" r:id="rId5" imgW="203112" imgH="228501" progId="Equation.DSMT4">
                    <p:embed/>
                    <p:pic>
                      <p:nvPicPr>
                        <p:cNvPr id="243730" name="Object 17">
                          <a:extLst>
                            <a:ext uri="{FF2B5EF4-FFF2-40B4-BE49-F238E27FC236}">
                              <a16:creationId xmlns:a16="http://schemas.microsoft.com/office/drawing/2014/main" id="{4CC3FEEC-F480-B68F-328E-3D648BF55D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591" y="3286124"/>
                          <a:ext cx="469900" cy="473075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23 Sağ Ok">
            <a:extLst>
              <a:ext uri="{FF2B5EF4-FFF2-40B4-BE49-F238E27FC236}">
                <a16:creationId xmlns:a16="http://schemas.microsoft.com/office/drawing/2014/main" id="{488E1861-B565-FBA4-F717-10151425A8F1}"/>
              </a:ext>
            </a:extLst>
          </p:cNvPr>
          <p:cNvSpPr/>
          <p:nvPr/>
        </p:nvSpPr>
        <p:spPr>
          <a:xfrm>
            <a:off x="4643438" y="4500563"/>
            <a:ext cx="714375" cy="1428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3 Slayt Numarası Yer Tutucusu">
            <a:extLst>
              <a:ext uri="{FF2B5EF4-FFF2-40B4-BE49-F238E27FC236}">
                <a16:creationId xmlns:a16="http://schemas.microsoft.com/office/drawing/2014/main" id="{2CF0BE85-FACF-C88A-722A-6F92BB29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4FE5C2-BA05-44CE-B9E3-C01DCEDD73C7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81</a:t>
            </a:fld>
            <a:endParaRPr lang="tr-TR" altLang="tr-TR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7EB7232-7A90-04B9-4B35-8AA35498EC0A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2863"/>
            <a:ext cx="7772400" cy="76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3200" kern="0" dirty="0" err="1">
                <a:latin typeface="+mj-lt"/>
                <a:ea typeface="+mj-ea"/>
                <a:cs typeface="+mj-cs"/>
              </a:rPr>
              <a:t>Davidson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-</a:t>
            </a:r>
            <a:r>
              <a:rPr lang="tr-TR" sz="3200" kern="0" dirty="0" err="1">
                <a:latin typeface="+mj-lt"/>
                <a:ea typeface="+mj-ea"/>
                <a:cs typeface="+mj-cs"/>
              </a:rPr>
              <a:t>MacKinnon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 J Sınaması</a:t>
            </a:r>
            <a:endParaRPr lang="en-US" sz="3200" kern="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2 Tablo">
            <a:extLst>
              <a:ext uri="{FF2B5EF4-FFF2-40B4-BE49-F238E27FC236}">
                <a16:creationId xmlns:a16="http://schemas.microsoft.com/office/drawing/2014/main" id="{701D6554-C256-FDE2-A213-BF49FEF39D12}"/>
              </a:ext>
            </a:extLst>
          </p:cNvPr>
          <p:cNvGraphicFramePr>
            <a:graphicFrameLocks noGrp="1"/>
          </p:cNvGraphicFramePr>
          <p:nvPr/>
        </p:nvGraphicFramePr>
        <p:xfrm>
          <a:off x="428625" y="1500188"/>
          <a:ext cx="7715250" cy="220345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  <a:sym typeface="Symbol" pitchFamily="18" charset="2"/>
                        </a:rPr>
                        <a:t></a:t>
                      </a:r>
                      <a:r>
                        <a:rPr kumimoji="0" lang="tr-TR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tr-T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 =0 Hipotezi</a:t>
                      </a:r>
                      <a:endParaRPr kumimoji="0" lang="tr-T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  <a:sym typeface="Symbol" pitchFamily="18" charset="2"/>
                        </a:rPr>
                        <a:t></a:t>
                      </a:r>
                      <a:r>
                        <a:rPr kumimoji="0" lang="tr-TR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tr-T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 =0 Hipotezi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r-T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Reddetmeyin</a:t>
                      </a:r>
                      <a:endParaRPr kumimoji="0" lang="tr-T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Reddedin</a:t>
                      </a:r>
                      <a:endParaRPr kumimoji="0" lang="tr-T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Reddetmeyin</a:t>
                      </a:r>
                      <a:endParaRPr kumimoji="0" lang="tr-T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Hem C hem de D’yi kabul et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D’yi kabul et, C’yi reddet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Reddedin</a:t>
                      </a:r>
                      <a:endParaRPr kumimoji="0" lang="tr-T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C’yi kabul et, D’yi reddet</a:t>
                      </a:r>
                      <a:r>
                        <a:rPr kumimoji="0" lang="tr-TR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/>
                      </a:r>
                      <a:r>
                        <a:rPr kumimoji="0" lang="tr-T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/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>Hem C’yi hem de D’yi reddet</a:t>
                      </a:r>
                      <a:r>
                        <a:rPr kumimoji="0" lang="tr-TR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/>
                      </a:r>
                      <a:r>
                        <a:rPr kumimoji="0" lang="tr-T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Calibri" pitchFamily="34" charset="0"/>
                          <a:cs typeface="Times New Roman" pitchFamily="18" charset="0"/>
                        </a:rPr>
                        <a:t/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5786" name="Object 11">
            <a:extLst>
              <a:ext uri="{FF2B5EF4-FFF2-40B4-BE49-F238E27FC236}">
                <a16:creationId xmlns:a16="http://schemas.microsoft.com/office/drawing/2014/main" id="{1CF02679-9E28-70D0-CAB9-B2013520DF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292600"/>
          <a:ext cx="339883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63700" imgH="254000" progId="Equation.DSMT4">
                  <p:embed/>
                </p:oleObj>
              </mc:Choice>
              <mc:Fallback>
                <p:oleObj name="Equation" r:id="rId3" imgW="1663700" imgH="254000" progId="Equation.DSMT4">
                  <p:embed/>
                  <p:pic>
                    <p:nvPicPr>
                      <p:cNvPr id="245786" name="Object 11">
                        <a:extLst>
                          <a:ext uri="{FF2B5EF4-FFF2-40B4-BE49-F238E27FC236}">
                            <a16:creationId xmlns:a16="http://schemas.microsoft.com/office/drawing/2014/main" id="{1CF02679-9E28-70D0-CAB9-B2013520DF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292600"/>
                        <a:ext cx="3398837" cy="5191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87" name="Object 3">
            <a:extLst>
              <a:ext uri="{FF2B5EF4-FFF2-40B4-BE49-F238E27FC236}">
                <a16:creationId xmlns:a16="http://schemas.microsoft.com/office/drawing/2014/main" id="{99ED0044-58FF-757B-E2B2-46CCBC20C5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5300663"/>
          <a:ext cx="3344862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7589" imgH="253890" progId="Equation.DSMT4">
                  <p:embed/>
                </p:oleObj>
              </mc:Choice>
              <mc:Fallback>
                <p:oleObj name="Equation" r:id="rId5" imgW="1637589" imgH="253890" progId="Equation.DSMT4">
                  <p:embed/>
                  <p:pic>
                    <p:nvPicPr>
                      <p:cNvPr id="245787" name="Object 3">
                        <a:extLst>
                          <a:ext uri="{FF2B5EF4-FFF2-40B4-BE49-F238E27FC236}">
                            <a16:creationId xmlns:a16="http://schemas.microsoft.com/office/drawing/2014/main" id="{99ED0044-58FF-757B-E2B2-46CCBC20C5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300663"/>
                        <a:ext cx="3344862" cy="51911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3 Slayt Numarası Yer Tutucusu">
            <a:extLst>
              <a:ext uri="{FF2B5EF4-FFF2-40B4-BE49-F238E27FC236}">
                <a16:creationId xmlns:a16="http://schemas.microsoft.com/office/drawing/2014/main" id="{A9B38CFD-3F44-F354-080C-AF722287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B9F87A-8ACE-4381-B50E-A3BBC7CD6229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82</a:t>
            </a:fld>
            <a:endParaRPr lang="tr-TR" altLang="tr-TR" sz="1400"/>
          </a:p>
        </p:txBody>
      </p:sp>
      <p:sp>
        <p:nvSpPr>
          <p:cNvPr id="247811" name="2 Metin kutusu">
            <a:extLst>
              <a:ext uri="{FF2B5EF4-FFF2-40B4-BE49-F238E27FC236}">
                <a16:creationId xmlns:a16="http://schemas.microsoft.com/office/drawing/2014/main" id="{95A1DDFF-1D35-DC3E-70AA-BEBBBC667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928688"/>
            <a:ext cx="80724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r-TR" altLang="tr-TR" sz="2400" b="1" u="sng">
                <a:latin typeface="Times New Roman" panose="02020603050405020304" pitchFamily="18" charset="0"/>
              </a:rPr>
              <a:t>Uygulama: </a:t>
            </a:r>
            <a:r>
              <a:rPr lang="tr-TR" altLang="tr-TR" sz="2400">
                <a:latin typeface="Times New Roman" panose="02020603050405020304" pitchFamily="18" charset="0"/>
              </a:rPr>
              <a:t>1990-2002 yılları verisi ile Vadeli Mevduat (VM), Para arzı(PA) ve GSMH verileri ile Davidson-MacKinnon J sınamasını yapalım.</a:t>
            </a:r>
          </a:p>
        </p:txBody>
      </p:sp>
      <p:graphicFrame>
        <p:nvGraphicFramePr>
          <p:cNvPr id="4" name="3 Tablo">
            <a:extLst>
              <a:ext uri="{FF2B5EF4-FFF2-40B4-BE49-F238E27FC236}">
                <a16:creationId xmlns:a16="http://schemas.microsoft.com/office/drawing/2014/main" id="{24BD2716-B703-08F5-3592-05D1C08A69E1}"/>
              </a:ext>
            </a:extLst>
          </p:cNvPr>
          <p:cNvGraphicFramePr>
            <a:graphicFrameLocks noGrp="1"/>
          </p:cNvGraphicFramePr>
          <p:nvPr/>
        </p:nvGraphicFramePr>
        <p:xfrm>
          <a:off x="2000250" y="2214563"/>
          <a:ext cx="4857752" cy="4400550"/>
        </p:xfrm>
        <a:graphic>
          <a:graphicData uri="http://schemas.openxmlformats.org/drawingml/2006/table">
            <a:tbl>
              <a:tblPr/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 dirty="0">
                          <a:latin typeface="Arial Tur"/>
                        </a:rPr>
                        <a:t>YILLAR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>
                          <a:latin typeface="Arial Tur"/>
                        </a:rPr>
                        <a:t>VM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>
                          <a:latin typeface="Arial Tur"/>
                        </a:rPr>
                        <a:t>PA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1" i="0" u="none" strike="noStrike">
                          <a:latin typeface="Arial Tur"/>
                        </a:rPr>
                        <a:t>GSMH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0.042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0.072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0.397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0.073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0.117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0.634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0.115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0.191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1.104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0.159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0.282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1.997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0.409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3.888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0.879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1.257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7.855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2.044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 dirty="0">
                          <a:latin typeface="Arial Tur"/>
                        </a:rPr>
                        <a:t>2.925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14.978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4.144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5.659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29.393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9.012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11.423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53.518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1999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17.958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22.402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78.283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24.348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31.912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125.596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2001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35.652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47.241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179.48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2002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47.159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>
                          <a:latin typeface="Arial Tur"/>
                        </a:rPr>
                        <a:t>61.879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2000" b="0" i="0" u="none" strike="noStrike" dirty="0">
                          <a:latin typeface="Arial Tur"/>
                        </a:rPr>
                        <a:t>265.476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F290B072-1C47-C05B-A4B8-C1883F061C72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66688"/>
            <a:ext cx="7772400" cy="76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3200" kern="0" dirty="0" err="1">
                <a:latin typeface="+mj-lt"/>
                <a:ea typeface="+mj-ea"/>
                <a:cs typeface="+mj-cs"/>
              </a:rPr>
              <a:t>Davidson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-</a:t>
            </a:r>
            <a:r>
              <a:rPr lang="tr-TR" sz="3200" kern="0" dirty="0" err="1">
                <a:latin typeface="+mj-lt"/>
                <a:ea typeface="+mj-ea"/>
                <a:cs typeface="+mj-cs"/>
              </a:rPr>
              <a:t>MacKinnon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 J Sınaması</a:t>
            </a:r>
            <a:endParaRPr lang="en-US" sz="3200" kern="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1 Slayt Numarası Yer Tutucusu">
            <a:extLst>
              <a:ext uri="{FF2B5EF4-FFF2-40B4-BE49-F238E27FC236}">
                <a16:creationId xmlns:a16="http://schemas.microsoft.com/office/drawing/2014/main" id="{C6339C8C-DB96-1D24-4F54-2264FAD9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3FF447-42C4-4121-8ABE-DBFF16E0F620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83</a:t>
            </a:fld>
            <a:endParaRPr lang="tr-TR" altLang="tr-TR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F2CAA3-727A-E225-1258-812591E0489F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66688"/>
            <a:ext cx="7772400" cy="76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3200" kern="0" dirty="0" err="1">
                <a:latin typeface="+mj-lt"/>
                <a:ea typeface="+mj-ea"/>
                <a:cs typeface="+mj-cs"/>
              </a:rPr>
              <a:t>Davidson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-</a:t>
            </a:r>
            <a:r>
              <a:rPr lang="tr-TR" sz="3200" kern="0" dirty="0" err="1">
                <a:latin typeface="+mj-lt"/>
                <a:ea typeface="+mj-ea"/>
                <a:cs typeface="+mj-cs"/>
              </a:rPr>
              <a:t>MacKinnon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 J Sınaması</a:t>
            </a:r>
            <a:endParaRPr lang="en-US" sz="32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249859" name="TextBox 249858"/>
          <p:cNvSpPr txBox="1"/>
          <p:nvPr/>
        </p:nvSpPr>
        <p:spPr>
          <a:xfrm>
            <a:off x="548640" y="201168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lang="tr-TR">
                <a:latin typeface="Times New Roman"/>
              </a:rPr>
              <a:t>Model C:  VM = a</a:t>
            </a:r>
            <a:r>
              <a:rPr sz="2800" lang="tr-TR" baseline="-25000">
                <a:latin typeface="Times New Roman"/>
              </a:rPr>
              <a:t>1</a:t>
            </a:r>
            <a:r>
              <a:rPr sz="2800" lang="tr-TR">
                <a:latin typeface="Times New Roman"/>
              </a:rPr>
              <a:t> + a</a:t>
            </a:r>
            <a:r>
              <a:rPr sz="2800" lang="tr-TR" baseline="-25000">
                <a:latin typeface="Times New Roman"/>
              </a:rPr>
              <a:t>2</a:t>
            </a:r>
            <a:r>
              <a:rPr sz="2800" lang="tr-TR">
                <a:latin typeface="Times New Roman"/>
              </a:rPr>
              <a:t> GSMH + u</a:t>
            </a:r>
          </a:p>
          <a:p>
            <a:r>
              <a:rPr sz="2800" lang="tr-TR">
                <a:latin typeface="Times New Roman"/>
              </a:rPr>
              <a:t/>
            </a:r>
          </a:p>
          <a:p>
            <a:r>
              <a:rPr sz="2800" lang="tr-TR">
                <a:latin typeface="Times New Roman"/>
              </a:rPr>
              <a:t/>
            </a:r>
          </a:p>
          <a:p>
            <a:r>
              <a:rPr sz="2800" lang="tr-TR">
                <a:latin typeface="Times New Roman"/>
              </a:rPr>
              <a:t>Model D:  VM = b</a:t>
            </a:r>
            <a:r>
              <a:rPr sz="2800" lang="tr-TR" baseline="-25000">
                <a:latin typeface="Times New Roman"/>
              </a:rPr>
              <a:t>1</a:t>
            </a:r>
            <a:r>
              <a:rPr sz="2800" lang="tr-TR">
                <a:latin typeface="Times New Roman"/>
              </a:rPr>
              <a:t> + b</a:t>
            </a:r>
            <a:r>
              <a:rPr sz="2800" lang="tr-TR" baseline="-25000">
                <a:latin typeface="Times New Roman"/>
              </a:rPr>
              <a:t>2</a:t>
            </a:r>
            <a:r>
              <a:rPr sz="2800" lang="tr-TR">
                <a:latin typeface="Times New Roman"/>
              </a:rPr>
              <a:t> PA + v</a:t>
            </a:r>
          </a:p>
          <a:p>
            <a:r>
              <a:rPr sz="2800" lang="tr-TR">
                <a:latin typeface="Times New Roman"/>
              </a:rPr>
              <a:t/>
            </a:r>
          </a:p>
          <a:p>
            <a:r>
              <a:rPr sz="2800" lang="tr-TR">
                <a:latin typeface="Times New Roman"/>
              </a:rPr>
              <a:t>(Yuvalanmamış F testindeki adlandırmanın aynısı)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1 Slayt Numarası Yer Tutucusu">
            <a:extLst>
              <a:ext uri="{FF2B5EF4-FFF2-40B4-BE49-F238E27FC236}">
                <a16:creationId xmlns:a16="http://schemas.microsoft.com/office/drawing/2014/main" id="{F82C79D6-F0F8-A578-CD54-96F2B65C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D47AC4-3C65-4055-BBA1-F3EC5C533836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84</a:t>
            </a:fld>
            <a:endParaRPr lang="tr-TR" altLang="tr-TR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48D09B-B102-2A0E-365A-64D456F2DA62}"/>
              </a:ext>
            </a:extLst>
          </p:cNvPr>
          <p:cNvSpPr txBox="1">
            <a:spLocks noChangeArrowheads="1"/>
          </p:cNvSpPr>
          <p:nvPr/>
        </p:nvSpPr>
        <p:spPr>
          <a:xfrm>
            <a:off x="250825" y="0"/>
            <a:ext cx="6858000" cy="6429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3200" kern="0" dirty="0" err="1">
                <a:latin typeface="+mj-lt"/>
                <a:ea typeface="+mj-ea"/>
                <a:cs typeface="+mj-cs"/>
              </a:rPr>
              <a:t>Davidson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-</a:t>
            </a:r>
            <a:r>
              <a:rPr lang="tr-TR" sz="3200" kern="0" dirty="0" err="1">
                <a:latin typeface="+mj-lt"/>
                <a:ea typeface="+mj-ea"/>
                <a:cs typeface="+mj-cs"/>
              </a:rPr>
              <a:t>MacKinnon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 J Sınaması</a:t>
            </a:r>
            <a:endParaRPr lang="en-US" sz="32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251907" name="TextBox 251906"/>
          <p:cNvSpPr txBox="1"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C modelini D ile karşılaştırma: Model C’ye D’nin tahmin değerleri eklenir.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1908" name="Denklem"/>
              <p:cNvSpPr txBox="1"/>
              <p:nvPr/>
            </p:nvSpPr>
            <p:spPr>
              <a:xfrm>
                <a:off x="548640" y="1280160"/>
                <a:ext cx="4407773" cy="43845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>
                          <a:latin typeface="Cambria Math"/>
                        </a:rPr>
                        <m:t>V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α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α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G</m:t>
                      </m:r>
                      <m:r>
                        <a:rPr lang="en-US" sz="2400">
                          <a:latin typeface="Cambria Math"/>
                        </a:rPr>
                        <m:t>S</m:t>
                      </m:r>
                      <m:r>
                        <a:rPr lang="en-US" sz="2400">
                          <a:latin typeface="Cambria Math"/>
                        </a:rPr>
                        <m:t>M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α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3</m:t>
                          </m:r>
                        </m:sub>
                      </m:sSub>
                      <m:sSub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  <m:sup>
                          <m:r>
                            <a:rPr lang="en-US" sz="2400">
                              <a:latin typeface="Cambria Math"/>
                            </a:rPr>
                            <m:t>D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251908" name="Picture 251907" descr="eq0038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640" y="1280160"/>
                <a:ext cx="4081271" cy="417576"/>
              </a:xfrm>
              <a:prstGeom prst="rect">
                <a:avLst/>
              </a:prstGeom>
            </p:spPr>
          </p:pic>
        </mc:Fallback>
      </mc:AlternateContent>
      <p:sp>
        <p:nvSpPr>
          <p:cNvPr id="251909" name="TextBox 251908"/>
          <p:cNvSpPr txBox="1"/>
          <p:nvPr/>
        </p:nvSpPr>
        <p:spPr>
          <a:xfrm>
            <a:off x="274320" y="19659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lang="tr-TR">
                <a:latin typeface="Courier New"/>
              </a:rPr>
              <a:t>Dependent Variable: VM    Method: Least Squares    Sample: 1990 2002    n = 13</a:t>
            </a:r>
          </a:p>
        </p:txBody>
      </p:sp>
      <p:graphicFrame>
        <p:nvGraphicFramePr>
          <p:cNvPr id="251910" name="Table 251909"/>
          <p:cNvGraphicFramePr>
            <a:graphicFrameLocks noGrp="1"/>
          </p:cNvGraphicFramePr>
          <p:nvPr/>
        </p:nvGraphicFramePr>
        <p:xfrm>
          <a:off x="548640" y="2377440"/>
          <a:ext cx="8046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Değişken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Katsayı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Std. hata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p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0.008192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0.108579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0.07545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0.9413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GSMH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-0.010894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0.012517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-0.87038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0.4045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Ŷ</a:t>
                      </a:r>
                      <a:r>
                        <a:rPr sz="1600" b="0" lang="tr-TR" baseline="30000">
                          <a:latin typeface="Times New Roman"/>
                        </a:rPr>
                        <a:t>D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1.057760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0.066615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15.87869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0.0000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251911" name="TextBox 251910"/>
          <p:cNvSpPr txBox="1"/>
          <p:nvPr/>
        </p:nvSpPr>
        <p:spPr>
          <a:xfrm>
            <a:off x="548640" y="3977639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lang="tr-TR">
                <a:latin typeface="Times New Roman"/>
              </a:rPr>
              <a:t>R² = 0.999663     Düzeltilmiş R² = 0.999596</a:t>
            </a:r>
          </a:p>
        </p:txBody>
      </p:sp>
      <p:sp>
        <p:nvSpPr>
          <p:cNvPr id="251912" name="TextBox 251911"/>
          <p:cNvSpPr txBox="1"/>
          <p:nvPr/>
        </p:nvSpPr>
        <p:spPr>
          <a:xfrm>
            <a:off x="274320" y="4572000"/>
            <a:ext cx="8595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H</a:t>
            </a:r>
            <a:r>
              <a:rPr sz="2000" lang="tr-TR" baseline="-25000">
                <a:latin typeface="Times New Roman"/>
              </a:rPr>
              <a:t>0</a:t>
            </a:r>
            <a:r>
              <a:rPr sz="2000" lang="tr-TR">
                <a:latin typeface="Times New Roman"/>
              </a:rPr>
              <a:t>: α</a:t>
            </a:r>
            <a:r>
              <a:rPr sz="2000" lang="tr-TR" baseline="-25000">
                <a:latin typeface="Times New Roman"/>
              </a:rPr>
              <a:t>3</a:t>
            </a:r>
            <a:r>
              <a:rPr sz="2000" lang="tr-TR">
                <a:latin typeface="Times New Roman"/>
              </a:rPr>
              <a:t> = 0.   t = </a:t>
            </a:r>
            <a:r>
              <a:rPr sz="2000" lang="tr-TR">
                <a:latin typeface="Times New Roman"/>
              </a:rPr>
              <a:t>15.879</a:t>
            </a:r>
            <a:r>
              <a:rPr sz="2000" lang="tr-TR">
                <a:latin typeface="Times New Roman"/>
              </a:rPr>
              <a:t>, p = </a:t>
            </a:r>
            <a:r>
              <a:rPr sz="2000" lang="tr-TR">
                <a:latin typeface="Times New Roman"/>
              </a:rPr>
              <a:t>0.0000</a:t>
            </a:r>
            <a:r>
              <a:rPr sz="2000" lang="tr-TR">
                <a:latin typeface="Times New Roman"/>
              </a:rPr>
              <a:t> ⇒ H</a:t>
            </a:r>
            <a:r>
              <a:rPr sz="2000" lang="tr-TR" baseline="-25000">
                <a:latin typeface="Times New Roman"/>
              </a:rPr>
              <a:t>0</a:t>
            </a:r>
            <a:r>
              <a:rPr sz="2000" lang="tr-TR">
                <a:latin typeface="Times New Roman"/>
              </a:rPr>
              <a:t> reddedilir.</a:t>
            </a:r>
          </a:p>
          <a:p>
            <a:r>
              <a:rPr sz="2000" b="1" lang="tr-TR">
                <a:latin typeface="Times New Roman"/>
              </a:rPr>
              <a:t>C modeli, D modelini kapsamamaktadır.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3 Slayt Numarası Yer Tutucusu">
            <a:extLst>
              <a:ext uri="{FF2B5EF4-FFF2-40B4-BE49-F238E27FC236}">
                <a16:creationId xmlns:a16="http://schemas.microsoft.com/office/drawing/2014/main" id="{742D5E67-7754-EE05-F589-552BDAC8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D792B0-F611-4A77-B25C-498A42931F69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85</a:t>
            </a:fld>
            <a:endParaRPr lang="tr-TR" altLang="tr-TR" sz="140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BCFA690-E2AA-0E36-A162-1BD17D18CD89}"/>
              </a:ext>
            </a:extLst>
          </p:cNvPr>
          <p:cNvSpPr txBox="1">
            <a:spLocks noChangeArrowheads="1"/>
          </p:cNvSpPr>
          <p:nvPr/>
        </p:nvSpPr>
        <p:spPr>
          <a:xfrm>
            <a:off x="285750" y="71438"/>
            <a:ext cx="6858000" cy="6429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3200" kern="0" dirty="0" err="1">
                <a:latin typeface="+mj-lt"/>
                <a:ea typeface="+mj-ea"/>
                <a:cs typeface="+mj-cs"/>
              </a:rPr>
              <a:t>Davidson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-</a:t>
            </a:r>
            <a:r>
              <a:rPr lang="tr-TR" sz="3200" kern="0" dirty="0" err="1">
                <a:latin typeface="+mj-lt"/>
                <a:ea typeface="+mj-ea"/>
                <a:cs typeface="+mj-cs"/>
              </a:rPr>
              <a:t>MacKinnon</a:t>
            </a:r>
            <a:r>
              <a:rPr lang="tr-TR" sz="3200" kern="0" dirty="0">
                <a:latin typeface="+mj-lt"/>
                <a:ea typeface="+mj-ea"/>
                <a:cs typeface="+mj-cs"/>
              </a:rPr>
              <a:t> J Sınaması</a:t>
            </a:r>
            <a:endParaRPr lang="en-US" sz="32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253955" name="TextBox 253954"/>
          <p:cNvSpPr txBox="1"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D modelini C ile karşılaştırma: Model D’ye C’nin tahmin değerleri eklenir.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3956" name="Denklem"/>
              <p:cNvSpPr txBox="1"/>
              <p:nvPr/>
            </p:nvSpPr>
            <p:spPr>
              <a:xfrm>
                <a:off x="548640" y="1280160"/>
                <a:ext cx="3821826" cy="43845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>
                          <a:latin typeface="Cambria Math"/>
                        </a:rPr>
                        <m:t>V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P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β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3</m:t>
                          </m:r>
                        </m:sub>
                      </m:sSub>
                      <m:sSub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400">
                                  <a:latin typeface="Cambria Math"/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  <m:sup>
                          <m:r>
                            <a:rPr lang="en-US" sz="2400">
                              <a:latin typeface="Cambria Math"/>
                            </a:rPr>
                            <m:t>C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400" i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400"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pic>
            <p:nvPicPr>
              <p:cNvPr id="253956" name="Picture 253955" descr="eq0039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640" y="1280160"/>
                <a:ext cx="3538728" cy="417576"/>
              </a:xfrm>
              <a:prstGeom prst="rect">
                <a:avLst/>
              </a:prstGeom>
            </p:spPr>
          </p:pic>
        </mc:Fallback>
      </mc:AlternateContent>
      <p:sp>
        <p:nvSpPr>
          <p:cNvPr id="253957" name="TextBox 253956"/>
          <p:cNvSpPr txBox="1"/>
          <p:nvPr/>
        </p:nvSpPr>
        <p:spPr>
          <a:xfrm>
            <a:off x="274320" y="19659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lang="tr-TR">
                <a:latin typeface="Courier New"/>
              </a:rPr>
              <a:t>Dependent Variable: VM    Method: Least Squares    Sample: 1990 2002    n = 13</a:t>
            </a:r>
          </a:p>
        </p:txBody>
      </p:sp>
      <p:graphicFrame>
        <p:nvGraphicFramePr>
          <p:cNvPr id="253958" name="Table 253957"/>
          <p:cNvGraphicFramePr>
            <a:graphicFrameLocks noGrp="1"/>
          </p:cNvGraphicFramePr>
          <p:nvPr/>
        </p:nvGraphicFramePr>
        <p:xfrm>
          <a:off x="548640" y="2377440"/>
          <a:ext cx="8046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Değişken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Katsayı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Std. hata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t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1" lang="tr-TR">
                          <a:solidFill>
                            <a:srgbClr val="1F1F1F"/>
                          </a:solidFill>
                          <a:latin typeface="Times New Roman"/>
                        </a:rPr>
                        <a:t>p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0.018162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0.108335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0.16765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0.8702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PA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0.806634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0.050800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15.87869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0.0000</a:t>
                      </a:r>
                    </a:p>
                  </a:txBody>
                  <a:tcPr marT="27432" marB="27432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Ŷ</a:t>
                      </a:r>
                      <a:r>
                        <a:rPr sz="1600" b="0" lang="tr-TR" baseline="30000">
                          <a:latin typeface="Times New Roman"/>
                        </a:rPr>
                        <a:t>C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-0.058228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0.066899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-0.87038</a:t>
                      </a:r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 b="0" lang="tr-TR">
                          <a:latin typeface="Times New Roman"/>
                        </a:rPr>
                        <a:t>0.4045</a:t>
                      </a:r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253959" name="TextBox 253958"/>
          <p:cNvSpPr txBox="1"/>
          <p:nvPr/>
        </p:nvSpPr>
        <p:spPr>
          <a:xfrm>
            <a:off x="548640" y="3977639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lang="tr-TR">
                <a:latin typeface="Times New Roman"/>
              </a:rPr>
              <a:t>R² = 0.999663     Düzeltilmiş R² = 0.999596</a:t>
            </a:r>
          </a:p>
        </p:txBody>
      </p:sp>
      <p:sp>
        <p:nvSpPr>
          <p:cNvPr id="253960" name="TextBox 253959"/>
          <p:cNvSpPr txBox="1"/>
          <p:nvPr/>
        </p:nvSpPr>
        <p:spPr>
          <a:xfrm>
            <a:off x="274320" y="4572000"/>
            <a:ext cx="8595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lang="tr-TR">
                <a:latin typeface="Times New Roman"/>
              </a:rPr>
              <a:t>H</a:t>
            </a:r>
            <a:r>
              <a:rPr sz="2000" lang="tr-TR" baseline="-25000">
                <a:latin typeface="Times New Roman"/>
              </a:rPr>
              <a:t>0</a:t>
            </a:r>
            <a:r>
              <a:rPr sz="2000" lang="tr-TR">
                <a:latin typeface="Times New Roman"/>
              </a:rPr>
              <a:t>: β</a:t>
            </a:r>
            <a:r>
              <a:rPr sz="2000" lang="tr-TR" baseline="-25000">
                <a:latin typeface="Times New Roman"/>
              </a:rPr>
              <a:t>3</a:t>
            </a:r>
            <a:r>
              <a:rPr sz="2000" lang="tr-TR">
                <a:latin typeface="Times New Roman"/>
              </a:rPr>
              <a:t> = 0.   t = </a:t>
            </a:r>
            <a:r>
              <a:rPr sz="2000" lang="tr-TR">
                <a:latin typeface="Times New Roman"/>
              </a:rPr>
              <a:t>−0.870</a:t>
            </a:r>
            <a:r>
              <a:rPr sz="2000" lang="tr-TR">
                <a:latin typeface="Times New Roman"/>
              </a:rPr>
              <a:t>, p = </a:t>
            </a:r>
            <a:r>
              <a:rPr sz="2000" lang="tr-TR">
                <a:latin typeface="Times New Roman"/>
              </a:rPr>
              <a:t>0.4045</a:t>
            </a:r>
            <a:r>
              <a:rPr sz="2000" lang="tr-TR">
                <a:latin typeface="Times New Roman"/>
              </a:rPr>
              <a:t> ⇒ H</a:t>
            </a:r>
            <a:r>
              <a:rPr sz="2000" lang="tr-TR" baseline="-25000">
                <a:latin typeface="Times New Roman"/>
              </a:rPr>
              <a:t>0</a:t>
            </a:r>
            <a:r>
              <a:rPr sz="2000" lang="tr-TR">
                <a:latin typeface="Times New Roman"/>
              </a:rPr>
              <a:t> reddedilemez.</a:t>
            </a:r>
          </a:p>
          <a:p>
            <a:r>
              <a:rPr sz="2000" b="1" lang="tr-TR">
                <a:latin typeface="Times New Roman"/>
              </a:rPr>
              <a:t>D modeli, C modelini kapsamaktadır.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546" name="3 Slayt Numarası Yer Tutucusu">
            <a:extLst>
              <a:ext uri="{FF2B5EF4-FFF2-40B4-BE49-F238E27FC236}">
                <a16:creationId xmlns:a16="http://schemas.microsoft.com/office/drawing/2014/main" id="{44B5EFAF-9302-99F4-5BDC-B498B2E4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6BE864-1FA2-479E-8033-00D90ADC2B53}" type="slidenum">
              <a:rPr lang="tr-TR" altLang="tr-TR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tr-TR" altLang="tr-TR" sz="140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BCFA690-E2AA-0E36-A162-1BD17D18CD89}"/>
              </a:ext>
            </a:extLst>
          </p:cNvPr>
          <p:cNvSpPr txBox="1">
            <a:spLocks noChangeArrowheads="1"/>
          </p:cNvSpPr>
          <p:nvPr/>
        </p:nvSpPr>
        <p:spPr>
          <a:xfrm>
            <a:off x="285750" y="71438"/>
            <a:ext cx="8595360" cy="6429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tr-TR" sz="2800" kern="0" dirty="0" err="1">
                <a:latin typeface="+mj-lt"/>
                <a:ea typeface="+mj-ea"/>
                <a:cs typeface="+mj-cs"/>
              </a:rPr>
              <a:t>J Testi ile Yuvalanmamış F Testinin İlişkisi</a:t>
            </a:r>
            <a:endParaRPr lang="en-US" sz="32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108547" name="TextBox 108546"/>
          <p:cNvSpPr txBox="1"/>
          <p:nvPr/>
        </p:nvSpPr>
        <p:spPr>
          <a:xfrm>
            <a:off x="274320" y="91440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r-TR">
                <a:latin typeface="Times New Roman"/>
              </a:rPr>
              <a:t>Karar: α</a:t>
            </a:r>
            <a:r>
              <a:rPr sz="1800" lang="tr-TR" baseline="-25000">
                <a:latin typeface="Times New Roman"/>
              </a:rPr>
              <a:t>3</a:t>
            </a:r>
            <a:r>
              <a:rPr sz="1800" lang="tr-TR">
                <a:latin typeface="Times New Roman"/>
              </a:rPr>
              <a:t> = 0 reddedildi, β</a:t>
            </a:r>
            <a:r>
              <a:rPr sz="1800" lang="tr-TR" baseline="-25000">
                <a:latin typeface="Times New Roman"/>
              </a:rPr>
              <a:t>3</a:t>
            </a:r>
            <a:r>
              <a:rPr sz="1800" lang="tr-TR">
                <a:latin typeface="Times New Roman"/>
              </a:rPr>
              <a:t> = 0 reddedilmedi ⇒ D’yi kabul et, C’yi reddet. Yuvalanmamış F testi de VM = f(PA) modelini seçmişti.</a:t>
            </a:r>
          </a:p>
          <a:p>
            <a:r>
              <a:rPr sz="1800" lang="tr-TR">
                <a:latin typeface="Times New Roman"/>
              </a:rPr>
              <a:t/>
            </a:r>
          </a:p>
          <a:p>
            <a:r>
              <a:rPr sz="1800" b="1" lang="tr-TR">
                <a:latin typeface="Times New Roman"/>
              </a:rPr>
              <a:t>İki J regresyonunun sonuçları Model E ile birebir aynıdır:</a:t>
            </a:r>
          </a:p>
          <a:p>
            <a:r>
              <a:rPr sz="1800" lang="tr-TR">
                <a:latin typeface="Times New Roman"/>
              </a:rPr>
              <a:t>•  C + Ŷ</a:t>
            </a:r>
            <a:r>
              <a:rPr sz="1800" lang="tr-TR" baseline="30000">
                <a:latin typeface="Times New Roman"/>
              </a:rPr>
              <a:t>D</a:t>
            </a:r>
            <a:r>
              <a:rPr sz="1800" lang="tr-TR">
                <a:latin typeface="Times New Roman"/>
              </a:rPr>
              <a:t> regresyonunda Ŷ</a:t>
            </a:r>
            <a:r>
              <a:rPr sz="1800" lang="tr-TR" baseline="30000">
                <a:latin typeface="Times New Roman"/>
              </a:rPr>
              <a:t>D</a:t>
            </a:r>
            <a:r>
              <a:rPr sz="1800" lang="tr-TR">
                <a:latin typeface="Times New Roman"/>
              </a:rPr>
              <a:t>’nin t değeri (</a:t>
            </a:r>
            <a:r>
              <a:rPr sz="1800" lang="tr-TR">
                <a:latin typeface="Times New Roman"/>
              </a:rPr>
              <a:t>15.879</a:t>
            </a:r>
            <a:r>
              <a:rPr sz="1800" lang="tr-TR">
                <a:latin typeface="Times New Roman"/>
              </a:rPr>
              <a:t>) = Model E’de PA’nın t değeri</a:t>
            </a:r>
          </a:p>
          <a:p>
            <a:r>
              <a:rPr sz="1800" lang="tr-TR">
                <a:latin typeface="Times New Roman"/>
              </a:rPr>
              <a:t>•  D + Ŷ</a:t>
            </a:r>
            <a:r>
              <a:rPr sz="1800" lang="tr-TR" baseline="30000">
                <a:latin typeface="Times New Roman"/>
              </a:rPr>
              <a:t>C</a:t>
            </a:r>
            <a:r>
              <a:rPr sz="1800" lang="tr-TR">
                <a:latin typeface="Times New Roman"/>
              </a:rPr>
              <a:t> regresyonunda Ŷ</a:t>
            </a:r>
            <a:r>
              <a:rPr sz="1800" lang="tr-TR" baseline="30000">
                <a:latin typeface="Times New Roman"/>
              </a:rPr>
              <a:t>C</a:t>
            </a:r>
            <a:r>
              <a:rPr sz="1800" lang="tr-TR">
                <a:latin typeface="Times New Roman"/>
              </a:rPr>
              <a:t>’nin t değeri (</a:t>
            </a:r>
            <a:r>
              <a:rPr sz="1800" lang="tr-TR">
                <a:latin typeface="Times New Roman"/>
              </a:rPr>
              <a:t>−0.870</a:t>
            </a:r>
            <a:r>
              <a:rPr sz="1800" lang="tr-TR">
                <a:latin typeface="Times New Roman"/>
              </a:rPr>
              <a:t>) = Model E’de GSMH’nin t değeri</a:t>
            </a:r>
          </a:p>
          <a:p>
            <a:r>
              <a:rPr sz="1800" lang="tr-TR">
                <a:latin typeface="Times New Roman"/>
              </a:rPr>
              <a:t>•  Üç regresyonun R² değeri de </a:t>
            </a:r>
            <a:r>
              <a:rPr sz="1800" lang="tr-TR">
                <a:latin typeface="Times New Roman"/>
              </a:rPr>
              <a:t>0.999663</a:t>
            </a:r>
            <a:r>
              <a:rPr sz="1800" lang="tr-TR">
                <a:latin typeface="Times New Roman"/>
              </a:rPr>
              <a:t>’tür.</a:t>
            </a:r>
          </a:p>
          <a:p>
            <a:r>
              <a:rPr sz="1800" lang="tr-TR">
                <a:latin typeface="Times New Roman"/>
              </a:rPr>
              <a:t/>
            </a:r>
          </a:p>
          <a:p>
            <a:r>
              <a:rPr sz="1800" lang="tr-TR">
                <a:latin typeface="Times New Roman"/>
              </a:rPr>
              <a:t>Nedeni: Her modelde tek açıklayıcı olduğundan Ŷ</a:t>
            </a:r>
            <a:r>
              <a:rPr sz="1800" lang="tr-TR" baseline="30000">
                <a:latin typeface="Times New Roman"/>
              </a:rPr>
              <a:t>C</a:t>
            </a:r>
            <a:r>
              <a:rPr sz="1800" lang="tr-TR">
                <a:latin typeface="Times New Roman"/>
              </a:rPr>
              <a:t> = â</a:t>
            </a:r>
            <a:r>
              <a:rPr sz="1800" lang="tr-TR" baseline="-25000">
                <a:latin typeface="Times New Roman"/>
              </a:rPr>
              <a:t>1</a:t>
            </a:r>
            <a:r>
              <a:rPr sz="1800" lang="tr-TR">
                <a:latin typeface="Times New Roman"/>
              </a:rPr>
              <a:t> + â</a:t>
            </a:r>
            <a:r>
              <a:rPr sz="1800" lang="tr-TR" baseline="-25000">
                <a:latin typeface="Times New Roman"/>
              </a:rPr>
              <a:t>2</a:t>
            </a:r>
            <a:r>
              <a:rPr sz="1800" lang="tr-TR">
                <a:latin typeface="Times New Roman"/>
              </a:rPr>
              <a:t>GSMH, GSMH’nin doğrusal bir fonksiyonudur; Ŷ</a:t>
            </a:r>
            <a:r>
              <a:rPr sz="1800" lang="tr-TR" baseline="30000">
                <a:latin typeface="Times New Roman"/>
              </a:rPr>
              <a:t>C</a:t>
            </a:r>
            <a:r>
              <a:rPr sz="1800" lang="tr-TR">
                <a:latin typeface="Times New Roman"/>
              </a:rPr>
              <a:t>’yi eklemek GSMH’yi eklemekle aynıdır. Bu durumda J testi yuvalanmamış F testiyle özdeştir ve tek kısıtta F = t²: (</a:t>
            </a:r>
            <a:r>
              <a:rPr sz="1800" lang="tr-TR">
                <a:latin typeface="Times New Roman"/>
              </a:rPr>
              <a:t>−0.870</a:t>
            </a:r>
            <a:r>
              <a:rPr sz="1800" lang="tr-TR">
                <a:latin typeface="Times New Roman"/>
              </a:rPr>
              <a:t>)² = </a:t>
            </a:r>
            <a:r>
              <a:rPr sz="1800" lang="tr-TR">
                <a:latin typeface="Times New Roman"/>
              </a:rPr>
              <a:t>0.758</a:t>
            </a:r>
            <a:r>
              <a:rPr sz="1800" lang="tr-TR">
                <a:latin typeface="Times New Roman"/>
              </a:rPr>
              <a:t>.</a:t>
            </a:r>
          </a:p>
          <a:p>
            <a:r>
              <a:rPr sz="1800" lang="tr-TR">
                <a:latin typeface="Times New Roman"/>
              </a:rPr>
              <a:t/>
            </a:r>
          </a:p>
          <a:p>
            <a:r>
              <a:rPr sz="1800" lang="tr-TR">
                <a:latin typeface="Times New Roman"/>
              </a:rPr>
              <a:t>Modeller birden fazla açıklayıcı içerdiğinde iki test ayrışır. Küçük örneklemlerde J testinin H₀’ı gereğinden sık reddetme eğiliminde olduğu da unutulmamalıdır.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rsayılan Tasarım">
  <a:themeElements>
    <a:clrScheme name="Varsayılan Tasarı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arsayılan Tasarı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arsayılan Tasarı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arsayılan Tasarım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arsayılan Tasarım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arsayılan Tasarım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arsayılan Tasarım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arsayılan Tasarım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arsayılan Tasarım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arsayılan Tasarım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arsayılan Tasarım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arsayılan Tasarım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arsayılan Tasarım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arsayılan Tasarım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4001</TotalTime>
  <Words>7582</Words>
  <Application>Microsoft Office PowerPoint</Application>
  <PresentationFormat>On-screen Show (4:3)</PresentationFormat>
  <Paragraphs>1133</Paragraphs>
  <Slides>85</Slides>
  <Notes>84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85</vt:i4>
      </vt:variant>
    </vt:vector>
  </HeadingPairs>
  <TitlesOfParts>
    <vt:vector size="97" baseType="lpstr">
      <vt:lpstr>Arial</vt:lpstr>
      <vt:lpstr>Arial Tur</vt:lpstr>
      <vt:lpstr>Calibri</vt:lpstr>
      <vt:lpstr>Cambria Math</vt:lpstr>
      <vt:lpstr>Courier New</vt:lpstr>
      <vt:lpstr>Symbol</vt:lpstr>
      <vt:lpstr>Times New Roman</vt:lpstr>
      <vt:lpstr>Verdana</vt:lpstr>
      <vt:lpstr>Wingdings</vt:lpstr>
      <vt:lpstr>Varsayılan Tasarım</vt:lpstr>
      <vt:lpstr>Equation</vt:lpstr>
      <vt:lpstr>Denklem</vt:lpstr>
      <vt:lpstr>PowerPoint Presentation</vt:lpstr>
      <vt:lpstr>İyi Bir Modelin Özellikleri</vt:lpstr>
      <vt:lpstr>İyi Bir Modelin Özellikleri</vt:lpstr>
      <vt:lpstr>Model Tanımlanması</vt:lpstr>
      <vt:lpstr>Tanımlama Hatası Tipleri</vt:lpstr>
      <vt:lpstr>Tanımlama Hatası Tipleri</vt:lpstr>
      <vt:lpstr>Tanımlama Hatası Sonuçları</vt:lpstr>
      <vt:lpstr>Tanımlama Hatası Sonuçları</vt:lpstr>
      <vt:lpstr>Tanımlama Hatası Sonuçları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Tanımlama Hatası Testleri</vt:lpstr>
      <vt:lpstr>Hataların İncelenmesi</vt:lpstr>
      <vt:lpstr>PowerPoint Presentation</vt:lpstr>
      <vt:lpstr>PowerPoint Presentation</vt:lpstr>
      <vt:lpstr>Ramsey’in RESET testi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1.Bağımsız Değişkendeki Ölçme Hataları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Leamer’in Model Seçim Yaklaşımı</vt:lpstr>
      <vt:lpstr>Leamer’in Model Seçim Yaklaşımı</vt:lpstr>
      <vt:lpstr>PowerPoint Presentation</vt:lpstr>
      <vt:lpstr>PowerPoint Presentation</vt:lpstr>
      <vt:lpstr>PowerPoint Presentation</vt:lpstr>
      <vt:lpstr>Leamer’in Model Seçim Yaklaşımı</vt:lpstr>
      <vt:lpstr>Hendry’in Model Seçim Yaklaşımı</vt:lpstr>
      <vt:lpstr>PowerPoint Presentation</vt:lpstr>
      <vt:lpstr>PowerPoint Presentation</vt:lpstr>
      <vt:lpstr>PowerPoint Presentation</vt:lpstr>
      <vt:lpstr>PowerPoint Presentation</vt:lpstr>
      <vt:lpstr>Seçilmiş Hipotez  Testleri</vt:lpstr>
      <vt:lpstr>PowerPoint Presentation</vt:lpstr>
      <vt:lpstr>PowerPoint Presentation</vt:lpstr>
      <vt:lpstr>PowerPoint Presentation</vt:lpstr>
      <vt:lpstr>Yuvalanmamış Hipotez Testleri</vt:lpstr>
      <vt:lpstr>Yuvalanmamış-F testi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Ekonometri II, 11. Bölüm: Ekonometrik Modelleme ve Model Seçimi</dc:title>
  <dc:creator>Doç. Dr. M. Hanifi VAN</dc:creator>
  <cp:lastModifiedBy>Hanifi Van</cp:lastModifiedBy>
  <cp:revision>212</cp:revision>
  <dcterms:created xsi:type="dcterms:W3CDTF">2002-03-16T20:16:52Z</dcterms:created>
  <dcterms:modified xsi:type="dcterms:W3CDTF">2025-10-15T16:28:35Z</dcterms:modified>
</cp:coreProperties>
</file>